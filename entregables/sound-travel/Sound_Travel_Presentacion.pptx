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egrante 1 · Contexto y Sound Travel" id="{2b299fdb-8b4d-4740-8cac-ef81f537b6c4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Integrante 2 · Estructura y procesos" id="{241823ca-e11c-e08c-dfd2-7835623d8329}">
          <p14:sldIdLst>
            <p14:sldId id="262"/>
            <p14:sldId id="263"/>
            <p14:sldId id="264"/>
            <p14:sldId id="265"/>
            <p14:sldId id="266"/>
          </p14:sldIdLst>
        </p14:section>
        <p14:section name="Integrante 3 · Actores y coordinación" id="{3536aadb-528c-0d58-f6af-0545fe17eaf9}">
          <p14:sldIdLst>
            <p14:sldId id="267"/>
            <p14:sldId id="268"/>
            <p14:sldId id="269"/>
            <p14:sldId id="270"/>
            <p14:sldId id="271"/>
          </p14:sldIdLst>
        </p14:section>
        <p14:section name="Integrante 4 · Criterios, seguimiento y cierre" id="{3894ed52-e98f-b30c-f7dd-ffcb63708200}">
          <p14:sldIdLst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1 (≈0:30). Saludo, presentación del equipo y del tema. Aclarar desde el inicio que Sound Travel es una empresa creada para la asignatura (Opción 2 de la guía).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1 (≈0:30). Mostrar que la exposición sigue el orden de los tres criterios: 2.1.1 (integrantes 1 y 2), 2.1.2 (integrante 3) y 2.1.3 (integrante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1 (≈1:00). Explicar la problemática con ejemplos de Temuco. Recalcar que el festival 2027 es un escenario proyectado, no un hecho confirmado.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1 (≈0:50). Identificar la empresa, justificar la elección (Opción 2) y recorrer el mapa: Temuco como base, rutas regionales y viajes especiales.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1 (≈0:40). Relacionar misión y visión con los dos perfiles: ambos valoran seguridad y comodidad; el perfil 2 suma gastronomía y experiencias sunset.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1 (≈0:30). Resumir el valor del pack y dar paso al Integrante 2: «para entregar todo esto, la agencia necesita una estructura clara».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2 (≈0:45). Recorrer el organigrama de arriba hacia abajo y destacar la dependencia de Terreno respecto de Operaciones.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2 (≈0:55). Explicar qué hace cada cargo y en qué momento del servicio interviene. Destacar al Equipo de Terreno como la cara visible ante el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2 (≈0:40). Diferenciar el organigrama jerárquico (quién depende de quién) del funcional (qué función cumple cada área). Las cuatro funciones convergen en el pack.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2 (≈0:50). Los procesos internos preparan lo que se compromete hacia afuera; los externos traen información (horarios, cierres de calles, reservas) que vuelve a la planificación.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2 (≈0:50). Recorrer las cinco etapas y cerrar con la retroalimentación. Transición al Integrante 3: «en la etapa 3 aparecen actores externos; mi compañero/a explica cómo se coordinan».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3 (≈0:40). Presentar los seis actores agrupados en proveedores, aliados, actores públicos y demanda. Mencionar con honestidad que alojamiento no aplica al servicio actual.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3 (≈1:00). Explicar que Sound Travel está al centro porque es quien contrata, coordina e informa. Diferenciar líneas continuas (contrato/comercio) y punteadas (coordinación/información).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3 (≈0:50). Mostrar que la relación es de doble vía: cada proveedor tiene obligaciones y, a la vez, depende de la información y los pagos que entrega la agencia.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3 (≈0:45). Lo institucional entrega información y permisos; lo comercial trae al cliente. Aclarar que los vínculos institucionales son propuestas de una empresa ficticia.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3 (≈0:45). Cada necesidad tiene una respuesta concreta y un actor responsable. La cadena muestra la interdependencia. Transición al Integrante 4: «¿con qué criterios aseguramos que cada eslabón cumpla?».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4 (≈0:50). Explicar que estos estándares definen quién hace qué: el Jefe de Operaciones verifica, los transportistas cumplen la norma de transporte, el guía usa la nómina digital. Mencionar las correcciones de citas: muestran revisión crítica de las fuentes.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4 (≈0:40). La sustentabilidad tiene foco ambiental y económico local. El territorio condiciona horarios, rutas y la elección de puntos de encuentro.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4 (≈0:45). Leer la matriz por filas: etapa, responsable y criterio. Explicar por qué agregamos la fila post-evento y dejamos claro que es un complemento.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4 (≈0:40). Leer la línea de tiempo: proveedores se confirman antes, operadores reportan hitos el día del evento, clientes son informados desde la compra hasta la encuesta.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4 (≈0:35). Distinguir lo que está en el informe (verde) de lo que proponemos para completarlo (ámbar).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4 (≈0:30). Cerrar conectando cada criterio con su evidencia y agradecer.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de apoyo: queda proyectada durante las preguntas. No requiere exposición 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_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_CONTENID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TRAVEL  ·  Coordinación en Operaciones Turísticas (GTD404)  ·  INACAP Sede Temuco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48640"/>
            <a:ext cx="94183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scenario de concierto con luces violetas (imagen referencial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Vel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alpha val="7500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</p:sp>
      <p:sp>
        <p:nvSpPr>
          <p:cNvPr id="4" name="Panel portada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chemeClr val="tx1">
              <a:alpha val="8800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6858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INACAP SEDE TEMUCO  ·  ÁREA DE TURISMO  ·  GESTIÓN TURÍSTICA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2344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3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TRAVEL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945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Plan de coordinación y operaciones para traslados y asistencia en eventos masivos en la Región de La Araucanía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4290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Coordinación en Operaciones Turísticas (GTD404) · Sección 122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Unidad 2: Acciones operativas en empresas de turismo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Docente: Evelyn Rios Soto</a:t>
            </a:r>
            <a:endParaRPr lang="en-US" sz="1400" dirty="0"/>
          </a:p>
        </p:txBody>
      </p:sp>
      <p:sp>
        <p:nvSpPr>
          <p:cNvPr id="9" name="Integrante"/>
          <p:cNvSpPr/>
          <p:nvPr/>
        </p:nvSpPr>
        <p:spPr>
          <a:xfrm>
            <a:off x="640080" y="4709160"/>
            <a:ext cx="1353312" cy="566928"/>
          </a:xfrm>
          <a:prstGeom prst="roundRect">
            <a:avLst>
              <a:gd name="adj" fmla="val 16129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4709160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INTEGRANTE 1</a:t>
            </a:r>
            <a:endParaRPr lang="en-US" sz="9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Nombre Apellido</a:t>
            </a:r>
            <a:endParaRPr lang="en-US" sz="900" dirty="0"/>
          </a:p>
        </p:txBody>
      </p:sp>
      <p:sp>
        <p:nvSpPr>
          <p:cNvPr id="11" name="Integrante"/>
          <p:cNvSpPr/>
          <p:nvPr/>
        </p:nvSpPr>
        <p:spPr>
          <a:xfrm>
            <a:off x="2103120" y="4709160"/>
            <a:ext cx="1353312" cy="566928"/>
          </a:xfrm>
          <a:prstGeom prst="roundRect">
            <a:avLst>
              <a:gd name="adj" fmla="val 16129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103120" y="4709160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INTEGRANTE 2</a:t>
            </a:r>
            <a:endParaRPr lang="en-US" sz="9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Nombre Apellido</a:t>
            </a:r>
            <a:endParaRPr lang="en-US" sz="900" dirty="0"/>
          </a:p>
        </p:txBody>
      </p:sp>
      <p:sp>
        <p:nvSpPr>
          <p:cNvPr id="13" name="Integrante"/>
          <p:cNvSpPr/>
          <p:nvPr/>
        </p:nvSpPr>
        <p:spPr>
          <a:xfrm>
            <a:off x="3566160" y="4709160"/>
            <a:ext cx="1353312" cy="566928"/>
          </a:xfrm>
          <a:prstGeom prst="roundRect">
            <a:avLst>
              <a:gd name="adj" fmla="val 16129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66160" y="4709160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INTEGRANTE 3</a:t>
            </a:r>
            <a:endParaRPr lang="en-US" sz="9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Nombre Apellido</a:t>
            </a:r>
            <a:endParaRPr lang="en-US" sz="900" dirty="0"/>
          </a:p>
        </p:txBody>
      </p:sp>
      <p:sp>
        <p:nvSpPr>
          <p:cNvPr id="15" name="Integrante"/>
          <p:cNvSpPr/>
          <p:nvPr/>
        </p:nvSpPr>
        <p:spPr>
          <a:xfrm>
            <a:off x="5029200" y="4709160"/>
            <a:ext cx="1353312" cy="566928"/>
          </a:xfrm>
          <a:prstGeom prst="roundRect">
            <a:avLst>
              <a:gd name="adj" fmla="val 16129"/>
            </a:avLst>
          </a:prstGeom>
          <a:solidFill>
            <a:schemeClr val="tx2">
              <a:alpha val="9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0" y="4709160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INTEGRANTE 4</a:t>
            </a:r>
            <a:endParaRPr lang="en-US" sz="9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Nombre Apellido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6235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Empresa ficticia creada con fines académicos (Opción 2 de la guía de aprendizaje)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692640" y="6492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Imagen referencial · Unsplash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4864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de la exposición</a:t>
            </a:r>
            <a:endParaRPr lang="en-US" sz="28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INTEGRANTE 1  ·  CÓMO RESPONDEMOS A LOS CRITERIOS DE LA UNIDAD 2</a:t>
            </a:r>
            <a:endParaRPr lang="en-US" sz="1100" dirty="0"/>
          </a:p>
        </p:txBody>
      </p:sp>
      <p:sp>
        <p:nvSpPr>
          <p:cNvPr id="4" name="Insignia expositor"/>
          <p:cNvSpPr/>
          <p:nvPr/>
        </p:nvSpPr>
        <p:spPr>
          <a:xfrm>
            <a:off x="10104120" y="274320"/>
            <a:ext cx="153619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04120" y="274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chemeClr val="bg1"/>
                </a:solidFill>
              </a:rPr>
              <a:t>INTEGRANTE 1</a:t>
            </a:r>
            <a:endParaRPr lang="en-US" sz="1050" dirty="0"/>
          </a:p>
        </p:txBody>
      </p:sp>
      <p:sp>
        <p:nvSpPr>
          <p:cNvPr id="6" name="Tarjeta"/>
          <p:cNvSpPr/>
          <p:nvPr/>
        </p:nvSpPr>
        <p:spPr>
          <a:xfrm>
            <a:off x="548640" y="1508760"/>
            <a:ext cx="2615184" cy="3383280"/>
          </a:xfrm>
          <a:prstGeom prst="roundRect">
            <a:avLst>
              <a:gd name="adj" fmla="val 4196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Círculo ícono"/>
          <p:cNvSpPr/>
          <p:nvPr/>
        </p:nvSpPr>
        <p:spPr>
          <a:xfrm>
            <a:off x="2295144" y="1737360"/>
            <a:ext cx="640080" cy="64008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9" name="Image 0" descr="FaMus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5164" y="189738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24688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INTEGRANTE 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74320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Contexto y Sound Travel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65760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Problemática, identificación, localización, misión, visión, público y propuesta de valor</a:t>
            </a:r>
            <a:endParaRPr lang="en-US" sz="1250" dirty="0"/>
          </a:p>
        </p:txBody>
      </p:sp>
      <p:sp>
        <p:nvSpPr>
          <p:cNvPr id="13" name="Etiqueta"/>
          <p:cNvSpPr/>
          <p:nvPr/>
        </p:nvSpPr>
        <p:spPr>
          <a:xfrm>
            <a:off x="777240" y="4434840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4348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CRITERIO 2.1.1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2112264" y="4434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≈ 4 min</a:t>
            </a:r>
            <a:endParaRPr lang="en-US" sz="1100" dirty="0"/>
          </a:p>
        </p:txBody>
      </p:sp>
      <p:sp>
        <p:nvSpPr>
          <p:cNvPr id="16" name="Tarjeta"/>
          <p:cNvSpPr/>
          <p:nvPr/>
        </p:nvSpPr>
        <p:spPr>
          <a:xfrm>
            <a:off x="3346704" y="1508760"/>
            <a:ext cx="2615184" cy="3383280"/>
          </a:xfrm>
          <a:prstGeom prst="roundRect">
            <a:avLst>
              <a:gd name="adj" fmla="val 4196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3575304" y="16916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8" name="Círculo ícono"/>
          <p:cNvSpPr/>
          <p:nvPr/>
        </p:nvSpPr>
        <p:spPr>
          <a:xfrm>
            <a:off x="5093208" y="1737360"/>
            <a:ext cx="640080" cy="64008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19" name="Image 1" descr="FaSitem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228" y="189738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3575304" y="24688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INTEGRANTE 2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3575304" y="274320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Estructura y procesos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3575304" y="365760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Organigramas, áreas, recurso humano, procesos internos/externos y flujo del servicio</a:t>
            </a:r>
            <a:endParaRPr lang="en-US" sz="1250" dirty="0"/>
          </a:p>
        </p:txBody>
      </p:sp>
      <p:sp>
        <p:nvSpPr>
          <p:cNvPr id="23" name="Etiqueta"/>
          <p:cNvSpPr/>
          <p:nvPr/>
        </p:nvSpPr>
        <p:spPr>
          <a:xfrm>
            <a:off x="3575304" y="4434840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3575304" y="44348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CRITERIO 2.1.1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4910328" y="4434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≈ 4 min</a:t>
            </a:r>
            <a:endParaRPr lang="en-US" sz="1100" dirty="0"/>
          </a:p>
        </p:txBody>
      </p:sp>
      <p:sp>
        <p:nvSpPr>
          <p:cNvPr id="26" name="Tarjeta"/>
          <p:cNvSpPr/>
          <p:nvPr/>
        </p:nvSpPr>
        <p:spPr>
          <a:xfrm>
            <a:off x="6144768" y="1508760"/>
            <a:ext cx="2615184" cy="3383280"/>
          </a:xfrm>
          <a:prstGeom prst="roundRect">
            <a:avLst>
              <a:gd name="adj" fmla="val 4196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6373368" y="16916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28" name="Círculo ícono"/>
          <p:cNvSpPr/>
          <p:nvPr/>
        </p:nvSpPr>
        <p:spPr>
          <a:xfrm>
            <a:off x="7891272" y="1737360"/>
            <a:ext cx="640080" cy="64008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29" name="Image 2" descr="FaProjectDiagra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292" y="1897380"/>
            <a:ext cx="320040" cy="32004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6373368" y="24688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INTEGRANTE 3</a:t>
            </a:r>
            <a:endParaRPr lang="en-US" sz="1050" dirty="0"/>
          </a:p>
        </p:txBody>
      </p:sp>
      <p:sp>
        <p:nvSpPr>
          <p:cNvPr id="31" name="Text 26"/>
          <p:cNvSpPr txBox="1"/>
          <p:nvPr/>
        </p:nvSpPr>
        <p:spPr>
          <a:xfrm>
            <a:off x="6373368" y="274320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Actores turísticos y coordinación externa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6373368" y="365760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Mapa de relaciones, responsabilidades, interdependencia y demanda</a:t>
            </a:r>
            <a:endParaRPr lang="en-US" sz="1250" dirty="0"/>
          </a:p>
        </p:txBody>
      </p:sp>
      <p:sp>
        <p:nvSpPr>
          <p:cNvPr id="33" name="Etiqueta"/>
          <p:cNvSpPr/>
          <p:nvPr/>
        </p:nvSpPr>
        <p:spPr>
          <a:xfrm>
            <a:off x="6373368" y="4434840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373368" y="44348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CRITERIO 2.1.2</a:t>
            </a:r>
            <a:endParaRPr lang="en-US" sz="950" dirty="0"/>
          </a:p>
        </p:txBody>
      </p:sp>
      <p:sp>
        <p:nvSpPr>
          <p:cNvPr id="35" name="Text 30"/>
          <p:cNvSpPr txBox="1"/>
          <p:nvPr/>
        </p:nvSpPr>
        <p:spPr>
          <a:xfrm>
            <a:off x="7708392" y="4434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≈ 4 min</a:t>
            </a:r>
            <a:endParaRPr lang="en-US" sz="1100" dirty="0"/>
          </a:p>
        </p:txBody>
      </p:sp>
      <p:sp>
        <p:nvSpPr>
          <p:cNvPr id="36" name="Tarjeta"/>
          <p:cNvSpPr/>
          <p:nvPr/>
        </p:nvSpPr>
        <p:spPr>
          <a:xfrm>
            <a:off x="8942832" y="1508760"/>
            <a:ext cx="2615184" cy="3383280"/>
          </a:xfrm>
          <a:prstGeom prst="roundRect">
            <a:avLst>
              <a:gd name="adj" fmla="val 4196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Text 32"/>
          <p:cNvSpPr txBox="1"/>
          <p:nvPr/>
        </p:nvSpPr>
        <p:spPr>
          <a:xfrm>
            <a:off x="9171432" y="16916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38" name="Círculo ícono"/>
          <p:cNvSpPr/>
          <p:nvPr/>
        </p:nvSpPr>
        <p:spPr>
          <a:xfrm>
            <a:off x="10689336" y="1737360"/>
            <a:ext cx="640080" cy="64008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39" name="Image 3" descr="FaClipboar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9356" y="1897380"/>
            <a:ext cx="320040" cy="320040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9171432" y="24688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2"/>
                </a:solidFill>
              </a:rPr>
              <a:t>INTEGRANTE 4</a:t>
            </a:r>
            <a:endParaRPr lang="en-US" sz="1050" dirty="0"/>
          </a:p>
        </p:txBody>
      </p:sp>
      <p:sp>
        <p:nvSpPr>
          <p:cNvPr id="41" name="Text 35"/>
          <p:cNvSpPr txBox="1"/>
          <p:nvPr/>
        </p:nvSpPr>
        <p:spPr>
          <a:xfrm>
            <a:off x="9171432" y="2743200"/>
            <a:ext cx="2157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Criterios técnicos y seguimiento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9171432" y="365760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Normativa, sustentabilidad, territorio, matriz de tareas, seguimiento y contingencias</a:t>
            </a:r>
            <a:endParaRPr lang="en-US" sz="1250" dirty="0"/>
          </a:p>
        </p:txBody>
      </p:sp>
      <p:sp>
        <p:nvSpPr>
          <p:cNvPr id="43" name="Etiqueta"/>
          <p:cNvSpPr/>
          <p:nvPr/>
        </p:nvSpPr>
        <p:spPr>
          <a:xfrm>
            <a:off x="9171432" y="4434840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9171432" y="44348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CRITERIO 2.1.3</a:t>
            </a:r>
            <a:endParaRPr lang="en-US" sz="950" dirty="0"/>
          </a:p>
        </p:txBody>
      </p:sp>
      <p:sp>
        <p:nvSpPr>
          <p:cNvPr id="45" name="Text 39"/>
          <p:cNvSpPr txBox="1"/>
          <p:nvPr/>
        </p:nvSpPr>
        <p:spPr>
          <a:xfrm>
            <a:off x="10506456" y="4434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≈ 4 min</a:t>
            </a:r>
            <a:endParaRPr lang="en-US" sz="1100" dirty="0"/>
          </a:p>
        </p:txBody>
      </p:sp>
      <p:sp>
        <p:nvSpPr>
          <p:cNvPr id="46" name="Tarjeta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C2447"/>
          </a:solidFill>
          <a:ln w="9525">
            <a:solidFill>
              <a:srgbClr val="2E3766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Aprendizaje esperado: </a:t>
            </a:r>
            <a:pPr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“Organiza acciones de coordinación operativas con distintos actores del sector turístico, para el diseño y ejecución de programas o servicios, considerando las características de los productos, el contexto territorial y la normativa legal vigente.”</a:t>
            </a:r>
            <a:endParaRPr lang="en-US" sz="1300" dirty="0"/>
          </a:p>
        </p:txBody>
      </p:sp>
      <p:sp>
        <p:nvSpPr>
          <p:cNvPr id="48" name="Fuente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bg2"/>
                </a:solidFill>
              </a:rPr>
              <a:t>Fuente: INACAP (2026). Guía de aprendizaje GTD404, Unidad 2.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4864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problema: llegar, disfrutar y volver seguro</a:t>
            </a:r>
            <a:endParaRPr lang="en-US" sz="28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INTEGRANTE 1  ·  CONTEXTO Y PROBLEMÁTICA DEL TURISMO DE EVENTOS</a:t>
            </a:r>
            <a:endParaRPr lang="en-US" sz="1100" dirty="0"/>
          </a:p>
        </p:txBody>
      </p:sp>
      <p:sp>
        <p:nvSpPr>
          <p:cNvPr id="4" name="Insignia expositor"/>
          <p:cNvSpPr/>
          <p:nvPr/>
        </p:nvSpPr>
        <p:spPr>
          <a:xfrm>
            <a:off x="10104120" y="274320"/>
            <a:ext cx="153619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04120" y="274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chemeClr val="bg1"/>
                </a:solidFill>
              </a:rPr>
              <a:t>INTEGRANTE 1</a:t>
            </a:r>
            <a:endParaRPr lang="en-US" sz="1050" dirty="0"/>
          </a:p>
        </p:txBody>
      </p:sp>
      <p:pic>
        <p:nvPicPr>
          <p:cNvPr id="6" name="Image 0" descr="Público en concierto (imagen referencial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206240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206240"/>
            <a:ext cx="4206240" cy="1828800"/>
          </a:xfrm>
          <a:prstGeom prst="rect">
            <a:avLst/>
          </a:prstGeom>
          <a:solidFill>
            <a:schemeClr val="tx1">
              <a:alpha val="7500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29768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 M</a:t>
            </a:r>
            <a:endParaRPr lang="en-US" sz="46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visitantes internacionales en Chile durante 2023, sumados a un fuerte movimiento de viajeros nacionales entre regiones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14630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Qué ocurre hoy en eventos masivos de Temuco y la zona lacustre</a:t>
            </a:r>
            <a:endParaRPr lang="en-US" sz="1700" dirty="0"/>
          </a:p>
        </p:txBody>
      </p:sp>
      <p:sp>
        <p:nvSpPr>
          <p:cNvPr id="10" name="Círculo ícono"/>
          <p:cNvSpPr/>
          <p:nvPr/>
        </p:nvSpPr>
        <p:spPr>
          <a:xfrm>
            <a:off x="5120640" y="2039112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FaB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516" y="2189988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97880" y="1965960"/>
            <a:ext cx="5715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El transporte público deja de circular temprano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El regreso nocturno queda sin alternativas formales.</a:t>
            </a:r>
            <a:endParaRPr lang="en-US" sz="1500" dirty="0"/>
          </a:p>
        </p:txBody>
      </p:sp>
      <p:sp>
        <p:nvSpPr>
          <p:cNvPr id="13" name="Círculo ícono"/>
          <p:cNvSpPr/>
          <p:nvPr/>
        </p:nvSpPr>
        <p:spPr>
          <a:xfrm>
            <a:off x="5120640" y="2971800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2" descr="FaPark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16" y="3122676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897880" y="2898648"/>
            <a:ext cx="5715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Los estacionamientos colapsan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Recintos como el Parque Estadio Germán Becker o la Isla Cautín concentran miles de asistentes.</a:t>
            </a:r>
            <a:endParaRPr lang="en-US" sz="1500" dirty="0"/>
          </a:p>
        </p:txBody>
      </p:sp>
      <p:sp>
        <p:nvSpPr>
          <p:cNvPr id="16" name="Círculo ícono"/>
          <p:cNvSpPr/>
          <p:nvPr/>
        </p:nvSpPr>
        <p:spPr>
          <a:xfrm>
            <a:off x="5120640" y="3904488"/>
            <a:ext cx="603504" cy="6035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3" descr="FaArrowU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1516" y="4055364"/>
            <a:ext cx="301752" cy="30175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897880" y="3831336"/>
            <a:ext cx="5715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Las tarifas de aplicaciones de transporte suben en exceso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El asistente asume un costo alto y una espera incierta al salir del show.</a:t>
            </a:r>
            <a:endParaRPr lang="en-US" sz="1500" dirty="0"/>
          </a:p>
        </p:txBody>
      </p:sp>
      <p:sp>
        <p:nvSpPr>
          <p:cNvPr id="19" name="Tarjeta"/>
          <p:cNvSpPr/>
          <p:nvPr/>
        </p:nvSpPr>
        <p:spPr>
          <a:xfrm>
            <a:off x="5120640" y="4846320"/>
            <a:ext cx="6492240" cy="1143000"/>
          </a:xfrm>
          <a:prstGeom prst="roundRect">
            <a:avLst>
              <a:gd name="adj" fmla="val 9600"/>
            </a:avLst>
          </a:prstGeom>
          <a:solidFill>
            <a:srgbClr val="1C2447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Etiqueta"/>
          <p:cNvSpPr/>
          <p:nvPr/>
        </p:nvSpPr>
        <p:spPr>
          <a:xfrm>
            <a:off x="5303520" y="4983480"/>
            <a:ext cx="201168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303520" y="4983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ESCENARIO PROYECTADO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5303520" y="53035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El informe menciona el Festival Internacional de Temuco proyectado para febrero de 2027. Lo usamos como escenario de planificación: no contamos con confirmación oficial del evento.</a:t>
            </a:r>
            <a:endParaRPr lang="en-US" sz="1250" dirty="0"/>
          </a:p>
        </p:txBody>
      </p:sp>
      <p:sp>
        <p:nvSpPr>
          <p:cNvPr id="23" name="Fuente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bg2"/>
                </a:solidFill>
              </a:rPr>
              <a:t>Fuentes: Subsecretaría de Turismo (2024), citada en la guía GTD404 · Informe Operativo Sound Travel (2026), secc. 1 y 2. Imagen referencial · Unsplash.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4864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Sound Travel?</a:t>
            </a:r>
            <a:endParaRPr lang="en-US" sz="28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INTEGRANTE 1  ·  CRITERIO 2.1.1  ·  IDENTIFICACIÓN, JUSTIFICACIÓN Y LOCALIZACIÓN</a:t>
            </a:r>
            <a:endParaRPr lang="en-US" sz="1100" dirty="0"/>
          </a:p>
        </p:txBody>
      </p:sp>
      <p:sp>
        <p:nvSpPr>
          <p:cNvPr id="4" name="Insignia expositor"/>
          <p:cNvSpPr/>
          <p:nvPr/>
        </p:nvSpPr>
        <p:spPr>
          <a:xfrm>
            <a:off x="10104120" y="274320"/>
            <a:ext cx="153619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04120" y="274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chemeClr val="bg1"/>
                </a:solidFill>
              </a:rPr>
              <a:t>INTEGRANTE 1</a:t>
            </a:r>
            <a:endParaRPr lang="en-US" sz="1050" dirty="0"/>
          </a:p>
        </p:txBody>
      </p:sp>
      <p:sp>
        <p:nvSpPr>
          <p:cNvPr id="6" name="Tarjeta"/>
          <p:cNvSpPr/>
          <p:nvPr/>
        </p:nvSpPr>
        <p:spPr>
          <a:xfrm>
            <a:off x="548640" y="1463040"/>
            <a:ext cx="548640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Círculo ícono"/>
          <p:cNvSpPr/>
          <p:nvPr/>
        </p:nvSpPr>
        <p:spPr>
          <a:xfrm>
            <a:off x="777240" y="181051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FaIdC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970532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1572768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Identificación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Agencia de turismo de eventos y entretenimiento, con casa matriz en Temuco. Empresa creada para la asignatura (Opción 2 de la guía).</a:t>
            </a:r>
            <a:endParaRPr lang="en-US" sz="1600" dirty="0"/>
          </a:p>
        </p:txBody>
      </p:sp>
      <p:sp>
        <p:nvSpPr>
          <p:cNvPr id="10" name="Tarjeta"/>
          <p:cNvSpPr/>
          <p:nvPr/>
        </p:nvSpPr>
        <p:spPr>
          <a:xfrm>
            <a:off x="548640" y="2944368"/>
            <a:ext cx="548640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Círculo ícono"/>
          <p:cNvSpPr/>
          <p:nvPr/>
        </p:nvSpPr>
        <p:spPr>
          <a:xfrm>
            <a:off x="777240" y="32918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FaLightbul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4518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054096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Justificación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Responde a una necesidad que se repite cada temporada: no existe una solución integrada para ir y volver de forma segura a eventos masivos.</a:t>
            </a:r>
            <a:endParaRPr lang="en-US" sz="1600" dirty="0"/>
          </a:p>
        </p:txBody>
      </p:sp>
      <p:sp>
        <p:nvSpPr>
          <p:cNvPr id="14" name="Tarjeta"/>
          <p:cNvSpPr/>
          <p:nvPr/>
        </p:nvSpPr>
        <p:spPr>
          <a:xfrm>
            <a:off x="548640" y="4425696"/>
            <a:ext cx="548640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Círculo ícono"/>
          <p:cNvSpPr/>
          <p:nvPr/>
        </p:nvSpPr>
        <p:spPr>
          <a:xfrm>
            <a:off x="777240" y="477316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FaLayerGrou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933188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535424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Servicio integrado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Une en un solo paquete el traslado ida y vuelta, la entrada asegurada, las paradas gastronómicas y la asistencia de un guía.</a:t>
            </a:r>
            <a:endParaRPr lang="en-US" sz="1600" dirty="0"/>
          </a:p>
        </p:txBody>
      </p:sp>
      <p:sp>
        <p:nvSpPr>
          <p:cNvPr id="18" name="Tarjeta"/>
          <p:cNvSpPr/>
          <p:nvPr/>
        </p:nvSpPr>
        <p:spPr>
          <a:xfrm>
            <a:off x="6355080" y="1463040"/>
            <a:ext cx="5257800" cy="4434840"/>
          </a:xfrm>
          <a:prstGeom prst="roundRect">
            <a:avLst>
              <a:gd name="adj" fmla="val 2474"/>
            </a:avLst>
          </a:prstGeom>
          <a:solidFill>
            <a:srgbClr val="1C2447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658368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LOCALIZACIÓN Y RUTAS</a:t>
            </a:r>
            <a:endParaRPr lang="en-US" sz="1100" dirty="0"/>
          </a:p>
        </p:txBody>
      </p:sp>
      <p:sp>
        <p:nvSpPr>
          <p:cNvPr id="20" name="Conector"/>
          <p:cNvSpPr/>
          <p:nvPr/>
        </p:nvSpPr>
        <p:spPr>
          <a:xfrm flipH="1" flipV="1">
            <a:off x="7269480" y="2103120"/>
            <a:ext cx="914400" cy="150876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21" name="Conector"/>
          <p:cNvSpPr/>
          <p:nvPr/>
        </p:nvSpPr>
        <p:spPr>
          <a:xfrm flipV="1">
            <a:off x="8366760" y="2103120"/>
            <a:ext cx="640080" cy="150876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22" name="Text 17"/>
          <p:cNvSpPr txBox="1"/>
          <p:nvPr/>
        </p:nvSpPr>
        <p:spPr>
          <a:xfrm>
            <a:off x="6583680" y="1901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Santiago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8869680" y="19019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Concepción</a:t>
            </a:r>
            <a:endParaRPr lang="en-US" sz="1100" dirty="0"/>
          </a:p>
        </p:txBody>
      </p:sp>
      <p:sp>
        <p:nvSpPr>
          <p:cNvPr id="24" name="Conector"/>
          <p:cNvSpPr/>
          <p:nvPr/>
        </p:nvSpPr>
        <p:spPr>
          <a:xfrm>
            <a:off x="8183880" y="3794760"/>
            <a:ext cx="502920" cy="64008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25" name="Conector"/>
          <p:cNvSpPr/>
          <p:nvPr/>
        </p:nvSpPr>
        <p:spPr>
          <a:xfrm flipH="1" flipV="1">
            <a:off x="7909560" y="2788920"/>
            <a:ext cx="274320" cy="100584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26" name="Conector"/>
          <p:cNvSpPr/>
          <p:nvPr/>
        </p:nvSpPr>
        <p:spPr>
          <a:xfrm>
            <a:off x="8183880" y="3794760"/>
            <a:ext cx="1463040" cy="128016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27" name="Conector"/>
          <p:cNvSpPr/>
          <p:nvPr/>
        </p:nvSpPr>
        <p:spPr>
          <a:xfrm>
            <a:off x="8183880" y="3794760"/>
            <a:ext cx="2514600" cy="109728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28" name="Conector"/>
          <p:cNvSpPr/>
          <p:nvPr/>
        </p:nvSpPr>
        <p:spPr>
          <a:xfrm flipV="1">
            <a:off x="9646920" y="4892040"/>
            <a:ext cx="1051560" cy="18288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29" name="Nodo Padre Las Casas"/>
          <p:cNvSpPr/>
          <p:nvPr/>
        </p:nvSpPr>
        <p:spPr>
          <a:xfrm>
            <a:off x="8586216" y="4334256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086600" y="44165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Padre Las Casas</a:t>
            </a:r>
            <a:endParaRPr lang="en-US" sz="1150" dirty="0"/>
          </a:p>
        </p:txBody>
      </p:sp>
      <p:sp>
        <p:nvSpPr>
          <p:cNvPr id="31" name="Nodo Lautaro"/>
          <p:cNvSpPr/>
          <p:nvPr/>
        </p:nvSpPr>
        <p:spPr>
          <a:xfrm>
            <a:off x="7808976" y="2688336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8110728" y="26700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Lautaro</a:t>
            </a:r>
            <a:endParaRPr lang="en-US" sz="1150" dirty="0"/>
          </a:p>
        </p:txBody>
      </p:sp>
      <p:sp>
        <p:nvSpPr>
          <p:cNvPr id="33" name="Nodo Villarrica"/>
          <p:cNvSpPr/>
          <p:nvPr/>
        </p:nvSpPr>
        <p:spPr>
          <a:xfrm>
            <a:off x="9546336" y="4974336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9189720" y="4663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Villarrica</a:t>
            </a:r>
            <a:endParaRPr lang="en-US" sz="1150" dirty="0"/>
          </a:p>
        </p:txBody>
      </p:sp>
      <p:sp>
        <p:nvSpPr>
          <p:cNvPr id="35" name="Nodo Pucón"/>
          <p:cNvSpPr/>
          <p:nvPr/>
        </p:nvSpPr>
        <p:spPr>
          <a:xfrm>
            <a:off x="10597896" y="4791456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10515600" y="50932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Pucón</a:t>
            </a:r>
            <a:endParaRPr lang="en-US" sz="1150" dirty="0"/>
          </a:p>
        </p:txBody>
      </p:sp>
      <p:sp>
        <p:nvSpPr>
          <p:cNvPr id="37" name="Nodo Temuco"/>
          <p:cNvSpPr/>
          <p:nvPr/>
        </p:nvSpPr>
        <p:spPr>
          <a:xfrm>
            <a:off x="7927848" y="3538728"/>
            <a:ext cx="512064" cy="51206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3666744"/>
            <a:ext cx="237744" cy="237744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6583680" y="3520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Temuco</a:t>
            </a:r>
            <a:endParaRPr lang="en-US" sz="1300" dirty="0"/>
          </a:p>
          <a:p>
            <a:pPr algn="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Casa matriz</a:t>
            </a:r>
            <a:endParaRPr lang="en-US" sz="1300" dirty="0"/>
          </a:p>
        </p:txBody>
      </p:sp>
      <p:sp>
        <p:nvSpPr>
          <p:cNvPr id="40" name="Shape 34"/>
          <p:cNvSpPr/>
          <p:nvPr/>
        </p:nvSpPr>
        <p:spPr>
          <a:xfrm>
            <a:off x="6629400" y="5486400"/>
            <a:ext cx="36576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7068312" y="53766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Rutas regionales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8595360" y="5486400"/>
            <a:ext cx="36576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43" name="Text 37"/>
          <p:cNvSpPr txBox="1"/>
          <p:nvPr/>
        </p:nvSpPr>
        <p:spPr>
          <a:xfrm>
            <a:off x="9034272" y="5376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Viajes especiales a conciertos</a:t>
            </a:r>
            <a:endParaRPr lang="en-US" sz="1050" dirty="0"/>
          </a:p>
        </p:txBody>
      </p:sp>
      <p:sp>
        <p:nvSpPr>
          <p:cNvPr id="44" name="Fuente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bg2"/>
                </a:solidFill>
              </a:rPr>
              <a:t>Fuente: Informe Operativo Sound Travel (2026), secc. 2 y 2.1. Esquema referencial de elaboración propia, no a escala.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4864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Misión, visión y público objetivo</a:t>
            </a:r>
            <a:endParaRPr lang="en-US" sz="28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INTEGRANTE 1  ·  CRITERIO 2.1.1  ·  IDENTIDAD ORGANIZACIONAL</a:t>
            </a:r>
            <a:endParaRPr lang="en-US" sz="1100" dirty="0"/>
          </a:p>
        </p:txBody>
      </p:sp>
      <p:sp>
        <p:nvSpPr>
          <p:cNvPr id="4" name="Insignia expositor"/>
          <p:cNvSpPr/>
          <p:nvPr/>
        </p:nvSpPr>
        <p:spPr>
          <a:xfrm>
            <a:off x="10104120" y="274320"/>
            <a:ext cx="153619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04120" y="274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chemeClr val="bg1"/>
                </a:solidFill>
              </a:rPr>
              <a:t>INTEGRANTE 1</a:t>
            </a:r>
            <a:endParaRPr lang="en-US" sz="1050" dirty="0"/>
          </a:p>
        </p:txBody>
      </p:sp>
      <p:pic>
        <p:nvPicPr>
          <p:cNvPr id="6" name="Image 0" descr="Grupo de amigos al atardecer (imagen referencial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3108960" cy="4526280"/>
          </a:xfrm>
          <a:prstGeom prst="rect">
            <a:avLst/>
          </a:prstGeom>
        </p:spPr>
      </p:pic>
      <p:sp>
        <p:nvSpPr>
          <p:cNvPr id="7" name="Tarjeta"/>
          <p:cNvSpPr/>
          <p:nvPr/>
        </p:nvSpPr>
        <p:spPr>
          <a:xfrm>
            <a:off x="3931920" y="1463040"/>
            <a:ext cx="3703320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16052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MISIÓN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160520" y="192024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Ofrecer servicios de traslado y actividades complementarias para asistentes a festivales, conciertos y eventos de entretenimiento dentro y fuera de La Araucanía, garantizando seguridad, comodidad y un viaje bien planificado.</a:t>
            </a:r>
            <a:endParaRPr lang="en-US" sz="1300" dirty="0"/>
          </a:p>
        </p:txBody>
      </p:sp>
      <p:sp>
        <p:nvSpPr>
          <p:cNvPr id="10" name="Tarjeta"/>
          <p:cNvSpPr/>
          <p:nvPr/>
        </p:nvSpPr>
        <p:spPr>
          <a:xfrm>
            <a:off x="7818120" y="1463040"/>
            <a:ext cx="3703320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04672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VISIÓN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192024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Ser una agencia reconocida en el sur de Chile para el turismo de eventos y entretenimiento, destacando por su buena organización y calidad de servicio.</a:t>
            </a:r>
            <a:endParaRPr lang="en-US" sz="1300" dirty="0"/>
          </a:p>
        </p:txBody>
      </p:sp>
      <p:sp>
        <p:nvSpPr>
          <p:cNvPr id="13" name="Tarjeta"/>
          <p:cNvSpPr/>
          <p:nvPr/>
        </p:nvSpPr>
        <p:spPr>
          <a:xfrm>
            <a:off x="3931920" y="3703320"/>
            <a:ext cx="3703320" cy="2286000"/>
          </a:xfrm>
          <a:prstGeom prst="roundRect">
            <a:avLst>
              <a:gd name="adj" fmla="val 4800"/>
            </a:avLst>
          </a:prstGeom>
          <a:solidFill>
            <a:srgbClr val="1C2447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Círculo ícono"/>
          <p:cNvSpPr/>
          <p:nvPr/>
        </p:nvSpPr>
        <p:spPr>
          <a:xfrm>
            <a:off x="4160520" y="38862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1" descr="FaHead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252" y="4027932"/>
            <a:ext cx="283464" cy="28346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846320" y="3931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Perfil 1 · 18 a 35 años aprox.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160520" y="45720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Jóvenes amantes de la música y los festivales que buscan experiencias completas, seguras y sin complicaciones de transporte.</a:t>
            </a:r>
            <a:endParaRPr lang="en-US" sz="1300" dirty="0"/>
          </a:p>
        </p:txBody>
      </p:sp>
      <p:sp>
        <p:nvSpPr>
          <p:cNvPr id="18" name="Tarjeta"/>
          <p:cNvSpPr/>
          <p:nvPr/>
        </p:nvSpPr>
        <p:spPr>
          <a:xfrm>
            <a:off x="7818120" y="3703320"/>
            <a:ext cx="3703320" cy="2286000"/>
          </a:xfrm>
          <a:prstGeom prst="roundRect">
            <a:avLst>
              <a:gd name="adj" fmla="val 4800"/>
            </a:avLst>
          </a:prstGeom>
          <a:solidFill>
            <a:srgbClr val="1C2447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Círculo ícono"/>
          <p:cNvSpPr/>
          <p:nvPr/>
        </p:nvSpPr>
        <p:spPr>
          <a:xfrm>
            <a:off x="8046720" y="38862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2" descr="FaGlassChe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452" y="4027932"/>
            <a:ext cx="283464" cy="28346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732520" y="3931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Perfil 2 · hasta 45 años aprox.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8046720" y="45720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Turistas de intereses especiales y culturales: amigos o parejas que buscan panoramas de fin de semana y salidas tipo sunset en la zona lacustre.</a:t>
            </a:r>
            <a:endParaRPr lang="en-US" sz="1300" dirty="0"/>
          </a:p>
        </p:txBody>
      </p:sp>
      <p:sp>
        <p:nvSpPr>
          <p:cNvPr id="23" name="Fuente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bg2"/>
                </a:solidFill>
              </a:rPr>
              <a:t>Fuente: Informe Operativo Sound Travel (2026), secc. 2.1. Imagen referencial · Unsplash.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4864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valor: el Pack Sound Travel</a:t>
            </a:r>
            <a:endParaRPr lang="en-US" sz="28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INTEGRANTE 1  ·  CRITERIO 2.1.1  ·  SERVICIOS OFRECIDOS</a:t>
            </a:r>
            <a:endParaRPr lang="en-US" sz="1100" dirty="0"/>
          </a:p>
        </p:txBody>
      </p:sp>
      <p:sp>
        <p:nvSpPr>
          <p:cNvPr id="4" name="Insignia expositor"/>
          <p:cNvSpPr/>
          <p:nvPr/>
        </p:nvSpPr>
        <p:spPr>
          <a:xfrm>
            <a:off x="10104120" y="274320"/>
            <a:ext cx="153619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04120" y="274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chemeClr val="bg1"/>
                </a:solidFill>
              </a:rPr>
              <a:t>INTEGRANTE 1</a:t>
            </a:r>
            <a:endParaRPr lang="en-US" sz="1050" dirty="0"/>
          </a:p>
        </p:txBody>
      </p:sp>
      <p:pic>
        <p:nvPicPr>
          <p:cNvPr id="6" name="Image 0" descr="Bus turístico al anochecer junto a montañas (imagen referencial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463040"/>
            <a:ext cx="448056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0" y="4617720"/>
            <a:ext cx="4480560" cy="1371600"/>
          </a:xfrm>
          <a:prstGeom prst="rect">
            <a:avLst/>
          </a:prstGeom>
          <a:solidFill>
            <a:schemeClr val="tx1">
              <a:alpha val="8000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60920" y="47091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“Llegar puntual, disfrutar con tranquilidad y regresar seguro a casa.”</a:t>
            </a:r>
            <a:endParaRPr lang="en-US" sz="1700" dirty="0"/>
          </a:p>
        </p:txBody>
      </p:sp>
      <p:sp>
        <p:nvSpPr>
          <p:cNvPr id="9" name="Tarjeta"/>
          <p:cNvSpPr/>
          <p:nvPr/>
        </p:nvSpPr>
        <p:spPr>
          <a:xfrm>
            <a:off x="548640" y="1463040"/>
            <a:ext cx="31089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Círculo ícono"/>
          <p:cNvSpPr/>
          <p:nvPr/>
        </p:nvSpPr>
        <p:spPr>
          <a:xfrm>
            <a:off x="731520" y="1664208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FaShuttleV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1796796"/>
            <a:ext cx="265176" cy="2651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166420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Traslado ida y vuelta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731520" y="22402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Minibuses y vans de 15 a 30 pasajeros, con conductores profesionales.</a:t>
            </a:r>
            <a:endParaRPr lang="en-US" sz="1200" dirty="0"/>
          </a:p>
        </p:txBody>
      </p:sp>
      <p:sp>
        <p:nvSpPr>
          <p:cNvPr id="14" name="Tarjeta"/>
          <p:cNvSpPr/>
          <p:nvPr/>
        </p:nvSpPr>
        <p:spPr>
          <a:xfrm>
            <a:off x="3794760" y="1463040"/>
            <a:ext cx="31089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Círculo ícono"/>
          <p:cNvSpPr/>
          <p:nvPr/>
        </p:nvSpPr>
        <p:spPr>
          <a:xfrm>
            <a:off x="3977640" y="1664208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FaTicket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228" y="1796796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617720" y="166420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Entrada asegurada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3977640" y="22402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Bloques de entradas reales gestionados con ticketeras oficiales: evita estafas y reventa.</a:t>
            </a:r>
            <a:endParaRPr lang="en-US" sz="1200" dirty="0"/>
          </a:p>
        </p:txBody>
      </p:sp>
      <p:sp>
        <p:nvSpPr>
          <p:cNvPr id="19" name="Tarjeta"/>
          <p:cNvSpPr/>
          <p:nvPr/>
        </p:nvSpPr>
        <p:spPr>
          <a:xfrm>
            <a:off x="548640" y="3063240"/>
            <a:ext cx="31089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Círculo ícono"/>
          <p:cNvSpPr/>
          <p:nvPr/>
        </p:nvSpPr>
        <p:spPr>
          <a:xfrm>
            <a:off x="731520" y="3264408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FaUserFriend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3396996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71600" y="326440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Asistencia de guía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38404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Lista de pasajeros, pulsera identificadora y acompañamiento hasta el acceso.</a:t>
            </a:r>
            <a:endParaRPr lang="en-US" sz="1200" dirty="0"/>
          </a:p>
        </p:txBody>
      </p:sp>
      <p:sp>
        <p:nvSpPr>
          <p:cNvPr id="24" name="Tarjeta"/>
          <p:cNvSpPr/>
          <p:nvPr/>
        </p:nvSpPr>
        <p:spPr>
          <a:xfrm>
            <a:off x="3794760" y="3063240"/>
            <a:ext cx="31089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Círculo ícono"/>
          <p:cNvSpPr/>
          <p:nvPr/>
        </p:nvSpPr>
        <p:spPr>
          <a:xfrm>
            <a:off x="3977640" y="3264408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4" descr="FaUtensil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0228" y="3396996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17720" y="326440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Paradas gastronómicas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3977640" y="38404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Convenios con restaurantes y cafeterías de Temuco y la zona lacustre.</a:t>
            </a:r>
            <a:endParaRPr lang="en-US" sz="1200" dirty="0"/>
          </a:p>
        </p:txBody>
      </p:sp>
      <p:sp>
        <p:nvSpPr>
          <p:cNvPr id="29" name="Tarjeta"/>
          <p:cNvSpPr/>
          <p:nvPr/>
        </p:nvSpPr>
        <p:spPr>
          <a:xfrm>
            <a:off x="548640" y="4709160"/>
            <a:ext cx="6355080" cy="1280160"/>
          </a:xfrm>
          <a:prstGeom prst="roundRect">
            <a:avLst>
              <a:gd name="adj" fmla="val 8571"/>
            </a:avLst>
          </a:prstGeom>
          <a:solidFill>
            <a:srgbClr val="1C2447"/>
          </a:solidFill>
          <a:ln w="9525">
            <a:solidFill>
              <a:srgbClr val="2E3766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777240" y="4773168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Líneas de servicio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Pack Evento para conciertos y festivales · Salidas tipo sunset en Villarrica y Pucón · Viajes especiales a conciertos en Concepción y Santiago</a:t>
            </a:r>
            <a:endParaRPr lang="en-US" sz="1300" dirty="0"/>
          </a:p>
        </p:txBody>
      </p:sp>
      <p:sp>
        <p:nvSpPr>
          <p:cNvPr id="31" name="Fuente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bg2"/>
                </a:solidFill>
              </a:rPr>
              <a:t>Fuente: Informe Operativo Sound Travel (2026), secc. 2, 2.1 y 4. El informe no define precios ni volumen de ventas. Imagen referencial · Unsplash.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4864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organizacional: organigrama jerárquico</a:t>
            </a:r>
            <a:endParaRPr lang="en-US" sz="28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INTEGRANTE 2  ·  CRITERIO 2.1.1  ·  ESTRUCTURA INTERNA</a:t>
            </a:r>
            <a:endParaRPr lang="en-US" sz="1100" dirty="0"/>
          </a:p>
        </p:txBody>
      </p:sp>
      <p:sp>
        <p:nvSpPr>
          <p:cNvPr id="4" name="Insignia expositor"/>
          <p:cNvSpPr/>
          <p:nvPr/>
        </p:nvSpPr>
        <p:spPr>
          <a:xfrm>
            <a:off x="10104120" y="274320"/>
            <a:ext cx="153619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04120" y="274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chemeClr val="bg1"/>
                </a:solidFill>
              </a:rPr>
              <a:t>INTEGRANTE 2</a:t>
            </a:r>
            <a:endParaRPr lang="en-US" sz="1050" dirty="0"/>
          </a:p>
        </p:txBody>
      </p:sp>
      <p:sp>
        <p:nvSpPr>
          <p:cNvPr id="6" name="Conector"/>
          <p:cNvSpPr/>
          <p:nvPr/>
        </p:nvSpPr>
        <p:spPr>
          <a:xfrm>
            <a:off x="4526280" y="2240280"/>
            <a:ext cx="0" cy="41148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</a:ln>
        </p:spPr>
      </p:sp>
      <p:sp>
        <p:nvSpPr>
          <p:cNvPr id="7" name="Conector"/>
          <p:cNvSpPr/>
          <p:nvPr/>
        </p:nvSpPr>
        <p:spPr>
          <a:xfrm>
            <a:off x="1645920" y="2651760"/>
            <a:ext cx="5760720" cy="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</a:ln>
        </p:spPr>
      </p:sp>
      <p:sp>
        <p:nvSpPr>
          <p:cNvPr id="8" name="Conector"/>
          <p:cNvSpPr/>
          <p:nvPr/>
        </p:nvSpPr>
        <p:spPr>
          <a:xfrm>
            <a:off x="1645920" y="2651760"/>
            <a:ext cx="0" cy="36576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</a:ln>
        </p:spPr>
      </p:sp>
      <p:sp>
        <p:nvSpPr>
          <p:cNvPr id="9" name="Conector"/>
          <p:cNvSpPr/>
          <p:nvPr/>
        </p:nvSpPr>
        <p:spPr>
          <a:xfrm>
            <a:off x="4526280" y="2651760"/>
            <a:ext cx="0" cy="36576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</a:ln>
        </p:spPr>
      </p:sp>
      <p:sp>
        <p:nvSpPr>
          <p:cNvPr id="10" name="Conector"/>
          <p:cNvSpPr/>
          <p:nvPr/>
        </p:nvSpPr>
        <p:spPr>
          <a:xfrm>
            <a:off x="7406640" y="2651760"/>
            <a:ext cx="0" cy="36576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</a:ln>
        </p:spPr>
      </p:sp>
      <p:sp>
        <p:nvSpPr>
          <p:cNvPr id="11" name="Conector"/>
          <p:cNvSpPr/>
          <p:nvPr/>
        </p:nvSpPr>
        <p:spPr>
          <a:xfrm>
            <a:off x="1645920" y="4023360"/>
            <a:ext cx="0" cy="50292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</a:ln>
        </p:spPr>
      </p:sp>
      <p:sp>
        <p:nvSpPr>
          <p:cNvPr id="12" name="Tarjeta"/>
          <p:cNvSpPr/>
          <p:nvPr/>
        </p:nvSpPr>
        <p:spPr>
          <a:xfrm>
            <a:off x="2926080" y="1463040"/>
            <a:ext cx="320040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Círculo ícono"/>
          <p:cNvSpPr/>
          <p:nvPr/>
        </p:nvSpPr>
        <p:spPr>
          <a:xfrm>
            <a:off x="3090672" y="1600200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4" name="Image 0" descr="FaUserT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6402" y="1725930"/>
            <a:ext cx="251460" cy="25146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3703320" y="1463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DIRECCIÓN GENERAL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Gerente General</a:t>
            </a:r>
            <a:endParaRPr lang="en-US" sz="1350" dirty="0"/>
          </a:p>
        </p:txBody>
      </p:sp>
      <p:sp>
        <p:nvSpPr>
          <p:cNvPr id="16" name="Tarjeta"/>
          <p:cNvSpPr/>
          <p:nvPr/>
        </p:nvSpPr>
        <p:spPr>
          <a:xfrm>
            <a:off x="548640" y="3017520"/>
            <a:ext cx="219456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Círculo ícono"/>
          <p:cNvSpPr/>
          <p:nvPr/>
        </p:nvSpPr>
        <p:spPr>
          <a:xfrm>
            <a:off x="713232" y="32689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1" descr="FaCo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962" y="3394710"/>
            <a:ext cx="251460" cy="2514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325880" y="30175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Operaciones y Logística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Jefe de Operaciones</a:t>
            </a:r>
            <a:endParaRPr lang="en-US" sz="1350" dirty="0"/>
          </a:p>
        </p:txBody>
      </p:sp>
      <p:sp>
        <p:nvSpPr>
          <p:cNvPr id="20" name="Tarjeta"/>
          <p:cNvSpPr/>
          <p:nvPr/>
        </p:nvSpPr>
        <p:spPr>
          <a:xfrm>
            <a:off x="3429000" y="3017520"/>
            <a:ext cx="219456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Círculo ícono"/>
          <p:cNvSpPr/>
          <p:nvPr/>
        </p:nvSpPr>
        <p:spPr>
          <a:xfrm>
            <a:off x="3593592" y="32689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2" descr="FaBullhor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322" y="3394710"/>
            <a:ext cx="251460" cy="2514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206240" y="30175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Comercial y Atención al Cliente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Ventas / Community Manager</a:t>
            </a:r>
            <a:endParaRPr lang="en-US" sz="1350" dirty="0"/>
          </a:p>
        </p:txBody>
      </p:sp>
      <p:sp>
        <p:nvSpPr>
          <p:cNvPr id="24" name="Tarjeta"/>
          <p:cNvSpPr/>
          <p:nvPr/>
        </p:nvSpPr>
        <p:spPr>
          <a:xfrm>
            <a:off x="6309360" y="3017520"/>
            <a:ext cx="219456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Círculo ícono"/>
          <p:cNvSpPr/>
          <p:nvPr/>
        </p:nvSpPr>
        <p:spPr>
          <a:xfrm>
            <a:off x="6473952" y="32689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3" descr="FaCalculat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682" y="3394710"/>
            <a:ext cx="251460" cy="2514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086600" y="301752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Administración y Finanzas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Contador / Administrativo</a:t>
            </a:r>
            <a:endParaRPr lang="en-US" sz="1350" dirty="0"/>
          </a:p>
        </p:txBody>
      </p:sp>
      <p:sp>
        <p:nvSpPr>
          <p:cNvPr id="28" name="Tarjeta"/>
          <p:cNvSpPr/>
          <p:nvPr/>
        </p:nvSpPr>
        <p:spPr>
          <a:xfrm>
            <a:off x="548640" y="4526280"/>
            <a:ext cx="219456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Círculo ícono"/>
          <p:cNvSpPr/>
          <p:nvPr/>
        </p:nvSpPr>
        <p:spPr>
          <a:xfrm>
            <a:off x="713232" y="47777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4" descr="FaRou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962" y="4903470"/>
            <a:ext cx="251460" cy="25146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325880" y="452628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Equipo de Terreno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</a:rPr>
              <a:t>Guías turísticos y conductores</a:t>
            </a:r>
            <a:endParaRPr lang="en-US" sz="1350" dirty="0"/>
          </a:p>
        </p:txBody>
      </p:sp>
      <p:sp>
        <p:nvSpPr>
          <p:cNvPr id="32" name="Tarjeta"/>
          <p:cNvSpPr/>
          <p:nvPr/>
        </p:nvSpPr>
        <p:spPr>
          <a:xfrm>
            <a:off x="8915400" y="1463040"/>
            <a:ext cx="2697480" cy="4526280"/>
          </a:xfrm>
          <a:prstGeom prst="roundRect">
            <a:avLst>
              <a:gd name="adj" fmla="val 4068"/>
            </a:avLst>
          </a:prstGeom>
          <a:solidFill>
            <a:srgbClr val="1C2447"/>
          </a:solidFill>
          <a:ln w="9525">
            <a:solidFill>
              <a:srgbClr val="2E3766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9144000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CÓMO SE LEE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9144000" y="1965960"/>
            <a:ext cx="2331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5 niveles de cargo y 4 áreas funcionales.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Estructura simple y vertical: una sola dirección coordina tres áreas.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El Equipo de Terreno depende de Operaciones: la oficina conecta directo con quienes acompañan a los pasajeros.</a:t>
            </a:r>
            <a:endParaRPr lang="en-US" sz="1300" dirty="0"/>
          </a:p>
        </p:txBody>
      </p:sp>
      <p:sp>
        <p:nvSpPr>
          <p:cNvPr id="35" name="Fuente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bg2"/>
                </a:solidFill>
              </a:rPr>
              <a:t>Fuente: Informe Operativo Sound Travel (2026), secc. 3, Figura 1 (organigrama jerárquico básico). Rediseño gráfico de elaboración propia.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4864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Áreas de trabajo y recurso humano</a:t>
            </a:r>
            <a:endParaRPr lang="en-US" sz="28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INTEGRANTE 2  ·  CRITERIO 2.1.1  ·  FUNCIONES Y RESPONSABILIDADES</a:t>
            </a:r>
            <a:endParaRPr lang="en-US" sz="1100" dirty="0"/>
          </a:p>
        </p:txBody>
      </p:sp>
      <p:sp>
        <p:nvSpPr>
          <p:cNvPr id="4" name="Insignia expositor"/>
          <p:cNvSpPr/>
          <p:nvPr/>
        </p:nvSpPr>
        <p:spPr>
          <a:xfrm>
            <a:off x="10104120" y="274320"/>
            <a:ext cx="153619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04120" y="274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chemeClr val="bg1"/>
                </a:solidFill>
              </a:rPr>
              <a:t>INTEGRANTE 2</a:t>
            </a:r>
            <a:endParaRPr lang="en-US" sz="1050" dirty="0"/>
          </a:p>
        </p:txBody>
      </p:sp>
      <p:sp>
        <p:nvSpPr>
          <p:cNvPr id="6" name="Tarjeta"/>
          <p:cNvSpPr/>
          <p:nvPr/>
        </p:nvSpPr>
        <p:spPr>
          <a:xfrm>
            <a:off x="548640" y="1463040"/>
            <a:ext cx="2103120" cy="452628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Círculo ícono"/>
          <p:cNvSpPr/>
          <p:nvPr/>
        </p:nvSpPr>
        <p:spPr>
          <a:xfrm>
            <a:off x="731520" y="166420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FaUserTi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805940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23317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Dirección General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907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Gerente General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29184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Planificación general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Alianzas con instituciones y productoras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Supervisa cumplimiento de la normativa turística</a:t>
            </a:r>
            <a:endParaRPr lang="en-US" sz="1250" dirty="0"/>
          </a:p>
        </p:txBody>
      </p:sp>
      <p:sp>
        <p:nvSpPr>
          <p:cNvPr id="12" name="Tarjeta"/>
          <p:cNvSpPr/>
          <p:nvPr/>
        </p:nvSpPr>
        <p:spPr>
          <a:xfrm>
            <a:off x="2788920" y="1463040"/>
            <a:ext cx="2103120" cy="452628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Círculo ícono"/>
          <p:cNvSpPr/>
          <p:nvPr/>
        </p:nvSpPr>
        <p:spPr>
          <a:xfrm>
            <a:off x="2971800" y="166420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1" descr="FaCo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532" y="1805940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971800" y="23317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Operaciones y Logística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971800" y="2907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Jefe de Operaciones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2971800" y="329184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Rutas de recogida y retorno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Tiempos de viaje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Documentos y mantención de minibuses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Planes de contingencia</a:t>
            </a:r>
            <a:endParaRPr lang="en-US" sz="1250" dirty="0"/>
          </a:p>
        </p:txBody>
      </p:sp>
      <p:sp>
        <p:nvSpPr>
          <p:cNvPr id="18" name="Tarjeta"/>
          <p:cNvSpPr/>
          <p:nvPr/>
        </p:nvSpPr>
        <p:spPr>
          <a:xfrm>
            <a:off x="5029200" y="1463040"/>
            <a:ext cx="2103120" cy="452628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Círculo ícono"/>
          <p:cNvSpPr/>
          <p:nvPr/>
        </p:nvSpPr>
        <p:spPr>
          <a:xfrm>
            <a:off x="5212080" y="166420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2" descr="FaBullhor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812" y="1805940"/>
            <a:ext cx="283464" cy="28346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212080" y="23317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Comercial y Atención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5212080" y="2907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Ventas / Community Manager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5212080" y="329184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Consultas en redes sociales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Reservas de paquetes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Contenido en Instagram y TikTok</a:t>
            </a:r>
            <a:endParaRPr lang="en-US" sz="1250" dirty="0"/>
          </a:p>
        </p:txBody>
      </p:sp>
      <p:sp>
        <p:nvSpPr>
          <p:cNvPr id="24" name="Tarjeta"/>
          <p:cNvSpPr/>
          <p:nvPr/>
        </p:nvSpPr>
        <p:spPr>
          <a:xfrm>
            <a:off x="7269480" y="1463040"/>
            <a:ext cx="2103120" cy="452628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Círculo ícono"/>
          <p:cNvSpPr/>
          <p:nvPr/>
        </p:nvSpPr>
        <p:spPr>
          <a:xfrm>
            <a:off x="7452360" y="166420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3" descr="FaCalculat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4092" y="1805940"/>
            <a:ext cx="283464" cy="28346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452360" y="23317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Administración y Finanzas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7452360" y="2907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Contador / Administrativo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7452360" y="329184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Contabilidad, boletas y facturas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Presupuesto por salida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Pagos a transporte, locales y ticketeras</a:t>
            </a:r>
            <a:endParaRPr lang="en-US" sz="1250" dirty="0"/>
          </a:p>
        </p:txBody>
      </p:sp>
      <p:sp>
        <p:nvSpPr>
          <p:cNvPr id="30" name="Tarjeta"/>
          <p:cNvSpPr/>
          <p:nvPr/>
        </p:nvSpPr>
        <p:spPr>
          <a:xfrm>
            <a:off x="9509760" y="1463040"/>
            <a:ext cx="2103120" cy="4526280"/>
          </a:xfrm>
          <a:prstGeom prst="roundRect">
            <a:avLst>
              <a:gd name="adj" fmla="val 5217"/>
            </a:avLst>
          </a:prstGeom>
          <a:solidFill>
            <a:srgbClr val="1C2447"/>
          </a:solidFill>
          <a:ln w="952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Círculo ícono"/>
          <p:cNvSpPr/>
          <p:nvPr/>
        </p:nvSpPr>
        <p:spPr>
          <a:xfrm>
            <a:off x="9692640" y="166420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Image 4" descr="FaRou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4372" y="1805940"/>
            <a:ext cx="283464" cy="28346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692640" y="23317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Equipo de Terreno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9692640" y="2907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Guías y conductores</a:t>
            </a:r>
            <a:endParaRPr lang="en-US" sz="1150" dirty="0"/>
          </a:p>
        </p:txBody>
      </p:sp>
      <p:sp>
        <p:nvSpPr>
          <p:cNvPr id="35" name="Text 28"/>
          <p:cNvSpPr txBox="1"/>
          <p:nvPr/>
        </p:nvSpPr>
        <p:spPr>
          <a:xfrm>
            <a:off x="9692640" y="329184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Lista y pulseras al subir al bus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Acompañamiento hasta el recinto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Conducción prudente y puntual</a:t>
            </a:r>
            <a:endParaRPr lang="en-US" sz="1250" dirty="0"/>
          </a:p>
        </p:txBody>
      </p:sp>
      <p:sp>
        <p:nvSpPr>
          <p:cNvPr id="36" name="Fuente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bg2"/>
                </a:solidFill>
              </a:rPr>
              <a:t>Fuente: Informe Operativo Sound Travel (2026), secc. 3.1. Cada área actúa antes, durante y después de cada evento.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4864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Organigrama funcional: cuatro funciones, un servicio</a:t>
            </a:r>
            <a:endParaRPr lang="en-US" sz="28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INTEGRANTE 2  ·  CRITERIO 2.1.1  ·  ORGANIZACIÓN POR FUNCIONES</a:t>
            </a:r>
            <a:endParaRPr lang="en-US" sz="1100" dirty="0"/>
          </a:p>
        </p:txBody>
      </p:sp>
      <p:sp>
        <p:nvSpPr>
          <p:cNvPr id="4" name="Insignia expositor"/>
          <p:cNvSpPr/>
          <p:nvPr/>
        </p:nvSpPr>
        <p:spPr>
          <a:xfrm>
            <a:off x="10104120" y="274320"/>
            <a:ext cx="153619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04120" y="274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chemeClr val="bg1"/>
                </a:solidFill>
              </a:rPr>
              <a:t>INTEGRANTE 2</a:t>
            </a:r>
            <a:endParaRPr lang="en-US" sz="1050" dirty="0"/>
          </a:p>
        </p:txBody>
      </p:sp>
      <p:sp>
        <p:nvSpPr>
          <p:cNvPr id="6" name="Conector"/>
          <p:cNvSpPr/>
          <p:nvPr/>
        </p:nvSpPr>
        <p:spPr>
          <a:xfrm>
            <a:off x="4846320" y="2514600"/>
            <a:ext cx="1248156" cy="1207008"/>
          </a:xfrm>
          <a:prstGeom prst="line">
            <a:avLst/>
          </a:prstGeom>
          <a:noFill/>
          <a:ln w="25400">
            <a:solidFill>
              <a:srgbClr val="2E3766"/>
            </a:solidFill>
            <a:prstDash val="solid"/>
          </a:ln>
        </p:spPr>
      </p:sp>
      <p:sp>
        <p:nvSpPr>
          <p:cNvPr id="7" name="Conector"/>
          <p:cNvSpPr/>
          <p:nvPr/>
        </p:nvSpPr>
        <p:spPr>
          <a:xfrm flipH="1">
            <a:off x="6094476" y="2514600"/>
            <a:ext cx="1248156" cy="1207008"/>
          </a:xfrm>
          <a:prstGeom prst="line">
            <a:avLst/>
          </a:prstGeom>
          <a:noFill/>
          <a:ln w="25400">
            <a:solidFill>
              <a:srgbClr val="2E3766"/>
            </a:solidFill>
            <a:prstDash val="solid"/>
          </a:ln>
        </p:spPr>
      </p:sp>
      <p:sp>
        <p:nvSpPr>
          <p:cNvPr id="8" name="Conector"/>
          <p:cNvSpPr/>
          <p:nvPr/>
        </p:nvSpPr>
        <p:spPr>
          <a:xfrm flipV="1">
            <a:off x="4846320" y="3721608"/>
            <a:ext cx="1248156" cy="1170432"/>
          </a:xfrm>
          <a:prstGeom prst="line">
            <a:avLst/>
          </a:prstGeom>
          <a:noFill/>
          <a:ln w="25400">
            <a:solidFill>
              <a:srgbClr val="2E3766"/>
            </a:solidFill>
            <a:prstDash val="solid"/>
          </a:ln>
        </p:spPr>
      </p:sp>
      <p:sp>
        <p:nvSpPr>
          <p:cNvPr id="9" name="Conector"/>
          <p:cNvSpPr/>
          <p:nvPr/>
        </p:nvSpPr>
        <p:spPr>
          <a:xfrm flipH="1" flipV="1">
            <a:off x="6094476" y="3721608"/>
            <a:ext cx="1248156" cy="1170432"/>
          </a:xfrm>
          <a:prstGeom prst="line">
            <a:avLst/>
          </a:prstGeom>
          <a:noFill/>
          <a:ln w="25400">
            <a:solidFill>
              <a:srgbClr val="2E3766"/>
            </a:solidFill>
            <a:prstDash val="solid"/>
          </a:ln>
        </p:spPr>
      </p:sp>
      <p:sp>
        <p:nvSpPr>
          <p:cNvPr id="10" name="Tarjeta"/>
          <p:cNvSpPr/>
          <p:nvPr/>
        </p:nvSpPr>
        <p:spPr>
          <a:xfrm>
            <a:off x="548640" y="1463040"/>
            <a:ext cx="429768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Círculo ícono"/>
          <p:cNvSpPr/>
          <p:nvPr/>
        </p:nvSpPr>
        <p:spPr>
          <a:xfrm>
            <a:off x="749808" y="166420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0" descr="FaChessK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01368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417320" y="16276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 · Función Directiva</a:t>
            </a:r>
            <a:endParaRPr lang="en-US" sz="15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Dirección General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" y="23774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Planificación anual según calendario de conciertos, gestión de convenios con municipios y SERNATUR, y control legal del servicio.</a:t>
            </a:r>
            <a:endParaRPr lang="en-US" sz="1300" dirty="0"/>
          </a:p>
        </p:txBody>
      </p:sp>
      <p:sp>
        <p:nvSpPr>
          <p:cNvPr id="15" name="Tarjeta"/>
          <p:cNvSpPr/>
          <p:nvPr/>
        </p:nvSpPr>
        <p:spPr>
          <a:xfrm>
            <a:off x="7342632" y="1463040"/>
            <a:ext cx="429768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Círculo ícono"/>
          <p:cNvSpPr/>
          <p:nvPr/>
        </p:nvSpPr>
        <p:spPr>
          <a:xfrm>
            <a:off x="7543800" y="166420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1" descr="FaToo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80136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211312" y="16276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 · Función Operativa</a:t>
            </a:r>
            <a:endParaRPr lang="en-US" sz="15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Operaciones y Terreno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7543800" y="23774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Diseño de rutas y puntos de encuentro, chequeo técnico de minibuses, embarque y acompañamiento en ruta.</a:t>
            </a:r>
            <a:endParaRPr lang="en-US" sz="1300" dirty="0"/>
          </a:p>
        </p:txBody>
      </p:sp>
      <p:sp>
        <p:nvSpPr>
          <p:cNvPr id="20" name="Tarjeta"/>
          <p:cNvSpPr/>
          <p:nvPr/>
        </p:nvSpPr>
        <p:spPr>
          <a:xfrm>
            <a:off x="548640" y="3840480"/>
            <a:ext cx="429768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Círculo ícono"/>
          <p:cNvSpPr/>
          <p:nvPr/>
        </p:nvSpPr>
        <p:spPr>
          <a:xfrm>
            <a:off x="749808" y="40416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2" descr="FaShoppingC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178808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417320" y="40050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 · Función Comercial</a:t>
            </a:r>
            <a:endParaRPr lang="en-US" sz="15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Comercial y Ventas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749808" y="47548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Campañas digitales del “Pack Evento”, cotizaciones por WhatsApp, ventas online y envío de vouchers.</a:t>
            </a:r>
            <a:endParaRPr lang="en-US" sz="1300" dirty="0"/>
          </a:p>
        </p:txBody>
      </p:sp>
      <p:sp>
        <p:nvSpPr>
          <p:cNvPr id="25" name="Tarjeta"/>
          <p:cNvSpPr/>
          <p:nvPr/>
        </p:nvSpPr>
        <p:spPr>
          <a:xfrm>
            <a:off x="7342632" y="3840480"/>
            <a:ext cx="429768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Círculo ícono"/>
          <p:cNvSpPr/>
          <p:nvPr/>
        </p:nvSpPr>
        <p:spPr>
          <a:xfrm>
            <a:off x="7543800" y="40416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mage 3" descr="FaFileInvoiceDoll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4178808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211312" y="40050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 · Función Administrativa</a:t>
            </a:r>
            <a:endParaRPr lang="en-US" sz="15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Administración y Finanzas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7543800" y="47548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Control de pagos de reservas, liquidación de convenios B2B con transportistas y restaurantes, y balance por evento.</a:t>
            </a:r>
            <a:endParaRPr lang="en-US" sz="1300" dirty="0"/>
          </a:p>
        </p:txBody>
      </p:sp>
      <p:sp>
        <p:nvSpPr>
          <p:cNvPr id="30" name="Centro funcional"/>
          <p:cNvSpPr/>
          <p:nvPr/>
        </p:nvSpPr>
        <p:spPr>
          <a:xfrm>
            <a:off x="5180076" y="2807208"/>
            <a:ext cx="1828800" cy="18288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5"/>
          <p:cNvSpPr txBox="1"/>
          <p:nvPr/>
        </p:nvSpPr>
        <p:spPr>
          <a:xfrm>
            <a:off x="5180076" y="2807208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SERVICIO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INTEGRADO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Pack Sound Travel</a:t>
            </a:r>
            <a:endParaRPr lang="en-US" sz="1300" dirty="0"/>
          </a:p>
        </p:txBody>
      </p:sp>
      <p:sp>
        <p:nvSpPr>
          <p:cNvPr id="32" name="Fuente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bg2"/>
                </a:solidFill>
              </a:rPr>
              <a:t>Fuente: Informe Operativo Sound Travel (2026), secc. 3.2. Los convenios con municipio y SERNATUR son una propuesta: no existen acuerdos firmados (empresa ficticia).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4864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 operativos internos y externos</a:t>
            </a:r>
            <a:endParaRPr lang="en-US" sz="28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INTEGRANTE 2  ·  CRITERIO 2.1.1  ·  CÓMO SE CONECTA LA OFICINA CON EL ENTORNO</a:t>
            </a:r>
            <a:endParaRPr lang="en-US" sz="1100" dirty="0"/>
          </a:p>
        </p:txBody>
      </p:sp>
      <p:sp>
        <p:nvSpPr>
          <p:cNvPr id="4" name="Insignia expositor"/>
          <p:cNvSpPr/>
          <p:nvPr/>
        </p:nvSpPr>
        <p:spPr>
          <a:xfrm>
            <a:off x="10104120" y="274320"/>
            <a:ext cx="153619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04120" y="274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chemeClr val="bg1"/>
                </a:solidFill>
              </a:rPr>
              <a:t>INTEGRANTE 2</a:t>
            </a:r>
            <a:endParaRPr lang="en-US" sz="1050" dirty="0"/>
          </a:p>
        </p:txBody>
      </p:sp>
      <p:sp>
        <p:nvSpPr>
          <p:cNvPr id="6" name="Tarjeta"/>
          <p:cNvSpPr/>
          <p:nvPr/>
        </p:nvSpPr>
        <p:spPr>
          <a:xfrm>
            <a:off x="548640" y="1463040"/>
            <a:ext cx="4754880" cy="452628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627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PROCESOS INTERNOS</a:t>
            </a:r>
            <a:endParaRPr lang="en-US" sz="1200" dirty="0"/>
          </a:p>
        </p:txBody>
      </p:sp>
      <p:sp>
        <p:nvSpPr>
          <p:cNvPr id="8" name="Círculo ícono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9" name="Image 0" descr="FaRou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218313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17320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Planificación de rutas, tiempos y puntos de encuentro</a:t>
            </a:r>
            <a:endParaRPr lang="en-US" sz="1350" dirty="0"/>
          </a:p>
        </p:txBody>
      </p:sp>
      <p:sp>
        <p:nvSpPr>
          <p:cNvPr id="11" name="Círculo ícono"/>
          <p:cNvSpPr/>
          <p:nvPr/>
        </p:nvSpPr>
        <p:spPr>
          <a:xfrm>
            <a:off x="777240" y="2825496"/>
            <a:ext cx="502920" cy="50292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12" name="Image 1" descr="FaWren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2951226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28254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Revisión de documentos y mantención de minibuses</a:t>
            </a:r>
            <a:endParaRPr lang="en-US" sz="1350" dirty="0"/>
          </a:p>
        </p:txBody>
      </p:sp>
      <p:sp>
        <p:nvSpPr>
          <p:cNvPr id="14" name="Círculo ícono"/>
          <p:cNvSpPr/>
          <p:nvPr/>
        </p:nvSpPr>
        <p:spPr>
          <a:xfrm>
            <a:off x="777240" y="3593592"/>
            <a:ext cx="502920" cy="50292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15" name="Image 2" descr="FaCalendar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3719322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5935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Gestión de reservas, nómina de pasajeros y vouchers</a:t>
            </a:r>
            <a:endParaRPr lang="en-US" sz="1350" dirty="0"/>
          </a:p>
        </p:txBody>
      </p:sp>
      <p:sp>
        <p:nvSpPr>
          <p:cNvPr id="17" name="Círculo ícono"/>
          <p:cNvSpPr/>
          <p:nvPr/>
        </p:nvSpPr>
        <p:spPr>
          <a:xfrm>
            <a:off x="777240" y="4361688"/>
            <a:ext cx="502920" cy="50292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18" name="Image 3" descr="FaCoin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70" y="4487418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17320" y="43616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Presupuesto por salida, pagos y balance por evento</a:t>
            </a:r>
            <a:endParaRPr lang="en-US" sz="1350" dirty="0"/>
          </a:p>
        </p:txBody>
      </p:sp>
      <p:sp>
        <p:nvSpPr>
          <p:cNvPr id="20" name="Círculo ícono"/>
          <p:cNvSpPr/>
          <p:nvPr/>
        </p:nvSpPr>
        <p:spPr>
          <a:xfrm>
            <a:off x="777240" y="5129784"/>
            <a:ext cx="502920" cy="50292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21" name="Image 4" descr="FaUs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" y="5255514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17320" y="512978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Embarque, acompañamiento y retorno del grupo</a:t>
            </a:r>
            <a:endParaRPr lang="en-US" sz="1350" dirty="0"/>
          </a:p>
        </p:txBody>
      </p:sp>
      <p:sp>
        <p:nvSpPr>
          <p:cNvPr id="23" name="Flecha"/>
          <p:cNvSpPr/>
          <p:nvPr/>
        </p:nvSpPr>
        <p:spPr>
          <a:xfrm>
            <a:off x="5440680" y="3200400"/>
            <a:ext cx="685800" cy="54864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Flecha"/>
          <p:cNvSpPr/>
          <p:nvPr/>
        </p:nvSpPr>
        <p:spPr>
          <a:xfrm>
            <a:off x="5440680" y="3840480"/>
            <a:ext cx="685800" cy="548640"/>
          </a:xfrm>
          <a:prstGeom prst="lef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arjeta"/>
          <p:cNvSpPr/>
          <p:nvPr/>
        </p:nvSpPr>
        <p:spPr>
          <a:xfrm>
            <a:off x="6263640" y="1463040"/>
            <a:ext cx="5349240" cy="452628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19"/>
          <p:cNvSpPr txBox="1"/>
          <p:nvPr/>
        </p:nvSpPr>
        <p:spPr>
          <a:xfrm>
            <a:off x="6492240" y="1627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PROCESOS EXTERNOS · TRES FRENTES</a:t>
            </a:r>
            <a:endParaRPr lang="en-US" sz="1200" dirty="0"/>
          </a:p>
        </p:txBody>
      </p:sp>
      <p:sp>
        <p:nvSpPr>
          <p:cNvPr id="27" name="Círculo ícono"/>
          <p:cNvSpPr/>
          <p:nvPr/>
        </p:nvSpPr>
        <p:spPr>
          <a:xfrm>
            <a:off x="6492240" y="2103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mage 5" descr="FaHandshak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24028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223760" y="201168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Proveedores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Contratos y reservas anticipadas con transporte turístico, convenios con restaurantes y coordinación con ticketeras oficiales.</a:t>
            </a:r>
            <a:endParaRPr lang="en-US" sz="1450" dirty="0"/>
          </a:p>
        </p:txBody>
      </p:sp>
      <p:sp>
        <p:nvSpPr>
          <p:cNvPr id="30" name="Círculo ícono"/>
          <p:cNvSpPr/>
          <p:nvPr/>
        </p:nvSpPr>
        <p:spPr>
          <a:xfrm>
            <a:off x="6492240" y="3383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mage 6" descr="FaLandmar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3520440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223760" y="329184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Alianzas estratégicas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Comunicación con Municipalidad de Temuco, SERNATUR Araucanía, seguridad municipal y Carabineros.</a:t>
            </a:r>
            <a:endParaRPr lang="en-US" sz="1450" dirty="0"/>
          </a:p>
        </p:txBody>
      </p:sp>
      <p:sp>
        <p:nvSpPr>
          <p:cNvPr id="33" name="Círculo ícono"/>
          <p:cNvSpPr/>
          <p:nvPr/>
        </p:nvSpPr>
        <p:spPr>
          <a:xfrm>
            <a:off x="6492240" y="4663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mage 7" descr="FaComment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4800600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223760" y="457200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Clientes y comercialización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Venta directa B2C por Instagram, TikTok, web y WhatsApp Business.</a:t>
            </a:r>
            <a:endParaRPr lang="en-US" sz="1450" dirty="0"/>
          </a:p>
        </p:txBody>
      </p:sp>
      <p:sp>
        <p:nvSpPr>
          <p:cNvPr id="36" name="Fuente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bg2"/>
                </a:solidFill>
              </a:rPr>
              <a:t>Fuente: Informe Operativo Sound Travel (2026), secc. 3.1, 3.2 y 4.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4864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 del servicio en cinco etapas</a:t>
            </a:r>
            <a:endParaRPr lang="en-US" sz="28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INTEGRANTE 2  ·  CRITERIO 2.1.1  ·  MAPA DE PROCESOS EN CINCO ETAPAS</a:t>
            </a:r>
            <a:endParaRPr lang="en-US" sz="1100" dirty="0"/>
          </a:p>
        </p:txBody>
      </p:sp>
      <p:sp>
        <p:nvSpPr>
          <p:cNvPr id="4" name="Insignia expositor"/>
          <p:cNvSpPr/>
          <p:nvPr/>
        </p:nvSpPr>
        <p:spPr>
          <a:xfrm>
            <a:off x="10104120" y="274320"/>
            <a:ext cx="153619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04120" y="274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chemeClr val="bg1"/>
                </a:solidFill>
              </a:rPr>
              <a:t>INTEGRANTE 2</a:t>
            </a:r>
            <a:endParaRPr lang="en-US" sz="1050" dirty="0"/>
          </a:p>
        </p:txBody>
      </p:sp>
      <p:sp>
        <p:nvSpPr>
          <p:cNvPr id="6" name="Fase"/>
          <p:cNvSpPr/>
          <p:nvPr/>
        </p:nvSpPr>
        <p:spPr>
          <a:xfrm>
            <a:off x="548640" y="1417320"/>
            <a:ext cx="4343400" cy="310896"/>
          </a:xfrm>
          <a:prstGeom prst="roundRect">
            <a:avLst>
              <a:gd name="adj" fmla="val 50000"/>
            </a:avLst>
          </a:prstGeom>
          <a:solidFill>
            <a:srgbClr val="1C2447"/>
          </a:solidFill>
          <a:ln w="12700">
            <a:solidFill>
              <a:srgbClr val="2E37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1732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chemeClr val="accent6"/>
                </a:solidFill>
              </a:rPr>
              <a:t>CAPTACIÓN</a:t>
            </a:r>
            <a:endParaRPr lang="en-US" sz="1050" dirty="0"/>
          </a:p>
        </p:txBody>
      </p:sp>
      <p:sp>
        <p:nvSpPr>
          <p:cNvPr id="8" name="Fase"/>
          <p:cNvSpPr/>
          <p:nvPr/>
        </p:nvSpPr>
        <p:spPr>
          <a:xfrm>
            <a:off x="5029200" y="14173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C2447"/>
          </a:solidFill>
          <a:ln w="12700">
            <a:solidFill>
              <a:srgbClr val="2E37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4173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chemeClr val="accent6"/>
                </a:solidFill>
              </a:rPr>
              <a:t>PREPARACIÓN</a:t>
            </a:r>
            <a:endParaRPr lang="en-US" sz="1050" dirty="0"/>
          </a:p>
        </p:txBody>
      </p:sp>
      <p:sp>
        <p:nvSpPr>
          <p:cNvPr id="10" name="Fase"/>
          <p:cNvSpPr/>
          <p:nvPr/>
        </p:nvSpPr>
        <p:spPr>
          <a:xfrm>
            <a:off x="7269480" y="14173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C2447"/>
          </a:solidFill>
          <a:ln w="12700">
            <a:solidFill>
              <a:srgbClr val="2E37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69480" y="14173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chemeClr val="accent6"/>
                </a:solidFill>
              </a:rPr>
              <a:t>EJECUCIÓN</a:t>
            </a:r>
            <a:endParaRPr lang="en-US" sz="1050" dirty="0"/>
          </a:p>
        </p:txBody>
      </p:sp>
      <p:sp>
        <p:nvSpPr>
          <p:cNvPr id="12" name="Fase"/>
          <p:cNvSpPr/>
          <p:nvPr/>
        </p:nvSpPr>
        <p:spPr>
          <a:xfrm>
            <a:off x="9509760" y="141732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C2447"/>
          </a:solidFill>
          <a:ln w="12700">
            <a:solidFill>
              <a:srgbClr val="2E37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14173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chemeClr val="accent6"/>
                </a:solidFill>
              </a:rPr>
              <a:t>CIERRE</a:t>
            </a:r>
            <a:endParaRPr lang="en-US" sz="1050" dirty="0"/>
          </a:p>
        </p:txBody>
      </p:sp>
      <p:sp>
        <p:nvSpPr>
          <p:cNvPr id="14" name="Etapa 1"/>
          <p:cNvSpPr/>
          <p:nvPr/>
        </p:nvSpPr>
        <p:spPr>
          <a:xfrm>
            <a:off x="548640" y="1874520"/>
            <a:ext cx="2103120" cy="777240"/>
          </a:xfrm>
          <a:prstGeom prst="homePlate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18745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ETAPA 1</a:t>
            </a:r>
            <a:endParaRPr lang="en-US" sz="1400" dirty="0"/>
          </a:p>
        </p:txBody>
      </p:sp>
      <p:sp>
        <p:nvSpPr>
          <p:cNvPr id="16" name="Tarjeta"/>
          <p:cNvSpPr/>
          <p:nvPr/>
        </p:nvSpPr>
        <p:spPr>
          <a:xfrm>
            <a:off x="548640" y="2834640"/>
            <a:ext cx="2103120" cy="274320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Círculo ícono"/>
          <p:cNvSpPr/>
          <p:nvPr/>
        </p:nvSpPr>
        <p:spPr>
          <a:xfrm>
            <a:off x="731520" y="2999232"/>
            <a:ext cx="502920" cy="50292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18" name="Image 0" descr="FaBullhor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3124962"/>
            <a:ext cx="251460" cy="25146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31520" y="361188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Difusión y marketing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4206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“Pack Evento” en Instagram y TikTok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48006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Responsable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Comercial</a:t>
            </a:r>
            <a:endParaRPr lang="en-US" sz="1000" dirty="0"/>
          </a:p>
        </p:txBody>
      </p:sp>
      <p:sp>
        <p:nvSpPr>
          <p:cNvPr id="22" name="Etapa 2"/>
          <p:cNvSpPr/>
          <p:nvPr/>
        </p:nvSpPr>
        <p:spPr>
          <a:xfrm>
            <a:off x="2788920" y="1874520"/>
            <a:ext cx="2103120" cy="777240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108960" y="18745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ETAPA 2</a:t>
            </a:r>
            <a:endParaRPr lang="en-US" sz="1400" dirty="0"/>
          </a:p>
        </p:txBody>
      </p:sp>
      <p:sp>
        <p:nvSpPr>
          <p:cNvPr id="24" name="Tarjeta"/>
          <p:cNvSpPr/>
          <p:nvPr/>
        </p:nvSpPr>
        <p:spPr>
          <a:xfrm>
            <a:off x="2788920" y="2834640"/>
            <a:ext cx="2103120" cy="274320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Círculo ícono"/>
          <p:cNvSpPr/>
          <p:nvPr/>
        </p:nvSpPr>
        <p:spPr>
          <a:xfrm>
            <a:off x="2971800" y="2999232"/>
            <a:ext cx="502920" cy="50292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26" name="Image 1" descr="FaCom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530" y="3124962"/>
            <a:ext cx="251460" cy="25146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2971800" y="361188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Consulta, cotización y venta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2971800" y="4206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Web y WhatsApp; envío de voucher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2971800" y="48006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Responsable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Comercial · Administración</a:t>
            </a:r>
            <a:endParaRPr lang="en-US" sz="1000" dirty="0"/>
          </a:p>
        </p:txBody>
      </p:sp>
      <p:sp>
        <p:nvSpPr>
          <p:cNvPr id="30" name="Etapa 3"/>
          <p:cNvSpPr/>
          <p:nvPr/>
        </p:nvSpPr>
        <p:spPr>
          <a:xfrm>
            <a:off x="5029200" y="1874520"/>
            <a:ext cx="2103120" cy="77724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349240" y="18745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ETAPA 3</a:t>
            </a:r>
            <a:endParaRPr lang="en-US" sz="1400" dirty="0"/>
          </a:p>
        </p:txBody>
      </p:sp>
      <p:sp>
        <p:nvSpPr>
          <p:cNvPr id="32" name="Tarjeta"/>
          <p:cNvSpPr/>
          <p:nvPr/>
        </p:nvSpPr>
        <p:spPr>
          <a:xfrm>
            <a:off x="5029200" y="2834640"/>
            <a:ext cx="2103120" cy="274320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Círculo ícono"/>
          <p:cNvSpPr/>
          <p:nvPr/>
        </p:nvSpPr>
        <p:spPr>
          <a:xfrm>
            <a:off x="5212080" y="2999232"/>
            <a:ext cx="502920" cy="50292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34" name="Image 2" descr="FaClipboardLi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7810" y="3124962"/>
            <a:ext cx="251460" cy="25146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5212080" y="361188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Coordinación logística interna</a:t>
            </a:r>
            <a:endParaRPr lang="en-US" sz="1400" dirty="0"/>
          </a:p>
        </p:txBody>
      </p:sp>
      <p:sp>
        <p:nvSpPr>
          <p:cNvPr id="36" name="Text 31"/>
          <p:cNvSpPr txBox="1"/>
          <p:nvPr/>
        </p:nvSpPr>
        <p:spPr>
          <a:xfrm>
            <a:off x="5212080" y="4206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Se bloquean asientos, comidas y entradas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5212080" y="48006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Responsable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Operaciones · Administración</a:t>
            </a:r>
            <a:endParaRPr lang="en-US" sz="1000" dirty="0"/>
          </a:p>
        </p:txBody>
      </p:sp>
      <p:sp>
        <p:nvSpPr>
          <p:cNvPr id="38" name="Etapa 4"/>
          <p:cNvSpPr/>
          <p:nvPr/>
        </p:nvSpPr>
        <p:spPr>
          <a:xfrm>
            <a:off x="7269480" y="1874520"/>
            <a:ext cx="2103120" cy="777240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7589520" y="18745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ETAPA 4</a:t>
            </a:r>
            <a:endParaRPr lang="en-US" sz="1400" dirty="0"/>
          </a:p>
        </p:txBody>
      </p:sp>
      <p:sp>
        <p:nvSpPr>
          <p:cNvPr id="40" name="Tarjeta"/>
          <p:cNvSpPr/>
          <p:nvPr/>
        </p:nvSpPr>
        <p:spPr>
          <a:xfrm>
            <a:off x="7269480" y="2834640"/>
            <a:ext cx="2103120" cy="274320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Círculo ícono"/>
          <p:cNvSpPr/>
          <p:nvPr/>
        </p:nvSpPr>
        <p:spPr>
          <a:xfrm>
            <a:off x="7452360" y="2999232"/>
            <a:ext cx="502920" cy="50292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42" name="Image 3" descr="FaShuttleVa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8090" y="3124962"/>
            <a:ext cx="251460" cy="251460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7452360" y="361188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Traslado y acompañamiento</a:t>
            </a:r>
            <a:endParaRPr lang="en-US" sz="1400" dirty="0"/>
          </a:p>
        </p:txBody>
      </p:sp>
      <p:sp>
        <p:nvSpPr>
          <p:cNvPr id="44" name="Text 38"/>
          <p:cNvSpPr txBox="1"/>
          <p:nvPr/>
        </p:nvSpPr>
        <p:spPr>
          <a:xfrm>
            <a:off x="7452360" y="4206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Embarque, ruta y acceso al recinto</a:t>
            </a:r>
            <a:endParaRPr lang="en-US" sz="1200" dirty="0"/>
          </a:p>
        </p:txBody>
      </p:sp>
      <p:sp>
        <p:nvSpPr>
          <p:cNvPr id="45" name="Text 39"/>
          <p:cNvSpPr txBox="1"/>
          <p:nvPr/>
        </p:nvSpPr>
        <p:spPr>
          <a:xfrm>
            <a:off x="7452360" y="48006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Responsable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Guías y conductores</a:t>
            </a:r>
            <a:endParaRPr lang="en-US" sz="1000" dirty="0"/>
          </a:p>
        </p:txBody>
      </p:sp>
      <p:sp>
        <p:nvSpPr>
          <p:cNvPr id="46" name="Etapa 5"/>
          <p:cNvSpPr/>
          <p:nvPr/>
        </p:nvSpPr>
        <p:spPr>
          <a:xfrm>
            <a:off x="9509760" y="1874520"/>
            <a:ext cx="2103120" cy="77724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9829800" y="18745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ETAPA 5</a:t>
            </a:r>
            <a:endParaRPr lang="en-US" sz="1400" dirty="0"/>
          </a:p>
        </p:txBody>
      </p:sp>
      <p:sp>
        <p:nvSpPr>
          <p:cNvPr id="48" name="Tarjeta"/>
          <p:cNvSpPr/>
          <p:nvPr/>
        </p:nvSpPr>
        <p:spPr>
          <a:xfrm>
            <a:off x="9509760" y="2834640"/>
            <a:ext cx="2103120" cy="274320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9" name="Círculo ícono"/>
          <p:cNvSpPr/>
          <p:nvPr/>
        </p:nvSpPr>
        <p:spPr>
          <a:xfrm>
            <a:off x="9692640" y="2999232"/>
            <a:ext cx="502920" cy="50292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50" name="Image 4" descr="FaHom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8370" y="3124962"/>
            <a:ext cx="251460" cy="251460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9692640" y="361188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Retorno seguro y evaluación</a:t>
            </a:r>
            <a:endParaRPr lang="en-US" sz="1400" dirty="0"/>
          </a:p>
        </p:txBody>
      </p:sp>
      <p:sp>
        <p:nvSpPr>
          <p:cNvPr id="52" name="Text 45"/>
          <p:cNvSpPr txBox="1"/>
          <p:nvPr/>
        </p:nvSpPr>
        <p:spPr>
          <a:xfrm>
            <a:off x="9692640" y="4206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Regreso a Temuco y encuesta de calidad</a:t>
            </a:r>
            <a:endParaRPr lang="en-US" sz="1200" dirty="0"/>
          </a:p>
        </p:txBody>
      </p:sp>
      <p:sp>
        <p:nvSpPr>
          <p:cNvPr id="53" name="Text 46"/>
          <p:cNvSpPr txBox="1"/>
          <p:nvPr/>
        </p:nvSpPr>
        <p:spPr>
          <a:xfrm>
            <a:off x="9692640" y="48006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Responsable</a:t>
            </a:r>
            <a:endParaRPr lang="en-US" sz="100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Terreno · (encuesta*)</a:t>
            </a:r>
            <a:endParaRPr lang="en-US" sz="1000" dirty="0"/>
          </a:p>
        </p:txBody>
      </p:sp>
      <p:sp>
        <p:nvSpPr>
          <p:cNvPr id="54" name="Conector"/>
          <p:cNvSpPr/>
          <p:nvPr/>
        </p:nvSpPr>
        <p:spPr>
          <a:xfrm>
            <a:off x="10287000" y="5577840"/>
            <a:ext cx="0" cy="25603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55" name="Conector"/>
          <p:cNvSpPr/>
          <p:nvPr/>
        </p:nvSpPr>
        <p:spPr>
          <a:xfrm flipH="1">
            <a:off x="1600200" y="5833872"/>
            <a:ext cx="868680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56" name="Conector"/>
          <p:cNvSpPr/>
          <p:nvPr/>
        </p:nvSpPr>
        <p:spPr>
          <a:xfrm flipV="1">
            <a:off x="1600200" y="5577840"/>
            <a:ext cx="0" cy="25603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57" name="Text 50"/>
          <p:cNvSpPr txBox="1"/>
          <p:nvPr/>
        </p:nvSpPr>
        <p:spPr>
          <a:xfrm>
            <a:off x="2926080" y="5669280"/>
            <a:ext cx="6309360" cy="27432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Mejora continua: la encuesta post-evento retroalimenta las próximas salidas</a:t>
            </a:r>
            <a:endParaRPr lang="en-US" sz="1100" dirty="0"/>
          </a:p>
        </p:txBody>
      </p:sp>
      <p:sp>
        <p:nvSpPr>
          <p:cNvPr id="58" name="Fuente"/>
          <p:cNvSpPr txBox="1"/>
          <p:nvPr/>
        </p:nvSpPr>
        <p:spPr>
          <a:xfrm>
            <a:off x="548640" y="614476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bg2"/>
                </a:solidFill>
              </a:rPr>
              <a:t>Fuente: Informe Operativo Sound Travel (2026), secc. 4.1, Figura 2. Responsables deducidos de las secc. 3.1 y 6.1. *El informe no asigna responsable a la encuesta.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4864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Ecosistema de actores turísticos</a:t>
            </a:r>
            <a:endParaRPr lang="en-US" sz="28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INTEGRANTE 3  ·  CRITERIO 2.1.2  ·  IDENTIFICACIÓN DE ACTORES</a:t>
            </a:r>
            <a:endParaRPr lang="en-US" sz="1100" dirty="0"/>
          </a:p>
        </p:txBody>
      </p:sp>
      <p:sp>
        <p:nvSpPr>
          <p:cNvPr id="4" name="Insignia expositor"/>
          <p:cNvSpPr/>
          <p:nvPr/>
        </p:nvSpPr>
        <p:spPr>
          <a:xfrm>
            <a:off x="10104120" y="274320"/>
            <a:ext cx="153619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04120" y="274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chemeClr val="bg1"/>
                </a:solidFill>
              </a:rPr>
              <a:t>INTEGRANTE 3</a:t>
            </a:r>
            <a:endParaRPr lang="en-US" sz="1050" dirty="0"/>
          </a:p>
        </p:txBody>
      </p:sp>
      <p:sp>
        <p:nvSpPr>
          <p:cNvPr id="6" name="Tarjeta"/>
          <p:cNvSpPr/>
          <p:nvPr/>
        </p:nvSpPr>
        <p:spPr>
          <a:xfrm>
            <a:off x="548640" y="1463040"/>
            <a:ext cx="3566160" cy="1810512"/>
          </a:xfrm>
          <a:prstGeom prst="roundRect">
            <a:avLst>
              <a:gd name="adj" fmla="val 6061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Círculo ícono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FaShuttleV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600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Transporte terrestre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30428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Empresas locales de minibuses y vans (15–30 pax) y sus conductores</a:t>
            </a:r>
            <a:endParaRPr lang="en-US" sz="1200" dirty="0"/>
          </a:p>
        </p:txBody>
      </p:sp>
      <p:sp>
        <p:nvSpPr>
          <p:cNvPr id="11" name="Etiqueta"/>
          <p:cNvSpPr/>
          <p:nvPr/>
        </p:nvSpPr>
        <p:spPr>
          <a:xfrm>
            <a:off x="731520" y="288036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6"/>
                </a:solidFill>
              </a:rPr>
              <a:t>PROVEEDOR PRIVADO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2286000" y="2880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Contratación B2B</a:t>
            </a:r>
            <a:endParaRPr lang="en-US" sz="1100" dirty="0"/>
          </a:p>
        </p:txBody>
      </p:sp>
      <p:sp>
        <p:nvSpPr>
          <p:cNvPr id="14" name="Tarjeta"/>
          <p:cNvSpPr/>
          <p:nvPr/>
        </p:nvSpPr>
        <p:spPr>
          <a:xfrm>
            <a:off x="4270248" y="1463040"/>
            <a:ext cx="3566160" cy="1810512"/>
          </a:xfrm>
          <a:prstGeom prst="roundRect">
            <a:avLst>
              <a:gd name="adj" fmla="val 6061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Círculo ícono"/>
          <p:cNvSpPr/>
          <p:nvPr/>
        </p:nvSpPr>
        <p:spPr>
          <a:xfrm>
            <a:off x="4453128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1" descr="FaTicket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78308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138928" y="1600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Ticketeras y productoras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453128" y="230428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Emiten y validan entradas oficiales; informan apertura de puertas</a:t>
            </a:r>
            <a:endParaRPr lang="en-US" sz="1200" dirty="0"/>
          </a:p>
        </p:txBody>
      </p:sp>
      <p:sp>
        <p:nvSpPr>
          <p:cNvPr id="19" name="Etiqueta"/>
          <p:cNvSpPr/>
          <p:nvPr/>
        </p:nvSpPr>
        <p:spPr>
          <a:xfrm>
            <a:off x="4453128" y="288036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453128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6"/>
                </a:solidFill>
              </a:rPr>
              <a:t>ALIADO COMERCIAL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6007608" y="2880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Alianza comercial</a:t>
            </a:r>
            <a:endParaRPr lang="en-US" sz="1100" dirty="0"/>
          </a:p>
        </p:txBody>
      </p:sp>
      <p:sp>
        <p:nvSpPr>
          <p:cNvPr id="22" name="Tarjeta"/>
          <p:cNvSpPr/>
          <p:nvPr/>
        </p:nvSpPr>
        <p:spPr>
          <a:xfrm>
            <a:off x="7991856" y="1463040"/>
            <a:ext cx="3566160" cy="1810512"/>
          </a:xfrm>
          <a:prstGeom prst="roundRect">
            <a:avLst>
              <a:gd name="adj" fmla="val 6061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Círculo ícono"/>
          <p:cNvSpPr/>
          <p:nvPr/>
        </p:nvSpPr>
        <p:spPr>
          <a:xfrm>
            <a:off x="8174736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mage 2" descr="FaUtensil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896" y="178308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860536" y="1600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Locales gastronómicos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174736" y="230428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Restaurantes y cafeterías de Temuco y zona lacustre</a:t>
            </a:r>
            <a:endParaRPr lang="en-US" sz="1200" dirty="0"/>
          </a:p>
        </p:txBody>
      </p:sp>
      <p:sp>
        <p:nvSpPr>
          <p:cNvPr id="27" name="Etiqueta"/>
          <p:cNvSpPr/>
          <p:nvPr/>
        </p:nvSpPr>
        <p:spPr>
          <a:xfrm>
            <a:off x="8174736" y="288036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8174736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6"/>
                </a:solidFill>
              </a:rPr>
              <a:t>PROVEEDOR PRIVADO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9729216" y="2880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Convenio de alimentación</a:t>
            </a:r>
            <a:endParaRPr lang="en-US" sz="1100" dirty="0"/>
          </a:p>
        </p:txBody>
      </p:sp>
      <p:sp>
        <p:nvSpPr>
          <p:cNvPr id="30" name="Tarjeta"/>
          <p:cNvSpPr/>
          <p:nvPr/>
        </p:nvSpPr>
        <p:spPr>
          <a:xfrm>
            <a:off x="548640" y="3429000"/>
            <a:ext cx="3566160" cy="1810512"/>
          </a:xfrm>
          <a:prstGeom prst="roundRect">
            <a:avLst>
              <a:gd name="adj" fmla="val 6061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Círculo ícono"/>
          <p:cNvSpPr/>
          <p:nvPr/>
        </p:nvSpPr>
        <p:spPr>
          <a:xfrm>
            <a:off x="731520" y="36118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2" name="Image 3" descr="FaLandmar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49040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417320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Municipalidad de Temuco y SERNATUR Araucanía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731520" y="427024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Permisos de parada, información de cierres y difusión oficial</a:t>
            </a:r>
            <a:endParaRPr lang="en-US" sz="1200" dirty="0"/>
          </a:p>
        </p:txBody>
      </p:sp>
      <p:sp>
        <p:nvSpPr>
          <p:cNvPr id="35" name="Etiqueta"/>
          <p:cNvSpPr/>
          <p:nvPr/>
        </p:nvSpPr>
        <p:spPr>
          <a:xfrm>
            <a:off x="731520" y="48463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731520" y="4846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6"/>
                </a:solidFill>
              </a:rPr>
              <a:t>ACTOR PÚBLICO</a:t>
            </a:r>
            <a:endParaRPr lang="en-US" sz="950" dirty="0"/>
          </a:p>
        </p:txBody>
      </p:sp>
      <p:sp>
        <p:nvSpPr>
          <p:cNvPr id="37" name="Text 31"/>
          <p:cNvSpPr txBox="1"/>
          <p:nvPr/>
        </p:nvSpPr>
        <p:spPr>
          <a:xfrm>
            <a:off x="2286000" y="4846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Coordinación institucional</a:t>
            </a:r>
            <a:endParaRPr lang="en-US" sz="1100" dirty="0"/>
          </a:p>
        </p:txBody>
      </p:sp>
      <p:sp>
        <p:nvSpPr>
          <p:cNvPr id="38" name="Tarjeta"/>
          <p:cNvSpPr/>
          <p:nvPr/>
        </p:nvSpPr>
        <p:spPr>
          <a:xfrm>
            <a:off x="4270248" y="3429000"/>
            <a:ext cx="3566160" cy="1810512"/>
          </a:xfrm>
          <a:prstGeom prst="roundRect">
            <a:avLst>
              <a:gd name="adj" fmla="val 6061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Círculo ícono"/>
          <p:cNvSpPr/>
          <p:nvPr/>
        </p:nvSpPr>
        <p:spPr>
          <a:xfrm>
            <a:off x="4453128" y="36118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0" name="Image 4" descr="FaShieldAl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3749040"/>
            <a:ext cx="274320" cy="274320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5138928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Seguridad municipal y Carabineros</a:t>
            </a:r>
            <a:endParaRPr lang="en-US" sz="1400" dirty="0"/>
          </a:p>
        </p:txBody>
      </p:sp>
      <p:sp>
        <p:nvSpPr>
          <p:cNvPr id="42" name="Text 35"/>
          <p:cNvSpPr txBox="1"/>
          <p:nvPr/>
        </p:nvSpPr>
        <p:spPr>
          <a:xfrm>
            <a:off x="4453128" y="427024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Resguardo en zonas de embarque nocturno y vías de evacuación</a:t>
            </a:r>
            <a:endParaRPr lang="en-US" sz="1200" dirty="0"/>
          </a:p>
        </p:txBody>
      </p:sp>
      <p:sp>
        <p:nvSpPr>
          <p:cNvPr id="43" name="Etiqueta"/>
          <p:cNvSpPr/>
          <p:nvPr/>
        </p:nvSpPr>
        <p:spPr>
          <a:xfrm>
            <a:off x="4453128" y="48463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4453128" y="4846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6"/>
                </a:solidFill>
              </a:rPr>
              <a:t>ACTOR PÚBLICO</a:t>
            </a:r>
            <a:endParaRPr lang="en-US" sz="950" dirty="0"/>
          </a:p>
        </p:txBody>
      </p:sp>
      <p:sp>
        <p:nvSpPr>
          <p:cNvPr id="45" name="Text 38"/>
          <p:cNvSpPr txBox="1"/>
          <p:nvPr/>
        </p:nvSpPr>
        <p:spPr>
          <a:xfrm>
            <a:off x="6007608" y="4846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Coordinación e información</a:t>
            </a:r>
            <a:endParaRPr lang="en-US" sz="1100" dirty="0"/>
          </a:p>
        </p:txBody>
      </p:sp>
      <p:sp>
        <p:nvSpPr>
          <p:cNvPr id="46" name="Tarjeta"/>
          <p:cNvSpPr/>
          <p:nvPr/>
        </p:nvSpPr>
        <p:spPr>
          <a:xfrm>
            <a:off x="7991856" y="3429000"/>
            <a:ext cx="3566160" cy="1810512"/>
          </a:xfrm>
          <a:prstGeom prst="roundRect">
            <a:avLst>
              <a:gd name="adj" fmla="val 6061"/>
            </a:avLst>
          </a:prstGeom>
          <a:solidFill>
            <a:srgbClr val="1C2447"/>
          </a:solidFill>
          <a:ln w="952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7" name="Círculo ícono"/>
          <p:cNvSpPr/>
          <p:nvPr/>
        </p:nvSpPr>
        <p:spPr>
          <a:xfrm>
            <a:off x="8174736" y="3611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8" name="Image 5" descr="FaUser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1896" y="3749040"/>
            <a:ext cx="274320" cy="274320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8860536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Clientes / asistentes</a:t>
            </a:r>
            <a:endParaRPr lang="en-US" sz="1400" dirty="0"/>
          </a:p>
        </p:txBody>
      </p:sp>
      <p:sp>
        <p:nvSpPr>
          <p:cNvPr id="50" name="Text 42"/>
          <p:cNvSpPr txBox="1"/>
          <p:nvPr/>
        </p:nvSpPr>
        <p:spPr>
          <a:xfrm>
            <a:off x="8174736" y="427024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Compran el pack, respetan horarios y normas de convivencia</a:t>
            </a:r>
            <a:endParaRPr lang="en-US" sz="1200" dirty="0"/>
          </a:p>
        </p:txBody>
      </p:sp>
      <p:sp>
        <p:nvSpPr>
          <p:cNvPr id="51" name="Etiqueta"/>
          <p:cNvSpPr/>
          <p:nvPr/>
        </p:nvSpPr>
        <p:spPr>
          <a:xfrm>
            <a:off x="8174736" y="48463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sp>
        <p:nvSpPr>
          <p:cNvPr id="52" name="Text 44"/>
          <p:cNvSpPr txBox="1"/>
          <p:nvPr/>
        </p:nvSpPr>
        <p:spPr>
          <a:xfrm>
            <a:off x="8174736" y="4846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6"/>
                </a:solidFill>
              </a:rPr>
              <a:t>DEMANDA</a:t>
            </a:r>
            <a:endParaRPr lang="en-US" sz="950" dirty="0"/>
          </a:p>
        </p:txBody>
      </p:sp>
      <p:sp>
        <p:nvSpPr>
          <p:cNvPr id="53" name="Text 45"/>
          <p:cNvSpPr txBox="1"/>
          <p:nvPr/>
        </p:nvSpPr>
        <p:spPr>
          <a:xfrm>
            <a:off x="9729216" y="4846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Compra directa B2C</a:t>
            </a:r>
            <a:endParaRPr lang="en-US" sz="1100" dirty="0"/>
          </a:p>
        </p:txBody>
      </p:sp>
      <p:sp>
        <p:nvSpPr>
          <p:cNvPr id="54" name="Text 46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chemeClr val="accent4"/>
                </a:solidFill>
              </a:rPr>
              <a:t>Alojamiento y seguros adicionales no forman parte del servicio descrito en el informe (salidas de día). Para viajes a Santiago o Concepción quedan por definir.</a:t>
            </a:r>
            <a:endParaRPr lang="en-US" sz="1150" dirty="0"/>
          </a:p>
        </p:txBody>
      </p:sp>
      <p:sp>
        <p:nvSpPr>
          <p:cNvPr id="55" name="Fuente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bg2"/>
                </a:solidFill>
              </a:rPr>
              <a:t>Fuente: Informe Operativo Sound Travel (2026), secc. 4 y 5.1.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4864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relaciones funcionales</a:t>
            </a:r>
            <a:endParaRPr lang="en-US" sz="28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INTEGRANTE 3  ·  CRITERIO 2.1.2  ·  TIPO DE VÍNCULO ENTRE SOUND TRAVEL Y CADA ACTOR</a:t>
            </a:r>
            <a:endParaRPr lang="en-US" sz="1100" dirty="0"/>
          </a:p>
        </p:txBody>
      </p:sp>
      <p:sp>
        <p:nvSpPr>
          <p:cNvPr id="4" name="Insignia expositor"/>
          <p:cNvSpPr/>
          <p:nvPr/>
        </p:nvSpPr>
        <p:spPr>
          <a:xfrm>
            <a:off x="10104120" y="274320"/>
            <a:ext cx="153619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04120" y="274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chemeClr val="bg1"/>
                </a:solidFill>
              </a:rPr>
              <a:t>INTEGRANTE 3</a:t>
            </a:r>
            <a:endParaRPr lang="en-US" sz="1050" dirty="0"/>
          </a:p>
        </p:txBody>
      </p:sp>
      <p:sp>
        <p:nvSpPr>
          <p:cNvPr id="6" name="Conector"/>
          <p:cNvSpPr/>
          <p:nvPr/>
        </p:nvSpPr>
        <p:spPr>
          <a:xfrm flipH="1" flipV="1">
            <a:off x="2125980" y="2354580"/>
            <a:ext cx="3968496" cy="116586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7" name="Conector"/>
          <p:cNvSpPr/>
          <p:nvPr/>
        </p:nvSpPr>
        <p:spPr>
          <a:xfrm flipV="1">
            <a:off x="6094476" y="2354580"/>
            <a:ext cx="4078224" cy="116586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8" name="Conector"/>
          <p:cNvSpPr/>
          <p:nvPr/>
        </p:nvSpPr>
        <p:spPr>
          <a:xfrm flipH="1">
            <a:off x="2125980" y="3520440"/>
            <a:ext cx="3968496" cy="139446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9" name="Conector"/>
          <p:cNvSpPr/>
          <p:nvPr/>
        </p:nvSpPr>
        <p:spPr>
          <a:xfrm>
            <a:off x="6094476" y="3520440"/>
            <a:ext cx="4078224" cy="139446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dash"/>
            <a:headEnd type="triangle"/>
            <a:tailEnd type="triangle"/>
          </a:ln>
        </p:spPr>
      </p:sp>
      <p:sp>
        <p:nvSpPr>
          <p:cNvPr id="10" name="Conector"/>
          <p:cNvSpPr/>
          <p:nvPr/>
        </p:nvSpPr>
        <p:spPr>
          <a:xfrm flipV="1">
            <a:off x="6094476" y="1714500"/>
            <a:ext cx="9144" cy="180594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dash"/>
            <a:headEnd type="triangle"/>
            <a:tailEnd type="triangle"/>
          </a:ln>
        </p:spPr>
      </p:sp>
      <p:sp>
        <p:nvSpPr>
          <p:cNvPr id="11" name="Conector"/>
          <p:cNvSpPr/>
          <p:nvPr/>
        </p:nvSpPr>
        <p:spPr>
          <a:xfrm>
            <a:off x="6094476" y="3520440"/>
            <a:ext cx="9144" cy="189738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12" name="Etiqueta relación"/>
          <p:cNvSpPr/>
          <p:nvPr/>
        </p:nvSpPr>
        <p:spPr>
          <a:xfrm>
            <a:off x="3218688" y="2791206"/>
            <a:ext cx="178308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18688" y="279120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Contratación B2B</a:t>
            </a:r>
            <a:endParaRPr lang="en-US" sz="1000" dirty="0"/>
          </a:p>
        </p:txBody>
      </p:sp>
      <p:sp>
        <p:nvSpPr>
          <p:cNvPr id="14" name="Etiqueta relación"/>
          <p:cNvSpPr/>
          <p:nvPr/>
        </p:nvSpPr>
        <p:spPr>
          <a:xfrm>
            <a:off x="7242048" y="2791206"/>
            <a:ext cx="178308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42048" y="279120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Alianza comercial</a:t>
            </a:r>
            <a:endParaRPr lang="en-US" sz="1000" dirty="0"/>
          </a:p>
        </p:txBody>
      </p:sp>
      <p:sp>
        <p:nvSpPr>
          <p:cNvPr id="16" name="Etiqueta relación"/>
          <p:cNvSpPr/>
          <p:nvPr/>
        </p:nvSpPr>
        <p:spPr>
          <a:xfrm>
            <a:off x="3218688" y="4071366"/>
            <a:ext cx="178308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18688" y="407136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Convenio de alimentación</a:t>
            </a:r>
            <a:endParaRPr lang="en-US" sz="1000" dirty="0"/>
          </a:p>
        </p:txBody>
      </p:sp>
      <p:sp>
        <p:nvSpPr>
          <p:cNvPr id="18" name="Etiqueta relación"/>
          <p:cNvSpPr/>
          <p:nvPr/>
        </p:nvSpPr>
        <p:spPr>
          <a:xfrm>
            <a:off x="7242048" y="4071366"/>
            <a:ext cx="178308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42048" y="407136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Coordinación institucional</a:t>
            </a:r>
            <a:endParaRPr lang="en-US" sz="1000" dirty="0"/>
          </a:p>
        </p:txBody>
      </p:sp>
      <p:sp>
        <p:nvSpPr>
          <p:cNvPr id="20" name="Etiqueta relación"/>
          <p:cNvSpPr/>
          <p:nvPr/>
        </p:nvSpPr>
        <p:spPr>
          <a:xfrm>
            <a:off x="5207508" y="2471166"/>
            <a:ext cx="178308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07508" y="247116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Información y resguardo</a:t>
            </a:r>
            <a:endParaRPr lang="en-US" sz="1000" dirty="0"/>
          </a:p>
        </p:txBody>
      </p:sp>
      <p:sp>
        <p:nvSpPr>
          <p:cNvPr id="22" name="Etiqueta relación"/>
          <p:cNvSpPr/>
          <p:nvPr/>
        </p:nvSpPr>
        <p:spPr>
          <a:xfrm>
            <a:off x="5207508" y="4322826"/>
            <a:ext cx="178308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07508" y="432282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Compra + información</a:t>
            </a:r>
            <a:endParaRPr lang="en-US" sz="1000" dirty="0"/>
          </a:p>
        </p:txBody>
      </p:sp>
      <p:sp>
        <p:nvSpPr>
          <p:cNvPr id="24" name="Tarjeta"/>
          <p:cNvSpPr/>
          <p:nvPr/>
        </p:nvSpPr>
        <p:spPr>
          <a:xfrm>
            <a:off x="1143000" y="1965960"/>
            <a:ext cx="19659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Círculo ícono"/>
          <p:cNvSpPr/>
          <p:nvPr/>
        </p:nvSpPr>
        <p:spPr>
          <a:xfrm>
            <a:off x="1252728" y="2121408"/>
            <a:ext cx="457200" cy="45720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26" name="Image 0" descr="FaShuttleV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7028" y="2235708"/>
            <a:ext cx="228600" cy="22860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764792" y="19659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Transporte terrestre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Minibuses y conductores</a:t>
            </a:r>
            <a:endParaRPr lang="en-US" sz="1150" dirty="0"/>
          </a:p>
        </p:txBody>
      </p:sp>
      <p:sp>
        <p:nvSpPr>
          <p:cNvPr id="28" name="Tarjeta"/>
          <p:cNvSpPr/>
          <p:nvPr/>
        </p:nvSpPr>
        <p:spPr>
          <a:xfrm>
            <a:off x="9189720" y="1965960"/>
            <a:ext cx="19659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Círculo ícono"/>
          <p:cNvSpPr/>
          <p:nvPr/>
        </p:nvSpPr>
        <p:spPr>
          <a:xfrm>
            <a:off x="9299448" y="2121408"/>
            <a:ext cx="457200" cy="45720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30" name="Image 1" descr="FaTicket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3748" y="2235708"/>
            <a:ext cx="228600" cy="22860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9811512" y="19659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Ticketeras y productoras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Entradas oficiales</a:t>
            </a:r>
            <a:endParaRPr lang="en-US" sz="1150" dirty="0"/>
          </a:p>
        </p:txBody>
      </p:sp>
      <p:sp>
        <p:nvSpPr>
          <p:cNvPr id="32" name="Tarjeta"/>
          <p:cNvSpPr/>
          <p:nvPr/>
        </p:nvSpPr>
        <p:spPr>
          <a:xfrm>
            <a:off x="1143000" y="4526280"/>
            <a:ext cx="19659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Círculo ícono"/>
          <p:cNvSpPr/>
          <p:nvPr/>
        </p:nvSpPr>
        <p:spPr>
          <a:xfrm>
            <a:off x="1252728" y="4681728"/>
            <a:ext cx="457200" cy="45720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34" name="Image 2" descr="FaUtensil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" y="4796028"/>
            <a:ext cx="228600" cy="22860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1764792" y="45262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Locales gastronómicos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En ruta / sunset</a:t>
            </a:r>
            <a:endParaRPr lang="en-US" sz="1150" dirty="0"/>
          </a:p>
        </p:txBody>
      </p:sp>
      <p:sp>
        <p:nvSpPr>
          <p:cNvPr id="36" name="Tarjeta"/>
          <p:cNvSpPr/>
          <p:nvPr/>
        </p:nvSpPr>
        <p:spPr>
          <a:xfrm>
            <a:off x="9189720" y="4526280"/>
            <a:ext cx="19659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Círculo ícono"/>
          <p:cNvSpPr/>
          <p:nvPr/>
        </p:nvSpPr>
        <p:spPr>
          <a:xfrm>
            <a:off x="9299448" y="4681728"/>
            <a:ext cx="457200" cy="45720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38" name="Image 3" descr="FaLandmar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3748" y="4796028"/>
            <a:ext cx="228600" cy="228600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9811512" y="45262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Municipio / SERNATUR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Permisos y difusión</a:t>
            </a:r>
            <a:endParaRPr lang="en-US" sz="1150" dirty="0"/>
          </a:p>
        </p:txBody>
      </p:sp>
      <p:sp>
        <p:nvSpPr>
          <p:cNvPr id="40" name="Tarjeta"/>
          <p:cNvSpPr/>
          <p:nvPr/>
        </p:nvSpPr>
        <p:spPr>
          <a:xfrm>
            <a:off x="5120640" y="1325880"/>
            <a:ext cx="19659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Círculo ícono"/>
          <p:cNvSpPr/>
          <p:nvPr/>
        </p:nvSpPr>
        <p:spPr>
          <a:xfrm>
            <a:off x="5230368" y="1481328"/>
            <a:ext cx="457200" cy="45720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42" name="Image 4" descr="FaShieldAl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4668" y="1595628"/>
            <a:ext cx="228600" cy="228600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5742432" y="132588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Seguridad local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Seg. municipal · Carabineros</a:t>
            </a:r>
            <a:endParaRPr lang="en-US" sz="1150" dirty="0"/>
          </a:p>
        </p:txBody>
      </p:sp>
      <p:sp>
        <p:nvSpPr>
          <p:cNvPr id="44" name="Tarjeta"/>
          <p:cNvSpPr/>
          <p:nvPr/>
        </p:nvSpPr>
        <p:spPr>
          <a:xfrm>
            <a:off x="5120640" y="5029200"/>
            <a:ext cx="19659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5" name="Círculo ícono"/>
          <p:cNvSpPr/>
          <p:nvPr/>
        </p:nvSpPr>
        <p:spPr>
          <a:xfrm>
            <a:off x="5230368" y="5184648"/>
            <a:ext cx="457200" cy="45720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46" name="Image 5" descr="FaUser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4668" y="5298948"/>
            <a:ext cx="228600" cy="228600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5742432" y="50292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Clientes / asistentes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Venta directa B2C</a:t>
            </a:r>
            <a:endParaRPr lang="en-US" sz="1150" dirty="0"/>
          </a:p>
        </p:txBody>
      </p:sp>
      <p:sp>
        <p:nvSpPr>
          <p:cNvPr id="48" name="Sound Travel centro"/>
          <p:cNvSpPr/>
          <p:nvPr/>
        </p:nvSpPr>
        <p:spPr>
          <a:xfrm>
            <a:off x="5134356" y="2834640"/>
            <a:ext cx="1920240" cy="13716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9" name="Text 41"/>
          <p:cNvSpPr txBox="1"/>
          <p:nvPr/>
        </p:nvSpPr>
        <p:spPr>
          <a:xfrm>
            <a:off x="5134356" y="283464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SOUND TRAVEL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Coordinador central del servicio</a:t>
            </a:r>
            <a:endParaRPr lang="en-US" sz="1400" dirty="0"/>
          </a:p>
        </p:txBody>
      </p:sp>
      <p:sp>
        <p:nvSpPr>
          <p:cNvPr id="50" name="Shape 42"/>
          <p:cNvSpPr/>
          <p:nvPr/>
        </p:nvSpPr>
        <p:spPr>
          <a:xfrm>
            <a:off x="548640" y="6053328"/>
            <a:ext cx="45720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1097280" y="5943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Relación contractual o comercial</a:t>
            </a:r>
            <a:endParaRPr lang="en-US" sz="1050" dirty="0"/>
          </a:p>
        </p:txBody>
      </p:sp>
      <p:sp>
        <p:nvSpPr>
          <p:cNvPr id="52" name="Shape 44"/>
          <p:cNvSpPr/>
          <p:nvPr/>
        </p:nvSpPr>
        <p:spPr>
          <a:xfrm>
            <a:off x="3840480" y="6053328"/>
            <a:ext cx="45720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dash"/>
          </a:ln>
        </p:spPr>
      </p:sp>
      <p:sp>
        <p:nvSpPr>
          <p:cNvPr id="53" name="Text 45"/>
          <p:cNvSpPr txBox="1"/>
          <p:nvPr/>
        </p:nvSpPr>
        <p:spPr>
          <a:xfrm>
            <a:off x="4389120" y="5943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Coordinación institucional y flujo de información</a:t>
            </a:r>
            <a:endParaRPr lang="en-US" sz="1050" dirty="0"/>
          </a:p>
        </p:txBody>
      </p:sp>
      <p:sp>
        <p:nvSpPr>
          <p:cNvPr id="54" name="Text 46"/>
          <p:cNvSpPr txBox="1"/>
          <p:nvPr/>
        </p:nvSpPr>
        <p:spPr>
          <a:xfrm>
            <a:off x="8046720" y="59436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bg2"/>
                </a:solidFill>
              </a:rPr>
              <a:t>Flechas dobles: la información circula en ambos sentidos</a:t>
            </a:r>
            <a:endParaRPr lang="en-US" sz="1050" dirty="0"/>
          </a:p>
        </p:txBody>
      </p:sp>
      <p:sp>
        <p:nvSpPr>
          <p:cNvPr id="55" name="Fuente"/>
          <p:cNvSpPr txBox="1"/>
          <p:nvPr/>
        </p:nvSpPr>
        <p:spPr>
          <a:xfrm>
            <a:off x="548640" y="626364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bg2"/>
                </a:solidFill>
              </a:rPr>
              <a:t>Fuente: Informe Operativo Sound Travel (2026), secc. 5, Figura 3. Seguridad local se muestra por separado para mayor claridad.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4864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Responsabilidades de los proveedores</a:t>
            </a:r>
            <a:endParaRPr lang="en-US" sz="28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INTEGRANTE 3  ·  CRITERIO 2.1.2  ·  QUÉ APORTA Y QUÉ RECIBE CADA PROVEEDOR</a:t>
            </a:r>
            <a:endParaRPr lang="en-US" sz="1100" dirty="0"/>
          </a:p>
        </p:txBody>
      </p:sp>
      <p:sp>
        <p:nvSpPr>
          <p:cNvPr id="4" name="Insignia expositor"/>
          <p:cNvSpPr/>
          <p:nvPr/>
        </p:nvSpPr>
        <p:spPr>
          <a:xfrm>
            <a:off x="10104120" y="274320"/>
            <a:ext cx="153619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04120" y="274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chemeClr val="bg1"/>
                </a:solidFill>
              </a:rPr>
              <a:t>INTEGRANTE 3</a:t>
            </a:r>
            <a:endParaRPr lang="en-US" sz="1050" dirty="0"/>
          </a:p>
        </p:txBody>
      </p:sp>
      <p:sp>
        <p:nvSpPr>
          <p:cNvPr id="6" name="Tarjeta"/>
          <p:cNvSpPr/>
          <p:nvPr/>
        </p:nvSpPr>
        <p:spPr>
          <a:xfrm>
            <a:off x="548640" y="146304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Círculo ícono"/>
          <p:cNvSpPr/>
          <p:nvPr/>
        </p:nvSpPr>
        <p:spPr>
          <a:xfrm>
            <a:off x="749808" y="16459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FaShuttleV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8765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16002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Transporte terrestre</a:t>
            </a:r>
            <a:endParaRPr lang="en-US" sz="150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Contratación de servicio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4231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6"/>
                </a:solidFill>
              </a:rPr>
              <a:t>RESPONSABILIDADES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269748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Máquinas limpias y con revisión técnica vigente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Choferes profesionales y descansados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Cumplir horarios de ida y regreso</a:t>
            </a:r>
            <a:endParaRPr lang="en-US" sz="1300" dirty="0"/>
          </a:p>
        </p:txBody>
      </p:sp>
      <p:sp>
        <p:nvSpPr>
          <p:cNvPr id="12" name="Recibe"/>
          <p:cNvSpPr/>
          <p:nvPr/>
        </p:nvSpPr>
        <p:spPr>
          <a:xfrm>
            <a:off x="685800" y="438912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44805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RECIBE DE SOUND TRAVEL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754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Rutas, horarios y nómina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Reserva anticipada y pago en fecha</a:t>
            </a:r>
            <a:endParaRPr lang="en-US" sz="1250" dirty="0"/>
          </a:p>
        </p:txBody>
      </p:sp>
      <p:sp>
        <p:nvSpPr>
          <p:cNvPr id="15" name="Tarjeta"/>
          <p:cNvSpPr/>
          <p:nvPr/>
        </p:nvSpPr>
        <p:spPr>
          <a:xfrm>
            <a:off x="4270248" y="146304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Círculo ícono"/>
          <p:cNvSpPr/>
          <p:nvPr/>
        </p:nvSpPr>
        <p:spPr>
          <a:xfrm>
            <a:off x="4471416" y="16459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1" descr="FaTicket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148" y="1787652"/>
            <a:ext cx="283464" cy="28346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184648" y="16002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Ticketeras y productoras</a:t>
            </a:r>
            <a:endParaRPr lang="en-US" sz="150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Alianza comercial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4471416" y="24231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6"/>
                </a:solidFill>
              </a:rPr>
              <a:t>RESPONSABILIDADES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4471416" y="269748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Emitir y validar códigos QR o entradas físicas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Asegurar bloques de entradas reales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Informar apertura de puertas</a:t>
            </a:r>
            <a:endParaRPr lang="en-US" sz="1300" dirty="0"/>
          </a:p>
        </p:txBody>
      </p:sp>
      <p:sp>
        <p:nvSpPr>
          <p:cNvPr id="21" name="Recibe"/>
          <p:cNvSpPr/>
          <p:nvPr/>
        </p:nvSpPr>
        <p:spPr>
          <a:xfrm>
            <a:off x="4407408" y="438912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544568" y="44805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RECIBE DE SOUND TRAVEL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4544568" y="4754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Nómina de pasajeros con entradas asignadas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Pago en fecha</a:t>
            </a:r>
            <a:endParaRPr lang="en-US" sz="1250" dirty="0"/>
          </a:p>
        </p:txBody>
      </p:sp>
      <p:sp>
        <p:nvSpPr>
          <p:cNvPr id="24" name="Tarjeta"/>
          <p:cNvSpPr/>
          <p:nvPr/>
        </p:nvSpPr>
        <p:spPr>
          <a:xfrm>
            <a:off x="7991856" y="146304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Círculo ícono"/>
          <p:cNvSpPr/>
          <p:nvPr/>
        </p:nvSpPr>
        <p:spPr>
          <a:xfrm>
            <a:off x="8193024" y="16459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2" descr="FaUtensil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756" y="1787652"/>
            <a:ext cx="283464" cy="28346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906256" y="16002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Locales gastronómicos</a:t>
            </a:r>
            <a:endParaRPr lang="en-US" sz="150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Convenio de prestación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8193024" y="24231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6"/>
                </a:solidFill>
              </a:rPr>
              <a:t>RESPONSABILIDADES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8193024" y="269748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Recibir a los grupos antes del concierto o en salidas sunset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Mesas y menús listos para no atrasar el itinerario</a:t>
            </a:r>
            <a:endParaRPr lang="en-US" sz="1300" dirty="0"/>
          </a:p>
        </p:txBody>
      </p:sp>
      <p:sp>
        <p:nvSpPr>
          <p:cNvPr id="30" name="Recibe"/>
          <p:cNvSpPr/>
          <p:nvPr/>
        </p:nvSpPr>
        <p:spPr>
          <a:xfrm>
            <a:off x="8129016" y="438912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8266176" y="44805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</a:rPr>
              <a:t>RECIBE DE SOUND TRAVEL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8266176" y="4754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Horario de llegada y cantidad de pasajeros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Pago de reserva 72–24 h antes</a:t>
            </a:r>
            <a:endParaRPr lang="en-US" sz="1250" dirty="0"/>
          </a:p>
        </p:txBody>
      </p:sp>
      <p:sp>
        <p:nvSpPr>
          <p:cNvPr id="33" name="Fuente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bg2"/>
                </a:solidFill>
              </a:rPr>
              <a:t>Fuente: Informe Operativo Sound Travel (2026), secc. 3.1, 4, 5.1 y 6.1.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4864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Coordinación institucional y comercial</a:t>
            </a:r>
            <a:endParaRPr lang="en-US" sz="28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INTEGRANTE 3  ·  CRITERIO 2.1.2  ·  ALIANZAS, INFORMACIÓN Y CANALES DE VENTA</a:t>
            </a:r>
            <a:endParaRPr lang="en-US" sz="1100" dirty="0"/>
          </a:p>
        </p:txBody>
      </p:sp>
      <p:sp>
        <p:nvSpPr>
          <p:cNvPr id="4" name="Insignia expositor"/>
          <p:cNvSpPr/>
          <p:nvPr/>
        </p:nvSpPr>
        <p:spPr>
          <a:xfrm>
            <a:off x="10104120" y="274320"/>
            <a:ext cx="153619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04120" y="274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chemeClr val="bg1"/>
                </a:solidFill>
              </a:rPr>
              <a:t>INTEGRANTE 3</a:t>
            </a:r>
            <a:endParaRPr lang="en-US" sz="1050" dirty="0"/>
          </a:p>
        </p:txBody>
      </p:sp>
      <p:sp>
        <p:nvSpPr>
          <p:cNvPr id="6" name="Tarjeta"/>
          <p:cNvSpPr/>
          <p:nvPr/>
        </p:nvSpPr>
        <p:spPr>
          <a:xfrm>
            <a:off x="548640" y="1463040"/>
            <a:ext cx="5852160" cy="452628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627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COORDINACIÓN INSTITUCIONAL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385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Municipalidad de Temuco · SERNATUR Araucanía · Seguridad municipal · Carabineros</a:t>
            </a:r>
            <a:endParaRPr lang="en-US" sz="1300" dirty="0"/>
          </a:p>
        </p:txBody>
      </p:sp>
      <p:sp>
        <p:nvSpPr>
          <p:cNvPr id="9" name="Círculo ícono"/>
          <p:cNvSpPr/>
          <p:nvPr/>
        </p:nvSpPr>
        <p:spPr>
          <a:xfrm>
            <a:off x="777240" y="2514600"/>
            <a:ext cx="411480" cy="41148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10" name="Image 0" descr="FaRo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2617470"/>
            <a:ext cx="205740" cy="2057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25880" y="2514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Calles cerradas durante el evento</a:t>
            </a:r>
            <a:endParaRPr lang="en-US" sz="1300" dirty="0"/>
          </a:p>
        </p:txBody>
      </p:sp>
      <p:sp>
        <p:nvSpPr>
          <p:cNvPr id="12" name="Círculo ícono"/>
          <p:cNvSpPr/>
          <p:nvPr/>
        </p:nvSpPr>
        <p:spPr>
          <a:xfrm>
            <a:off x="777240" y="3063240"/>
            <a:ext cx="411480" cy="41148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13" name="Image 1" descr="FaPark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10" y="3166110"/>
            <a:ext cx="205740" cy="2057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25880" y="3063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Dónde se autoriza estacionar buses turísticos</a:t>
            </a:r>
            <a:endParaRPr lang="en-US" sz="1300" dirty="0"/>
          </a:p>
        </p:txBody>
      </p:sp>
      <p:sp>
        <p:nvSpPr>
          <p:cNvPr id="15" name="Círculo ícono"/>
          <p:cNvSpPr/>
          <p:nvPr/>
        </p:nvSpPr>
        <p:spPr>
          <a:xfrm>
            <a:off x="777240" y="3611880"/>
            <a:ext cx="411480" cy="41148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16" name="Image 2" descr="FaDoorOp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3714750"/>
            <a:ext cx="205740" cy="2057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3611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Vías de evacuación y permisos de parada segura</a:t>
            </a:r>
            <a:endParaRPr lang="en-US" sz="1300" dirty="0"/>
          </a:p>
        </p:txBody>
      </p:sp>
      <p:sp>
        <p:nvSpPr>
          <p:cNvPr id="18" name="Círculo ícono"/>
          <p:cNvSpPr/>
          <p:nvPr/>
        </p:nvSpPr>
        <p:spPr>
          <a:xfrm>
            <a:off x="777240" y="4160520"/>
            <a:ext cx="411480" cy="41148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19" name="Image 3" descr="FaShield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" y="4263390"/>
            <a:ext cx="205740" cy="2057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25880" y="4160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Resguardo policial en zonas de embarque nocturno</a:t>
            </a:r>
            <a:endParaRPr lang="en-US" sz="1300" dirty="0"/>
          </a:p>
        </p:txBody>
      </p:sp>
      <p:sp>
        <p:nvSpPr>
          <p:cNvPr id="21" name="Círculo ícono"/>
          <p:cNvSpPr/>
          <p:nvPr/>
        </p:nvSpPr>
        <p:spPr>
          <a:xfrm>
            <a:off x="777240" y="4709160"/>
            <a:ext cx="411480" cy="41148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22" name="Image 4" descr="FaBullhor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" y="4812030"/>
            <a:ext cx="205740" cy="2057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25880" y="47091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Difusión oficial del servicio</a:t>
            </a:r>
            <a:endParaRPr lang="en-US" sz="1300" dirty="0"/>
          </a:p>
        </p:txBody>
      </p:sp>
      <p:sp>
        <p:nvSpPr>
          <p:cNvPr id="24" name="Etiqueta"/>
          <p:cNvSpPr/>
          <p:nvPr/>
        </p:nvSpPr>
        <p:spPr>
          <a:xfrm>
            <a:off x="777240" y="5513832"/>
            <a:ext cx="329184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77240" y="55138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RELACIÓN PROPUESTA · SIN CONVENIOS FIRMADOS</a:t>
            </a:r>
            <a:endParaRPr lang="en-US" sz="950" dirty="0"/>
          </a:p>
        </p:txBody>
      </p:sp>
      <p:sp>
        <p:nvSpPr>
          <p:cNvPr id="26" name="Tarjeta"/>
          <p:cNvSpPr/>
          <p:nvPr/>
        </p:nvSpPr>
        <p:spPr>
          <a:xfrm>
            <a:off x="6583680" y="1463040"/>
            <a:ext cx="5029200" cy="4526280"/>
          </a:xfrm>
          <a:prstGeom prst="roundRect">
            <a:avLst>
              <a:gd name="adj" fmla="val 2424"/>
            </a:avLst>
          </a:prstGeom>
          <a:solidFill>
            <a:srgbClr val="1C2447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0"/>
          <p:cNvSpPr txBox="1"/>
          <p:nvPr/>
        </p:nvSpPr>
        <p:spPr>
          <a:xfrm>
            <a:off x="6812280" y="1627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COMERCIALIZACIÓN · MODELO B2C</a:t>
            </a:r>
            <a:endParaRPr lang="en-US" sz="1200" dirty="0"/>
          </a:p>
        </p:txBody>
      </p:sp>
      <p:sp>
        <p:nvSpPr>
          <p:cNvPr id="28" name="Círculo ícono"/>
          <p:cNvSpPr/>
          <p:nvPr/>
        </p:nvSpPr>
        <p:spPr>
          <a:xfrm>
            <a:off x="7013448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5" descr="FaInstagram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3468" y="2217420"/>
            <a:ext cx="320040" cy="32004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766560" y="276148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Instagram</a:t>
            </a:r>
            <a:endParaRPr lang="en-US" sz="1100" dirty="0"/>
          </a:p>
        </p:txBody>
      </p:sp>
      <p:sp>
        <p:nvSpPr>
          <p:cNvPr id="31" name="Círculo ícono"/>
          <p:cNvSpPr/>
          <p:nvPr/>
        </p:nvSpPr>
        <p:spPr>
          <a:xfrm>
            <a:off x="818388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Image 6" descr="FaTikto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3900" y="2217420"/>
            <a:ext cx="320040" cy="32004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7936992" y="276148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TikTok</a:t>
            </a:r>
            <a:endParaRPr lang="en-US" sz="1100" dirty="0"/>
          </a:p>
        </p:txBody>
      </p:sp>
      <p:sp>
        <p:nvSpPr>
          <p:cNvPr id="34" name="Círculo ícono"/>
          <p:cNvSpPr/>
          <p:nvPr/>
        </p:nvSpPr>
        <p:spPr>
          <a:xfrm>
            <a:off x="9354312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Image 7" descr="FaGlob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14332" y="2217420"/>
            <a:ext cx="320040" cy="32004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9107424" y="276148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Página web</a:t>
            </a:r>
            <a:endParaRPr lang="en-US" sz="1100" dirty="0"/>
          </a:p>
        </p:txBody>
      </p:sp>
      <p:sp>
        <p:nvSpPr>
          <p:cNvPr id="37" name="Círculo ícono"/>
          <p:cNvSpPr/>
          <p:nvPr/>
        </p:nvSpPr>
        <p:spPr>
          <a:xfrm>
            <a:off x="10524744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8" name="Image 8" descr="FaWhatsapp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4764" y="2217420"/>
            <a:ext cx="320040" cy="32004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10277856" y="276148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WhatsApp Business</a:t>
            </a:r>
            <a:endParaRPr lang="en-US" sz="1100" dirty="0"/>
          </a:p>
        </p:txBody>
      </p:sp>
      <p:sp>
        <p:nvSpPr>
          <p:cNvPr id="40" name="Text 29"/>
          <p:cNvSpPr txBox="1"/>
          <p:nvPr/>
        </p:nvSpPr>
        <p:spPr>
          <a:xfrm>
            <a:off x="6812280" y="3337560"/>
            <a:ext cx="4617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Difusión del “Pack Evento” en redes sociales.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Cotización y asesoría de horarios por WhatsApp.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Cierre de venta online y envío de voucher digital.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Bloques de entradas oficiales vía alianza con ticketeras.</a:t>
            </a:r>
            <a:endParaRPr lang="en-US" sz="1350" dirty="0"/>
          </a:p>
        </p:txBody>
      </p:sp>
      <p:sp>
        <p:nvSpPr>
          <p:cNvPr id="41" name="Fuente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bg2"/>
                </a:solidFill>
              </a:rPr>
              <a:t>Fuente: Informe Operativo Sound Travel (2026), secc. 4, 5.1 y 3.2.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4864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Necesidades de la demanda e interdependencia</a:t>
            </a:r>
            <a:endParaRPr lang="en-US" sz="28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INTEGRANTE 3  ·  CRITERIO 2.1.2  ·  SERVICIO DISEÑADO DESDE EL CLIENTE</a:t>
            </a:r>
            <a:endParaRPr lang="en-US" sz="1100" dirty="0"/>
          </a:p>
        </p:txBody>
      </p:sp>
      <p:sp>
        <p:nvSpPr>
          <p:cNvPr id="4" name="Insignia expositor"/>
          <p:cNvSpPr/>
          <p:nvPr/>
        </p:nvSpPr>
        <p:spPr>
          <a:xfrm>
            <a:off x="10104120" y="274320"/>
            <a:ext cx="153619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04120" y="274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chemeClr val="bg1"/>
                </a:solidFill>
              </a:rPr>
              <a:t>INTEGRANTE 3</a:t>
            </a:r>
            <a:endParaRPr lang="en-US" sz="1050" dirty="0"/>
          </a:p>
        </p:txBody>
      </p:sp>
      <p:graphicFrame>
        <p:nvGraphicFramePr>
          <p:cNvPr id="17" name="Tabla demand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754880"/>
                <a:gridCol w="3017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4B5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NECESIDAD DEL CLIENTE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4B5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 DE SOUND TRAVEL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4B5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ACTORES QUE INTERVIENEN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Llegar puntual sin buscar estacionamiento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Traslado ida y vuelta con salida anticipada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Transporte · Jefe de Operaciones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Volver seguro de noche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Reencuentro 30 min tras el show, conteo de pasajeros y pulsera por bus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Guía · Conductor · Seguridad local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 válida, sin estafas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Entradas oficiales incluidas en el pack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Ticketeras y productoras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 sin atrasar el itinerario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Mesas y menús listos en locales asociados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Locales gastronómicos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Estar informado en todo momento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 de WhatsApp del bus y ubicación del guía en tiempo 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Comercial · Guía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224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2"/>
                </a:solidFill>
              </a:rPr>
              <a:t>CADENA DE INTERDEPENDENCIA · si un eslabón falla, el servicio completo se resiente</a:t>
            </a:r>
            <a:endParaRPr lang="en-US" sz="1150" dirty="0"/>
          </a:p>
        </p:txBody>
      </p:sp>
      <p:sp>
        <p:nvSpPr>
          <p:cNvPr id="8" name="Tarjeta"/>
          <p:cNvSpPr/>
          <p:nvPr/>
        </p:nvSpPr>
        <p:spPr>
          <a:xfrm>
            <a:off x="548640" y="4617720"/>
            <a:ext cx="160020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Círculo ícono"/>
          <p:cNvSpPr/>
          <p:nvPr/>
        </p:nvSpPr>
        <p:spPr>
          <a:xfrm>
            <a:off x="1097280" y="4709160"/>
            <a:ext cx="502920" cy="50292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10" name="Image 0" descr="FaTicket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010" y="483489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94360" y="5257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Entrada emitida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194560" y="5074920"/>
            <a:ext cx="201168" cy="274320"/>
          </a:xfrm>
          <a:prstGeom prst="rightArrow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arjeta"/>
          <p:cNvSpPr/>
          <p:nvPr/>
        </p:nvSpPr>
        <p:spPr>
          <a:xfrm>
            <a:off x="2423160" y="4617720"/>
            <a:ext cx="160020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Círculo ícono"/>
          <p:cNvSpPr/>
          <p:nvPr/>
        </p:nvSpPr>
        <p:spPr>
          <a:xfrm>
            <a:off x="2971800" y="4709160"/>
            <a:ext cx="502920" cy="50292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15" name="Image 1" descr="FaShuttleV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530" y="483489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468880" y="5257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Bus a tiempo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069080" y="5074920"/>
            <a:ext cx="201168" cy="274320"/>
          </a:xfrm>
          <a:prstGeom prst="rightArrow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arjeta"/>
          <p:cNvSpPr/>
          <p:nvPr/>
        </p:nvSpPr>
        <p:spPr>
          <a:xfrm>
            <a:off x="4297680" y="4617720"/>
            <a:ext cx="160020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Círculo ícono"/>
          <p:cNvSpPr/>
          <p:nvPr/>
        </p:nvSpPr>
        <p:spPr>
          <a:xfrm>
            <a:off x="4846320" y="4709160"/>
            <a:ext cx="502920" cy="50292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20" name="Image 2" descr="FaUtensil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483489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343400" y="5257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Mesa lista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943600" y="5074920"/>
            <a:ext cx="201168" cy="274320"/>
          </a:xfrm>
          <a:prstGeom prst="rightArrow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arjeta"/>
          <p:cNvSpPr/>
          <p:nvPr/>
        </p:nvSpPr>
        <p:spPr>
          <a:xfrm>
            <a:off x="6172200" y="4617720"/>
            <a:ext cx="160020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Círculo ícono"/>
          <p:cNvSpPr/>
          <p:nvPr/>
        </p:nvSpPr>
        <p:spPr>
          <a:xfrm>
            <a:off x="6720840" y="4709160"/>
            <a:ext cx="502920" cy="50292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25" name="Image 3" descr="FaShield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6570" y="483489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217920" y="5257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Parada segura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7818120" y="5074920"/>
            <a:ext cx="201168" cy="274320"/>
          </a:xfrm>
          <a:prstGeom prst="rightArrow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arjeta"/>
          <p:cNvSpPr/>
          <p:nvPr/>
        </p:nvSpPr>
        <p:spPr>
          <a:xfrm>
            <a:off x="8046720" y="4617720"/>
            <a:ext cx="160020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Círculo ícono"/>
          <p:cNvSpPr/>
          <p:nvPr/>
        </p:nvSpPr>
        <p:spPr>
          <a:xfrm>
            <a:off x="8595360" y="4709160"/>
            <a:ext cx="502920" cy="502920"/>
          </a:xfrm>
          <a:prstGeom prst="ellipse">
            <a:avLst/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pic>
        <p:nvPicPr>
          <p:cNvPr id="30" name="Image 4" descr="FaUserFriend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1090" y="483489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092440" y="5257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Guía reúne al grupo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9692640" y="5074920"/>
            <a:ext cx="201168" cy="274320"/>
          </a:xfrm>
          <a:prstGeom prst="rightArrow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arjeta"/>
          <p:cNvSpPr/>
          <p:nvPr/>
        </p:nvSpPr>
        <p:spPr>
          <a:xfrm>
            <a:off x="9921240" y="4617720"/>
            <a:ext cx="160020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Círculo ícono"/>
          <p:cNvSpPr/>
          <p:nvPr/>
        </p:nvSpPr>
        <p:spPr>
          <a:xfrm>
            <a:off x="10469880" y="4709160"/>
            <a:ext cx="502920" cy="50292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5" name="Image 5" descr="FaSm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5610" y="4834890"/>
            <a:ext cx="251460" cy="25146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9966960" y="5257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Cliente satisfecho</a:t>
            </a:r>
            <a:endParaRPr lang="en-US" sz="1200" dirty="0"/>
          </a:p>
        </p:txBody>
      </p:sp>
      <p:sp>
        <p:nvSpPr>
          <p:cNvPr id="37" name="Fuente"/>
          <p:cNvSpPr txBox="1"/>
          <p:nvPr/>
        </p:nvSpPr>
        <p:spPr>
          <a:xfrm>
            <a:off x="548640" y="603504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bg2"/>
                </a:solidFill>
              </a:rPr>
              <a:t>Fuente: Informe Operativo Sound Travel (2026), secc. 2, 5.1, 6.1 y 7. Cadena: análisis del equipo a partir del informe.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4864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Estándares técnicos y normativos</a:t>
            </a:r>
            <a:endParaRPr lang="en-US" sz="28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INTEGRANTE 4  ·  CRITERIO 2.1.3  ·  CRITERIOS PARA ASIGNAR TAREAS</a:t>
            </a:r>
            <a:endParaRPr lang="en-US" sz="1100" dirty="0"/>
          </a:p>
        </p:txBody>
      </p:sp>
      <p:sp>
        <p:nvSpPr>
          <p:cNvPr id="4" name="Insignia expositor"/>
          <p:cNvSpPr/>
          <p:nvPr/>
        </p:nvSpPr>
        <p:spPr>
          <a:xfrm>
            <a:off x="10104120" y="274320"/>
            <a:ext cx="153619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04120" y="274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chemeClr val="bg1"/>
                </a:solidFill>
              </a:rPr>
              <a:t>INTEGRANTE 4</a:t>
            </a:r>
            <a:endParaRPr lang="en-US" sz="1050" dirty="0"/>
          </a:p>
        </p:txBody>
      </p:sp>
      <p:sp>
        <p:nvSpPr>
          <p:cNvPr id="6" name="Tarjeta"/>
          <p:cNvSpPr/>
          <p:nvPr/>
        </p:nvSpPr>
        <p:spPr>
          <a:xfrm>
            <a:off x="548640" y="1463040"/>
            <a:ext cx="4206240" cy="452628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627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ESTÁNDARES TÉCNICOS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659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Checklist del minibús antes de cada salida (Jefe de Operaciones)</a:t>
            </a:r>
            <a:endParaRPr lang="en-US" sz="13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06040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25603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Neumáticos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900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8720" y="29443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Cinturones de seguridad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7413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32841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Botiquín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58184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88720" y="371246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Calefacción / aire acondicionado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777240" y="4206240"/>
            <a:ext cx="3794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Nómina digital de pasajeros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Control de lista sin papel en el embarque.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Pulsera de color según número de bus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Evita que los asistentes se pierdan al salir de noche.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5029200" y="1481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ESTÁNDARES NORMATIVOS</a:t>
            </a:r>
            <a:endParaRPr lang="en-US" sz="1200" dirty="0"/>
          </a:p>
        </p:txBody>
      </p:sp>
      <p:sp>
        <p:nvSpPr>
          <p:cNvPr id="19" name="Tarjeta"/>
          <p:cNvSpPr/>
          <p:nvPr/>
        </p:nvSpPr>
        <p:spPr>
          <a:xfrm>
            <a:off x="5029200" y="1828800"/>
            <a:ext cx="6583680" cy="841248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</p:spPr>
      </p:sp>
      <p:sp>
        <p:nvSpPr>
          <p:cNvPr id="20" name="Círculo ícono"/>
          <p:cNvSpPr/>
          <p:nvPr/>
        </p:nvSpPr>
        <p:spPr>
          <a:xfrm>
            <a:off x="5193792" y="199339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4" descr="FaRegIdBadg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9522" y="2119122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852160" y="1865376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Registro Nacional de Prestadores de Servicios Turísticos (SERNATUR)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Ley N° 20.423 (2010), Título VII. Para agencias la inscripción es voluntaria (art. 33); es obligatoria para alojamiento y turismo aventura. Sound Travel se propone inscribirse.</a:t>
            </a:r>
            <a:endParaRPr lang="en-US" sz="1250" dirty="0"/>
          </a:p>
        </p:txBody>
      </p:sp>
      <p:sp>
        <p:nvSpPr>
          <p:cNvPr id="23" name="Tarjeta"/>
          <p:cNvSpPr/>
          <p:nvPr/>
        </p:nvSpPr>
        <p:spPr>
          <a:xfrm>
            <a:off x="5029200" y="2761488"/>
            <a:ext cx="6583680" cy="841248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</p:spPr>
      </p:sp>
      <p:sp>
        <p:nvSpPr>
          <p:cNvPr id="24" name="Círculo ícono"/>
          <p:cNvSpPr/>
          <p:nvPr/>
        </p:nvSpPr>
        <p:spPr>
          <a:xfrm>
            <a:off x="5193792" y="2926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5" descr="FaBu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9522" y="3051810"/>
            <a:ext cx="251460" cy="2514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852160" y="2798064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Transporte privado remunerado de pasajeros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D.S. N° 80 (2004) del MTT: se exige a todas las empresas de minibuses subcontratadas.</a:t>
            </a:r>
            <a:endParaRPr lang="en-US" sz="1250" dirty="0"/>
          </a:p>
        </p:txBody>
      </p:sp>
      <p:sp>
        <p:nvSpPr>
          <p:cNvPr id="27" name="Tarjeta"/>
          <p:cNvSpPr/>
          <p:nvPr/>
        </p:nvSpPr>
        <p:spPr>
          <a:xfrm>
            <a:off x="5029200" y="3694176"/>
            <a:ext cx="6583680" cy="841248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</p:spPr>
      </p:sp>
      <p:sp>
        <p:nvSpPr>
          <p:cNvPr id="28" name="Círculo ícono"/>
          <p:cNvSpPr/>
          <p:nvPr/>
        </p:nvSpPr>
        <p:spPr>
          <a:xfrm>
            <a:off x="5193792" y="385876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6" descr="FaIdCar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9522" y="3984498"/>
            <a:ext cx="251460" cy="25146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852160" y="3730752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Licencia profesional de conductor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Clase A2 (10 a 17 asientos) o A3 (sin límite de asientos), según la Ley N° 18.290 de Tránsito, art. 12.</a:t>
            </a:r>
            <a:endParaRPr lang="en-US" sz="1250" dirty="0"/>
          </a:p>
        </p:txBody>
      </p:sp>
      <p:sp>
        <p:nvSpPr>
          <p:cNvPr id="31" name="Tarjeta"/>
          <p:cNvSpPr/>
          <p:nvPr/>
        </p:nvSpPr>
        <p:spPr>
          <a:xfrm>
            <a:off x="5029200" y="4626864"/>
            <a:ext cx="6583680" cy="841248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</p:spPr>
      </p:sp>
      <p:sp>
        <p:nvSpPr>
          <p:cNvPr id="32" name="Círculo ícono"/>
          <p:cNvSpPr/>
          <p:nvPr/>
        </p:nvSpPr>
        <p:spPr>
          <a:xfrm>
            <a:off x="5193792" y="479145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Image 7" descr="FaShieldAl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19522" y="4917186"/>
            <a:ext cx="251460" cy="25146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5852160" y="4663440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Seguro obligatorio y documentos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SOAP vigente (Ley N° 18.490) y revisión técnica al día.</a:t>
            </a:r>
            <a:endParaRPr lang="en-US" sz="1250" dirty="0"/>
          </a:p>
        </p:txBody>
      </p:sp>
      <p:sp>
        <p:nvSpPr>
          <p:cNvPr id="35" name="Text 25"/>
          <p:cNvSpPr txBox="1"/>
          <p:nvPr/>
        </p:nvSpPr>
        <p:spPr>
          <a:xfrm>
            <a:off x="5029200" y="55778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4"/>
                </a:solidFill>
              </a:rPr>
              <a:t>Ajuste al informe: el registro se regula en el Título VII de la Ley 20.423 (no en el art. 19) y las clases de licencia en la Ley 18.290 (no en el D.S. 80). Revisar texto vigente en bcn.cl.</a:t>
            </a:r>
            <a:endParaRPr lang="en-US" sz="1050" dirty="0"/>
          </a:p>
        </p:txBody>
      </p:sp>
      <p:sp>
        <p:nvSpPr>
          <p:cNvPr id="36" name="Fuente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bg2"/>
                </a:solidFill>
              </a:rPr>
              <a:t>Fuentes: Informe Operativo Sound Travel (2026), secc. 6 · Ley 20.423 · D.S. 80/2004 MTT · Ley 18.290 · Ley 18.490 · SERNATUR, Portal de Servicios Turísticos.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4864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Sustentabilidad y contexto territorial</a:t>
            </a:r>
            <a:endParaRPr lang="en-US" sz="28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INTEGRANTE 4  ·  CRITERIO 2.1.3  ·  OPERAR EN LA ARAUCANÍA</a:t>
            </a:r>
            <a:endParaRPr lang="en-US" sz="1100" dirty="0"/>
          </a:p>
        </p:txBody>
      </p:sp>
      <p:sp>
        <p:nvSpPr>
          <p:cNvPr id="4" name="Insignia expositor"/>
          <p:cNvSpPr/>
          <p:nvPr/>
        </p:nvSpPr>
        <p:spPr>
          <a:xfrm>
            <a:off x="10104120" y="274320"/>
            <a:ext cx="153619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04120" y="274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chemeClr val="bg1"/>
                </a:solidFill>
              </a:rPr>
              <a:t>INTEGRANTE 4</a:t>
            </a:r>
            <a:endParaRPr lang="en-US" sz="1050" dirty="0"/>
          </a:p>
        </p:txBody>
      </p:sp>
      <p:pic>
        <p:nvPicPr>
          <p:cNvPr id="6" name="Image 0" descr="Volcanes y lago al atardecer (imagen referencial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63040"/>
            <a:ext cx="512064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1463040"/>
            <a:ext cx="5120640" cy="4526280"/>
          </a:xfrm>
          <a:prstGeom prst="rect">
            <a:avLst/>
          </a:prstGeom>
          <a:solidFill>
            <a:schemeClr val="tx1">
              <a:alpha val="7000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20840" y="1627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CONTEXTO TERRITORIAL</a:t>
            </a:r>
            <a:endParaRPr lang="en-US" sz="1200" dirty="0"/>
          </a:p>
        </p:txBody>
      </p:sp>
      <p:sp>
        <p:nvSpPr>
          <p:cNvPr id="9" name="Círculo ícono"/>
          <p:cNvSpPr/>
          <p:nvPr/>
        </p:nvSpPr>
        <p:spPr>
          <a:xfrm>
            <a:off x="6720840" y="19659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mage 1" descr="FaCloudR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140" y="208026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0" y="19202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Lluvias repentinas</a:t>
            </a:r>
            <a:endParaRPr lang="en-US" sz="1350" dirty="0"/>
          </a:p>
        </p:txBody>
      </p:sp>
      <p:sp>
        <p:nvSpPr>
          <p:cNvPr id="12" name="Círculo ícono"/>
          <p:cNvSpPr/>
          <p:nvPr/>
        </p:nvSpPr>
        <p:spPr>
          <a:xfrm>
            <a:off x="6720840" y="253288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FaSmo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2647188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0" y="248716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Neblina nocturna en la Ruta 5 Sur</a:t>
            </a:r>
            <a:endParaRPr lang="en-US" sz="1350" dirty="0"/>
          </a:p>
        </p:txBody>
      </p:sp>
      <p:sp>
        <p:nvSpPr>
          <p:cNvPr id="15" name="Círculo ícono"/>
          <p:cNvSpPr/>
          <p:nvPr/>
        </p:nvSpPr>
        <p:spPr>
          <a:xfrm>
            <a:off x="6720840" y="309981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3" descr="FaCarSi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140" y="3214116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315200" y="305409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Alta congestión en la ruta CH-199 (Villarrica–Pucón) en verano</a:t>
            </a:r>
            <a:endParaRPr lang="en-US" sz="1350" dirty="0"/>
          </a:p>
        </p:txBody>
      </p:sp>
      <p:sp>
        <p:nvSpPr>
          <p:cNvPr id="18" name="Medidas"/>
          <p:cNvSpPr/>
          <p:nvPr/>
        </p:nvSpPr>
        <p:spPr>
          <a:xfrm>
            <a:off x="6675120" y="3886200"/>
            <a:ext cx="4754880" cy="1920240"/>
          </a:xfrm>
          <a:prstGeom prst="roundRect">
            <a:avLst>
              <a:gd name="adj" fmla="val 4762"/>
            </a:avLst>
          </a:prstGeom>
          <a:solidFill>
            <a:schemeClr val="tx1">
              <a:alpha val="8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858000" y="3977640"/>
            <a:ext cx="4434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accent2"/>
                </a:solidFill>
              </a:rPr>
              <a:t>Medidas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Puntos de encuentro céntricos, iluminados y seguros: sector Avenida Alemania o Plaza Teodoro Schmidt.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Salida con margen de tiempo para evitar tacos en los accesos al recinto.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SUSTENTABILIDAD</a:t>
            </a:r>
            <a:endParaRPr lang="en-US" sz="1200" dirty="0"/>
          </a:p>
        </p:txBody>
      </p:sp>
      <p:sp>
        <p:nvSpPr>
          <p:cNvPr id="21" name="Tarjeta"/>
          <p:cNvSpPr/>
          <p:nvPr/>
        </p:nvSpPr>
        <p:spPr>
          <a:xfrm>
            <a:off x="548640" y="1828800"/>
            <a:ext cx="57150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Círculo ícono"/>
          <p:cNvSpPr/>
          <p:nvPr/>
        </p:nvSpPr>
        <p:spPr>
          <a:xfrm>
            <a:off x="749808" y="210312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3" name="Image 4" descr="FaRecyc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" y="2263140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00200" y="192024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Regla “Viaje Limpio”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Bolsas de reciclaje a bordo de cada minibús.</a:t>
            </a:r>
            <a:endParaRPr lang="en-US" sz="1450" dirty="0"/>
          </a:p>
        </p:txBody>
      </p:sp>
      <p:sp>
        <p:nvSpPr>
          <p:cNvPr id="25" name="Etiqueta"/>
          <p:cNvSpPr/>
          <p:nvPr/>
        </p:nvSpPr>
        <p:spPr>
          <a:xfrm>
            <a:off x="4892040" y="23042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4892040" y="23042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AMBIENTAL</a:t>
            </a:r>
            <a:endParaRPr lang="en-US" sz="950" dirty="0"/>
          </a:p>
        </p:txBody>
      </p:sp>
      <p:sp>
        <p:nvSpPr>
          <p:cNvPr id="27" name="Tarjeta"/>
          <p:cNvSpPr/>
          <p:nvPr/>
        </p:nvSpPr>
        <p:spPr>
          <a:xfrm>
            <a:off x="548640" y="3200400"/>
            <a:ext cx="57150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Círculo ícono"/>
          <p:cNvSpPr/>
          <p:nvPr/>
        </p:nvSpPr>
        <p:spPr>
          <a:xfrm>
            <a:off x="749808" y="347472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9" name="Image 5" descr="FaMobileAl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" y="3634740"/>
            <a:ext cx="320040" cy="32004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600200" y="329184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Cero papel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Tickets y credenciales digitales en el celular.</a:t>
            </a:r>
            <a:endParaRPr lang="en-US" sz="1450" dirty="0"/>
          </a:p>
        </p:txBody>
      </p:sp>
      <p:sp>
        <p:nvSpPr>
          <p:cNvPr id="31" name="Etiqueta"/>
          <p:cNvSpPr/>
          <p:nvPr/>
        </p:nvSpPr>
        <p:spPr>
          <a:xfrm>
            <a:off x="4892040" y="36758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4892040" y="3675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AMBIENTAL</a:t>
            </a:r>
            <a:endParaRPr lang="en-US" sz="950" dirty="0"/>
          </a:p>
        </p:txBody>
      </p:sp>
      <p:sp>
        <p:nvSpPr>
          <p:cNvPr id="33" name="Tarjeta"/>
          <p:cNvSpPr/>
          <p:nvPr/>
        </p:nvSpPr>
        <p:spPr>
          <a:xfrm>
            <a:off x="548640" y="4572000"/>
            <a:ext cx="571500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Círculo ícono"/>
          <p:cNvSpPr/>
          <p:nvPr/>
        </p:nvSpPr>
        <p:spPr>
          <a:xfrm>
            <a:off x="749808" y="484632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5" name="Image 6" descr="FaStor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" y="5006340"/>
            <a:ext cx="320040" cy="32004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600200" y="466344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Gasto que queda en la región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Convenios con emprendimientos gastronómicos locales de Temuco y zona lacustre.</a:t>
            </a:r>
            <a:endParaRPr lang="en-US" sz="1450" dirty="0"/>
          </a:p>
        </p:txBody>
      </p:sp>
      <p:sp>
        <p:nvSpPr>
          <p:cNvPr id="37" name="Etiqueta"/>
          <p:cNvSpPr/>
          <p:nvPr/>
        </p:nvSpPr>
        <p:spPr>
          <a:xfrm>
            <a:off x="4892040" y="50474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C2447"/>
          </a:solidFill>
          <a:ln w="12700">
            <a:solidFill>
              <a:srgbClr val="1C2447"/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4892040" y="50474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ECONÓMICA</a:t>
            </a:r>
            <a:endParaRPr lang="en-US" sz="950" dirty="0"/>
          </a:p>
        </p:txBody>
      </p:sp>
      <p:sp>
        <p:nvSpPr>
          <p:cNvPr id="39" name="Fuente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bg2"/>
                </a:solidFill>
              </a:rPr>
              <a:t>Fuente: Informe Operativo Sound Travel (2026), secc. 6. Imagen referencial (no corresponde a La Araucanía) · Unsplash.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4864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asignación de tareas y responsables</a:t>
            </a:r>
            <a:endParaRPr lang="en-US" sz="28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INTEGRANTE 4  ·  CRITERIO 2.1.3  ·  QUIÉN HACE QUÉ, CUÁNDO Y CON QUÉ CRITERIO</a:t>
            </a:r>
            <a:endParaRPr lang="en-US" sz="1100" dirty="0"/>
          </a:p>
        </p:txBody>
      </p:sp>
      <p:sp>
        <p:nvSpPr>
          <p:cNvPr id="4" name="Insignia expositor"/>
          <p:cNvSpPr/>
          <p:nvPr/>
        </p:nvSpPr>
        <p:spPr>
          <a:xfrm>
            <a:off x="10104120" y="274320"/>
            <a:ext cx="153619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04120" y="274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chemeClr val="bg1"/>
                </a:solidFill>
              </a:rPr>
              <a:t>INTEGRANTE 4</a:t>
            </a:r>
            <a:endParaRPr lang="en-US" sz="1050" dirty="0"/>
          </a:p>
        </p:txBody>
      </p:sp>
      <p:graphicFrame>
        <p:nvGraphicFramePr>
          <p:cNvPr id="20" name="Matriz de tare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377440"/>
                <a:gridCol w="4846320"/>
                <a:gridCol w="1920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4B5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4B5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4B5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 ASIGNADA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4B5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 APLICADO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Pre-operación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5AD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a 24 h antes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Jefe de Operaciones y Administrativo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Revisión de documentos del minibús y chofer (D.S. 80), pago de reservas al restaurante y cierre de nómina con entradas asignadas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Normativo · Técnico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Embarque e ida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5AD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 del evento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Guía de Terreno y Conductor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Citación en punto seguro de Temuco, lista digital, pulsera identificadora y charla breve de seguridad a bordo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Técnico · Territorial · Sustentable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Durante el evento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Guía de Terreno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Acompañamiento hasta el acceso, coordinación con seguridad municipal y permanencia en punto de asistencia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Territorial · Seguridad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Retorno nocturno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Guía de Terreno y Conductor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Reencuentro 30 min tras el cierre del show, conteo completo de pasajeros y regreso seguro a Temuco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Técnico · Territorial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Post-evento 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5AD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Día siguiente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asignado en el informe (sugerido: Comercial)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Envío de encuesta en Google Forms: puntualidad, trato del guía y comodidad del transporte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 · Mejora continua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559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* Fila complementaria: la etapa 5 del flujo y la encuesta están en el informe (secc. 4.1 y 7), pero no figuran en su matriz de tareas.</a:t>
            </a:r>
            <a:endParaRPr lang="en-US" sz="1100" dirty="0"/>
          </a:p>
        </p:txBody>
      </p:sp>
      <p:sp>
        <p:nvSpPr>
          <p:cNvPr id="8" name="Fuente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bg2"/>
                </a:solidFill>
              </a:rPr>
              <a:t>Fuente: Informe Operativo Sound Travel (2026), secc. 6.1 (matriz original de cuatro etapas) y secc. 7.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4864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y seguimiento: una línea de tiempo</a:t>
            </a:r>
            <a:endParaRPr lang="en-US" sz="28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INTEGRANTE 4  ·  CRITERIO 2.1.3  ·  SEGUIMIENTO DE PROVEEDORES, OPERADORES Y CLIENTES</a:t>
            </a:r>
            <a:endParaRPr lang="en-US" sz="1100" dirty="0"/>
          </a:p>
        </p:txBody>
      </p:sp>
      <p:sp>
        <p:nvSpPr>
          <p:cNvPr id="4" name="Insignia expositor"/>
          <p:cNvSpPr/>
          <p:nvPr/>
        </p:nvSpPr>
        <p:spPr>
          <a:xfrm>
            <a:off x="10104120" y="274320"/>
            <a:ext cx="153619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04120" y="274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chemeClr val="bg1"/>
                </a:solidFill>
              </a:rPr>
              <a:t>INTEGRANTE 4</a:t>
            </a:r>
            <a:endParaRPr lang="en-US" sz="1050" dirty="0"/>
          </a:p>
        </p:txBody>
      </p:sp>
      <p:sp>
        <p:nvSpPr>
          <p:cNvPr id="6" name="Conector"/>
          <p:cNvSpPr/>
          <p:nvPr/>
        </p:nvSpPr>
        <p:spPr>
          <a:xfrm>
            <a:off x="2788920" y="1755648"/>
            <a:ext cx="882396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06624" y="1673352"/>
            <a:ext cx="164592" cy="16459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98648" y="13898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T – 7 DÍAS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01184" y="1673352"/>
            <a:ext cx="164592" cy="16459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93208" y="13898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T – 24 HORAS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95744" y="1673352"/>
            <a:ext cx="164592" cy="16459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87768" y="13898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DÍA DEL EVENTO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10344" y="1673352"/>
            <a:ext cx="164592" cy="16459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02368" y="13898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T + 1 DÍA</a:t>
            </a:r>
            <a:endParaRPr lang="en-US" sz="1100" dirty="0"/>
          </a:p>
        </p:txBody>
      </p:sp>
      <p:sp>
        <p:nvSpPr>
          <p:cNvPr id="15" name="Tarjeta"/>
          <p:cNvSpPr/>
          <p:nvPr/>
        </p:nvSpPr>
        <p:spPr>
          <a:xfrm>
            <a:off x="548640" y="2011680"/>
            <a:ext cx="210312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194560"/>
            <a:ext cx="384048" cy="38404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13232" y="2606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Proveedores</a:t>
            </a: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Jefe de Operaciones</a:t>
            </a:r>
            <a:endParaRPr lang="en-US" sz="1450" dirty="0"/>
          </a:p>
        </p:txBody>
      </p:sp>
      <p:sp>
        <p:nvSpPr>
          <p:cNvPr id="18" name="Tarjeta"/>
          <p:cNvSpPr/>
          <p:nvPr/>
        </p:nvSpPr>
        <p:spPr>
          <a:xfrm>
            <a:off x="2788920" y="2011680"/>
            <a:ext cx="205740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898648" y="2011680"/>
            <a:ext cx="1856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Confirmación formal por correo</a:t>
            </a:r>
            <a:endParaRPr lang="en-US" sz="1200" dirty="0"/>
          </a:p>
        </p:txBody>
      </p:sp>
      <p:sp>
        <p:nvSpPr>
          <p:cNvPr id="20" name="Tarjeta"/>
          <p:cNvSpPr/>
          <p:nvPr/>
        </p:nvSpPr>
        <p:spPr>
          <a:xfrm>
            <a:off x="4983480" y="2011680"/>
            <a:ext cx="205740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93208" y="2011680"/>
            <a:ext cx="1856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Chequeo por WhatsApp Business: patentes, choferes y horarios</a:t>
            </a:r>
            <a:endParaRPr lang="en-US" sz="1200" dirty="0"/>
          </a:p>
        </p:txBody>
      </p:sp>
      <p:sp>
        <p:nvSpPr>
          <p:cNvPr id="22" name="Celda vacía"/>
          <p:cNvSpPr/>
          <p:nvPr/>
        </p:nvSpPr>
        <p:spPr>
          <a:xfrm>
            <a:off x="7178040" y="2011680"/>
            <a:ext cx="2377440" cy="1188720"/>
          </a:xfrm>
          <a:prstGeom prst="roundRect">
            <a:avLst>
              <a:gd name="adj" fmla="val 7692"/>
            </a:avLst>
          </a:prstGeom>
          <a:solidFill>
            <a:schemeClr val="tx2">
              <a:alpha val="40000"/>
            </a:schemeClr>
          </a:solidFill>
          <a:ln w="6350">
            <a:solidFill>
              <a:srgbClr val="2E3766"/>
            </a:solidFill>
            <a:prstDash val="dash"/>
          </a:ln>
        </p:spPr>
      </p:sp>
      <p:sp>
        <p:nvSpPr>
          <p:cNvPr id="23" name="Celda vacía"/>
          <p:cNvSpPr/>
          <p:nvPr/>
        </p:nvSpPr>
        <p:spPr>
          <a:xfrm>
            <a:off x="9692640" y="2011680"/>
            <a:ext cx="1920240" cy="1188720"/>
          </a:xfrm>
          <a:prstGeom prst="roundRect">
            <a:avLst>
              <a:gd name="adj" fmla="val 7692"/>
            </a:avLst>
          </a:prstGeom>
          <a:solidFill>
            <a:schemeClr val="tx2">
              <a:alpha val="40000"/>
            </a:schemeClr>
          </a:solidFill>
          <a:ln w="6350">
            <a:solidFill>
              <a:srgbClr val="2E3766"/>
            </a:solidFill>
            <a:prstDash val="dash"/>
          </a:ln>
        </p:spPr>
      </p:sp>
      <p:sp>
        <p:nvSpPr>
          <p:cNvPr id="24" name="Tarjeta"/>
          <p:cNvSpPr/>
          <p:nvPr/>
        </p:nvSpPr>
        <p:spPr>
          <a:xfrm>
            <a:off x="548640" y="3337560"/>
            <a:ext cx="210312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520440"/>
            <a:ext cx="384048" cy="38404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13232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Operadores</a:t>
            </a: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Equipo interno</a:t>
            </a:r>
            <a:endParaRPr lang="en-US" sz="1450" dirty="0"/>
          </a:p>
        </p:txBody>
      </p:sp>
      <p:sp>
        <p:nvSpPr>
          <p:cNvPr id="27" name="Celda vacía"/>
          <p:cNvSpPr/>
          <p:nvPr/>
        </p:nvSpPr>
        <p:spPr>
          <a:xfrm>
            <a:off x="2788920" y="3337560"/>
            <a:ext cx="2057400" cy="1188720"/>
          </a:xfrm>
          <a:prstGeom prst="roundRect">
            <a:avLst>
              <a:gd name="adj" fmla="val 7692"/>
            </a:avLst>
          </a:prstGeom>
          <a:solidFill>
            <a:schemeClr val="tx2">
              <a:alpha val="40000"/>
            </a:schemeClr>
          </a:solidFill>
          <a:ln w="6350">
            <a:solidFill>
              <a:srgbClr val="2E3766"/>
            </a:solidFill>
            <a:prstDash val="dash"/>
          </a:ln>
        </p:spPr>
      </p:sp>
      <p:sp>
        <p:nvSpPr>
          <p:cNvPr id="28" name="Celda vacía"/>
          <p:cNvSpPr/>
          <p:nvPr/>
        </p:nvSpPr>
        <p:spPr>
          <a:xfrm>
            <a:off x="4983480" y="3337560"/>
            <a:ext cx="2057400" cy="1188720"/>
          </a:xfrm>
          <a:prstGeom prst="roundRect">
            <a:avLst>
              <a:gd name="adj" fmla="val 7692"/>
            </a:avLst>
          </a:prstGeom>
          <a:solidFill>
            <a:schemeClr val="tx2">
              <a:alpha val="40000"/>
            </a:schemeClr>
          </a:solidFill>
          <a:ln w="6350">
            <a:solidFill>
              <a:srgbClr val="2E3766"/>
            </a:solidFill>
            <a:prstDash val="dash"/>
          </a:ln>
        </p:spPr>
      </p:sp>
      <p:sp>
        <p:nvSpPr>
          <p:cNvPr id="29" name="Tarjeta"/>
          <p:cNvSpPr/>
          <p:nvPr/>
        </p:nvSpPr>
        <p:spPr>
          <a:xfrm>
            <a:off x="7178040" y="3337560"/>
            <a:ext cx="23774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7287768" y="3337560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WhatsApp Operativo + radios. 4 hitos: bus en punto · salida completa · llegada · inicio de retorno</a:t>
            </a:r>
            <a:endParaRPr lang="en-US" sz="1200" dirty="0"/>
          </a:p>
        </p:txBody>
      </p:sp>
      <p:sp>
        <p:nvSpPr>
          <p:cNvPr id="31" name="Celda vacía"/>
          <p:cNvSpPr/>
          <p:nvPr/>
        </p:nvSpPr>
        <p:spPr>
          <a:xfrm>
            <a:off x="9692640" y="3337560"/>
            <a:ext cx="1920240" cy="1188720"/>
          </a:xfrm>
          <a:prstGeom prst="roundRect">
            <a:avLst>
              <a:gd name="adj" fmla="val 7692"/>
            </a:avLst>
          </a:prstGeom>
          <a:solidFill>
            <a:schemeClr val="tx2">
              <a:alpha val="40000"/>
            </a:schemeClr>
          </a:solidFill>
          <a:ln w="6350">
            <a:solidFill>
              <a:srgbClr val="2E3766"/>
            </a:solidFill>
            <a:prstDash val="dash"/>
          </a:ln>
        </p:spPr>
      </p:sp>
      <p:sp>
        <p:nvSpPr>
          <p:cNvPr id="32" name="Tarjeta"/>
          <p:cNvSpPr/>
          <p:nvPr/>
        </p:nvSpPr>
        <p:spPr>
          <a:xfrm>
            <a:off x="548640" y="4663440"/>
            <a:ext cx="210312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846320"/>
            <a:ext cx="384048" cy="384048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713232" y="5257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Clientes</a:t>
            </a: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Comercial y guía</a:t>
            </a:r>
            <a:endParaRPr lang="en-US" sz="1450" dirty="0"/>
          </a:p>
        </p:txBody>
      </p:sp>
      <p:sp>
        <p:nvSpPr>
          <p:cNvPr id="35" name="Tarjeta"/>
          <p:cNvSpPr/>
          <p:nvPr/>
        </p:nvSpPr>
        <p:spPr>
          <a:xfrm>
            <a:off x="2788920" y="4663440"/>
            <a:ext cx="205740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2898648" y="4663440"/>
            <a:ext cx="1856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Comprobante digital y canal de WhatsApp del bus (al comprar)</a:t>
            </a:r>
            <a:endParaRPr lang="en-US" sz="1200" dirty="0"/>
          </a:p>
        </p:txBody>
      </p:sp>
      <p:sp>
        <p:nvSpPr>
          <p:cNvPr id="37" name="Celda vacía"/>
          <p:cNvSpPr/>
          <p:nvPr/>
        </p:nvSpPr>
        <p:spPr>
          <a:xfrm>
            <a:off x="4983480" y="4663440"/>
            <a:ext cx="2057400" cy="1188720"/>
          </a:xfrm>
          <a:prstGeom prst="roundRect">
            <a:avLst>
              <a:gd name="adj" fmla="val 7692"/>
            </a:avLst>
          </a:prstGeom>
          <a:solidFill>
            <a:schemeClr val="tx2">
              <a:alpha val="40000"/>
            </a:schemeClr>
          </a:solidFill>
          <a:ln w="6350">
            <a:solidFill>
              <a:srgbClr val="2E3766"/>
            </a:solidFill>
            <a:prstDash val="dash"/>
          </a:ln>
        </p:spPr>
      </p:sp>
      <p:sp>
        <p:nvSpPr>
          <p:cNvPr id="38" name="Tarjeta"/>
          <p:cNvSpPr/>
          <p:nvPr/>
        </p:nvSpPr>
        <p:spPr>
          <a:xfrm>
            <a:off x="7178040" y="4663440"/>
            <a:ext cx="23774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7287768" y="4663440"/>
            <a:ext cx="2176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Guía comparte ubicación en tiempo real a la salida</a:t>
            </a:r>
            <a:endParaRPr lang="en-US" sz="1200" dirty="0"/>
          </a:p>
        </p:txBody>
      </p:sp>
      <p:sp>
        <p:nvSpPr>
          <p:cNvPr id="40" name="Tarjeta"/>
          <p:cNvSpPr/>
          <p:nvPr/>
        </p:nvSpPr>
        <p:spPr>
          <a:xfrm>
            <a:off x="9692640" y="4663440"/>
            <a:ext cx="19202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9802368" y="466344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Encuesta en Google Forms</a:t>
            </a:r>
            <a:endParaRPr lang="en-US" sz="1200" dirty="0"/>
          </a:p>
        </p:txBody>
      </p:sp>
      <p:sp>
        <p:nvSpPr>
          <p:cNvPr id="42" name="Fuente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bg2"/>
                </a:solidFill>
              </a:rPr>
              <a:t>Fuente: Informe Operativo Sound Travel (2026), secc. 7. Las radios se usan en recintos donde cae la señal celular (p. ej., Estadio Germán Becker).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4864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de coordinación ante contingencias</a:t>
            </a:r>
            <a:endParaRPr lang="en-US" sz="28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INTEGRANTE 4  ·  CRITERIO 2.1.3  ·  RESPUESTA ANTE IMPREVISTOS</a:t>
            </a:r>
            <a:endParaRPr lang="en-US" sz="1100" dirty="0"/>
          </a:p>
        </p:txBody>
      </p:sp>
      <p:sp>
        <p:nvSpPr>
          <p:cNvPr id="4" name="Insignia expositor"/>
          <p:cNvSpPr/>
          <p:nvPr/>
        </p:nvSpPr>
        <p:spPr>
          <a:xfrm>
            <a:off x="10104120" y="274320"/>
            <a:ext cx="153619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04120" y="274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chemeClr val="bg1"/>
                </a:solidFill>
              </a:rPr>
              <a:t>INTEGRANTE 4</a:t>
            </a:r>
            <a:endParaRPr lang="en-US" sz="1050" dirty="0"/>
          </a:p>
        </p:txBody>
      </p:sp>
      <p:graphicFrame>
        <p:nvGraphicFramePr>
          <p:cNvPr id="22" name="Tabla contingenci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937760"/>
                <a:gridCol w="1920240"/>
                <a:gridCol w="1188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4B5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4B5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4B5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4B5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Cortes de tránsito o mal clima (lluvia, neblina)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de contingencia preparado; salida con margen; información previa de calles cerradas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Jefe de Operaciones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Caída de señal celular en el recinto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Comunicación por radios portátiles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Guía · Equipo interno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Emergencia durante el evento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Guía en punto de asistencia, coordinación con seguridad municipal y vías de evacuación conocidas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Guía de Terreno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Pasajero desorientado a la salida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Pulsera por bus, ubicación del guía en tiempo real y conteo antes de partir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Guía · Conductor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 cancela a última hora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Mantener un transportista o local de respaldo identificado desde la etapa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Jefe de Operaciones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Propuesta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Pasajero no llega al reencuentro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Contacto por WhatsApp y teléfono; tiempo de espera definido; aviso a Dirección y, si corresponde, a Carabineros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Guía → Jefe de Op.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Propuesta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7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230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4"/>
                </a:solidFill>
              </a:rPr>
              <a:t>ESCALAMIENTO SUGERIDO</a:t>
            </a:r>
            <a:endParaRPr lang="en-US" sz="1050" dirty="0"/>
          </a:p>
        </p:txBody>
      </p:sp>
      <p:sp>
        <p:nvSpPr>
          <p:cNvPr id="8" name="Escalamiento"/>
          <p:cNvSpPr/>
          <p:nvPr/>
        </p:nvSpPr>
        <p:spPr>
          <a:xfrm>
            <a:off x="3017520" y="519379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C2447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17520" y="5193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Guía de Terreno</a:t>
            </a:r>
            <a:endParaRPr lang="en-US" sz="1100" dirty="0"/>
          </a:p>
        </p:txBody>
      </p:sp>
      <p:sp>
        <p:nvSpPr>
          <p:cNvPr id="10" name="Conector"/>
          <p:cNvSpPr/>
          <p:nvPr/>
        </p:nvSpPr>
        <p:spPr>
          <a:xfrm>
            <a:off x="4873752" y="5376672"/>
            <a:ext cx="310896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1" name="Escalamiento"/>
          <p:cNvSpPr/>
          <p:nvPr/>
        </p:nvSpPr>
        <p:spPr>
          <a:xfrm>
            <a:off x="5212080" y="519379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C2447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12080" y="5193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Jefe de Operaciones</a:t>
            </a:r>
            <a:endParaRPr lang="en-US" sz="1100" dirty="0"/>
          </a:p>
        </p:txBody>
      </p:sp>
      <p:sp>
        <p:nvSpPr>
          <p:cNvPr id="13" name="Conector"/>
          <p:cNvSpPr/>
          <p:nvPr/>
        </p:nvSpPr>
        <p:spPr>
          <a:xfrm>
            <a:off x="7068312" y="5376672"/>
            <a:ext cx="310896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4" name="Escalamiento"/>
          <p:cNvSpPr/>
          <p:nvPr/>
        </p:nvSpPr>
        <p:spPr>
          <a:xfrm>
            <a:off x="7406640" y="519379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C2447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06640" y="5193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Dirección General</a:t>
            </a:r>
            <a:endParaRPr lang="en-US" sz="1100" dirty="0"/>
          </a:p>
        </p:txBody>
      </p:sp>
      <p:sp>
        <p:nvSpPr>
          <p:cNvPr id="16" name="Conector"/>
          <p:cNvSpPr/>
          <p:nvPr/>
        </p:nvSpPr>
        <p:spPr>
          <a:xfrm>
            <a:off x="9262872" y="5376672"/>
            <a:ext cx="310896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7" name="Escalamiento"/>
          <p:cNvSpPr/>
          <p:nvPr/>
        </p:nvSpPr>
        <p:spPr>
          <a:xfrm>
            <a:off x="9601200" y="519379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C2447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601200" y="5193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Seguridad / Carabineros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650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Filas marcadas “Propuesta” y el escalamiento son un complemento del equipo: el informe no desarrolla un protocolo formal de contingencias.</a:t>
            </a:r>
            <a:endParaRPr lang="en-US" sz="1100" dirty="0"/>
          </a:p>
        </p:txBody>
      </p:sp>
      <p:sp>
        <p:nvSpPr>
          <p:cNvPr id="20" name="Fuente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bg2"/>
                </a:solidFill>
              </a:rPr>
              <a:t>Fuente: Informe Operativo Sound Travel (2026), secc. 3.1, 4, 6, 6.1 y 7.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4864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Conclusiones: coordinar es anticipar</a:t>
            </a:r>
            <a:endParaRPr lang="en-US" sz="28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INTEGRANTE 4  ·  CIERRE  ·  RESULTADOS POR CRITERIO</a:t>
            </a:r>
            <a:endParaRPr lang="en-US" sz="1100" dirty="0"/>
          </a:p>
        </p:txBody>
      </p:sp>
      <p:sp>
        <p:nvSpPr>
          <p:cNvPr id="4" name="Insignia expositor"/>
          <p:cNvSpPr/>
          <p:nvPr/>
        </p:nvSpPr>
        <p:spPr>
          <a:xfrm>
            <a:off x="10104120" y="274320"/>
            <a:ext cx="153619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04120" y="274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chemeClr val="bg1"/>
                </a:solidFill>
              </a:rPr>
              <a:t>INTEGRANTE 4</a:t>
            </a:r>
            <a:endParaRPr lang="en-US" sz="1050" dirty="0"/>
          </a:p>
        </p:txBody>
      </p:sp>
      <p:pic>
        <p:nvPicPr>
          <p:cNvPr id="6" name="Image 0" descr="Público frente al escenario (imagen referencial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64240" cy="1234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417320"/>
            <a:ext cx="11064240" cy="1234440"/>
          </a:xfrm>
          <a:prstGeom prst="rect">
            <a:avLst/>
          </a:prstGeom>
          <a:solidFill>
            <a:schemeClr val="tx1">
              <a:alpha val="58000"/>
            </a:schemeClr>
          </a:solidFill>
          <a:ln w="12700">
            <a:solidFill>
              <a:schemeClr val="tx1">
                <a:alpha val="0"/>
              </a:scheme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41732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chemeClr val="bg1"/>
                </a:solidFill>
              </a:rPr>
              <a:t>Un servicio de eventos funciona solo si cada actor sabe qué hacer, cuándo hacerlo y a quién informar.</a:t>
            </a:r>
            <a:endParaRPr lang="en-US" sz="1900" dirty="0"/>
          </a:p>
        </p:txBody>
      </p:sp>
      <p:sp>
        <p:nvSpPr>
          <p:cNvPr id="9" name="Tarjeta"/>
          <p:cNvSpPr/>
          <p:nvPr/>
        </p:nvSpPr>
        <p:spPr>
          <a:xfrm>
            <a:off x="548640" y="288036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06324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3063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CRITERIO 2.1.1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Estructuras y procesos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39319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Sound Travel tiene una estructura simple con cinco cargos y cuatro funciones, y un flujo de cinco etapas que conecta procesos internos con proveedores, aliados y clientes.</a:t>
            </a:r>
            <a:endParaRPr lang="en-US" sz="1300" dirty="0"/>
          </a:p>
        </p:txBody>
      </p:sp>
      <p:sp>
        <p:nvSpPr>
          <p:cNvPr id="14" name="Tarjeta"/>
          <p:cNvSpPr/>
          <p:nvPr/>
        </p:nvSpPr>
        <p:spPr>
          <a:xfrm>
            <a:off x="4270248" y="288036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3063240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56048" y="3063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CRITERIO 2.1.2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471416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Relaciones funcionales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471416" y="39319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La agencia es el coordinador central: contrata transporte, se alía con ticketeras, conviene con locales y se coordina con municipio, SERNATUR y seguridad para responder a necesidades concretas del cliente.</a:t>
            </a:r>
            <a:endParaRPr lang="en-US" sz="1300" dirty="0"/>
          </a:p>
        </p:txBody>
      </p:sp>
      <p:sp>
        <p:nvSpPr>
          <p:cNvPr id="19" name="Tarjeta"/>
          <p:cNvSpPr/>
          <p:nvPr/>
        </p:nvSpPr>
        <p:spPr>
          <a:xfrm>
            <a:off x="7991856" y="288036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9525">
            <a:solidFill>
              <a:srgbClr val="2E37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3063240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677656" y="3063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CRITERIO 2.1.3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8193024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Criterios y seguimiento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193024" y="393192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Las tareas se asignan con criterios técnicos, normativos, sustentables y territoriales, y se controlan con una línea de tiempo de seguimiento y un protocolo de contingencias.</a:t>
            </a:r>
            <a:endParaRPr lang="en-US" sz="1300" dirty="0"/>
          </a:p>
        </p:txBody>
      </p:sp>
      <p:sp>
        <p:nvSpPr>
          <p:cNvPr id="24" name="Tarjeta"/>
          <p:cNvSpPr/>
          <p:nvPr/>
        </p:nvSpPr>
        <p:spPr>
          <a:xfrm>
            <a:off x="548640" y="5376672"/>
            <a:ext cx="11064240" cy="621792"/>
          </a:xfrm>
          <a:prstGeom prst="roundRect">
            <a:avLst>
              <a:gd name="adj" fmla="val 17647"/>
            </a:avLst>
          </a:prstGeom>
          <a:solidFill>
            <a:srgbClr val="1C2447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77240" y="5376672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Valor para La Araucanía: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el pack une transporte formal, entradas oficiales y gastronomía local, entregando seguridad al asistente y movimiento económico a transportistas y locales de la región.</a:t>
            </a:r>
            <a:endParaRPr lang="en-US" sz="1300" dirty="0"/>
          </a:p>
        </p:txBody>
      </p:sp>
      <p:sp>
        <p:nvSpPr>
          <p:cNvPr id="26" name="Fuente"/>
          <p:cNvSpPr txBox="1"/>
          <p:nvPr/>
        </p:nvSpPr>
        <p:spPr>
          <a:xfrm>
            <a:off x="548640" y="610819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bg2"/>
                </a:solidFill>
              </a:rPr>
              <a:t>Síntesis del equipo a partir del Informe Operativo Sound Travel (2026), secc. 8. Imagen referencial · Unsplash.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548640"/>
            <a:ext cx="9418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y notas de rigor</a:t>
            </a:r>
            <a:endParaRPr lang="en-US" sz="28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5603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CIERRE  ·  FUENTES CONSULTADAS</a:t>
            </a:r>
            <a:endParaRPr lang="en-US" sz="1100" dirty="0"/>
          </a:p>
        </p:txBody>
      </p:sp>
      <p:sp>
        <p:nvSpPr>
          <p:cNvPr id="4" name="Insignia expositor"/>
          <p:cNvSpPr/>
          <p:nvPr/>
        </p:nvSpPr>
        <p:spPr>
          <a:xfrm>
            <a:off x="10104120" y="274320"/>
            <a:ext cx="1536192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04120" y="27432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chemeClr val="bg1"/>
                </a:solidFill>
              </a:rPr>
              <a:t>INTEGRANTE 4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INACAP. (2026). Guía de aprendizaje – Formativa Unidad 2: Acciones operativas en empresas de turismo (GTD404). Área Académica de Turismo.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Monsalve Esparza, B. (2026). Plan de coordinación y operaciones: Agencia “Sound Travel” [Pre-informe operativo]. INACAP Sede Temuco.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Ley N° 20.423. (2010). Del Sistema Institucional para el Desarrollo del Turismo. Diario Oficial, 12 de febrero de 2010.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Ministerio de Transportes y Telecomunicaciones. (2004). Decreto Supremo N° 80: Reglamenta el transporte privado remunerado de pasajeros.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Ley N° 18.290. Ley de Tránsito (art. 12, clases de licencia de conductor).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Ley N° 18.490. Seguro obligatorio de accidentes personales causados por circulación de vehículos motorizados (SOAP).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Subsecretaría de Turismo. (2024). Estadísticas de llegada de visitantes internacionales 2023 (citado en INACAP, 2026).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SERNATUR. Portal de Servicios Turísticos: registro de prestadores. https://portalserviciosturisticos.sernatur.cl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chemeClr val="bg1"/>
                </a:solidFill>
              </a:rPr>
              <a:t>Fotografías: Unsplash (licencia Unsplash). Imágenes referenciales, no corresponden a operaciones de Sound Travel.</a:t>
            </a:r>
            <a:endParaRPr lang="en-US" sz="1150" dirty="0"/>
          </a:p>
        </p:txBody>
      </p:sp>
      <p:sp>
        <p:nvSpPr>
          <p:cNvPr id="7" name="Tarjeta"/>
          <p:cNvSpPr/>
          <p:nvPr/>
        </p:nvSpPr>
        <p:spPr>
          <a:xfrm>
            <a:off x="7772400" y="141732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1C2447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0" y="1508760"/>
            <a:ext cx="3520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chemeClr val="accent4"/>
                </a:solidFill>
              </a:rPr>
              <a:t>NOTAS DE RIGOR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Sound Travel es una empresa ficticia; sus convenios y alianzas son propuestas.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El Festival Internacional de Temuco 2027 se usa como escenario proyectado.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Se corrigieron dos citas normativas del informe (ver diapositiva 17).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La fila post-evento y parte del protocolo de contingencias son complementos del equipo.</a:t>
            </a:r>
            <a:endParaRPr lang="en-US" sz="1200" dirty="0"/>
          </a:p>
        </p:txBody>
      </p:sp>
      <p:sp>
        <p:nvSpPr>
          <p:cNvPr id="9" name="Gracias"/>
          <p:cNvSpPr/>
          <p:nvPr/>
        </p:nvSpPr>
        <p:spPr>
          <a:xfrm>
            <a:off x="7772400" y="4846320"/>
            <a:ext cx="3840480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0" y="484632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¡Gracias!</a:t>
            </a:r>
            <a:endParaRPr lang="en-US" sz="26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¿Preguntas?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nd Travel Noche">
  <a:themeElements>
    <a:clrScheme name="Sound Travel Noche">
      <a:dk1>
        <a:srgbClr val="0B0F1E"/>
      </a:dk1>
      <a:lt1>
        <a:srgbClr val="FFFFFF"/>
      </a:lt1>
      <a:dk2>
        <a:srgbClr val="151B36"/>
      </a:dk2>
      <a:lt2>
        <a:srgbClr val="A5ADCF"/>
      </a:lt2>
      <a:accent1>
        <a:srgbClr val="8B5CF6"/>
      </a:accent1>
      <a:accent2>
        <a:srgbClr val="38BDF8"/>
      </a:accent2>
      <a:accent3>
        <a:srgbClr val="2563EB"/>
      </a:accent3>
      <a:accent4>
        <a:srgbClr val="F59E0B"/>
      </a:accent4>
      <a:accent5>
        <a:srgbClr val="34D399"/>
      </a:accent5>
      <a:accent6>
        <a:srgbClr val="C4B5FD"/>
      </a:accent6>
      <a:hlink>
        <a:srgbClr val="38BDF8"/>
      </a:hlink>
      <a:folHlink>
        <a:srgbClr val="C4B5FD"/>
      </a:folHlink>
    </a:clrScheme>
    <a:fontScheme name="Sound Travel Noch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INACAP Sede Temuco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Sound Travel · Plan de coordinación y operaciones</dc:title>
  <dc:subject>Coordinación en Operaciones Turísticas (GTD404) · Unidad 2</dc:subject>
  <dc:creator>Equipo Sound Travel · INACAP Temuco</dc:creator>
  <cp:lastModifiedBy>Equipo Sound Travel · INACAP Temuco</cp:lastModifiedBy>
  <cp:revision>1</cp:revision>
  <dcterms:created xsi:type="dcterms:W3CDTF">2026-10-21T21:11:17Z</dcterms:created>
  <dcterms:modified xsi:type="dcterms:W3CDTF">2026-10-21T21:11:17Z</dcterms:modified>
</cp:coreProperties>
</file>