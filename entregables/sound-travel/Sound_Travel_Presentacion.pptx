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egrante 1 · Contexto y Sound Travel" id="{c1672806-bd1d-0a49-922e-5a0f7d02ecef}">
          <p14:sldIdLst>
            <p14:sldId id="256"/>
            <p14:sldId id="257"/>
            <p14:sldId id="258"/>
          </p14:sldIdLst>
        </p14:section>
        <p14:section name="Integrante 2 · Estructura y procesos" id="{834d8d3a-ad83-f969-be71-dba0b928ba49}">
          <p14:sldIdLst>
            <p14:sldId id="259"/>
            <p14:sldId id="260"/>
            <p14:sldId id="261"/>
          </p14:sldIdLst>
        </p14:section>
        <p14:section name="Integrante 3 · Actores y coordinación" id="{0f099ed0-7710-85a1-90c3-e1079d95ff0f}">
          <p14:sldIdLst>
            <p14:sldId id="262"/>
            <p14:sldId id="263"/>
            <p14:sldId id="264"/>
          </p14:sldIdLst>
        </p14:section>
        <p14:section name="Integrante 4 · Criterios, seguimiento y cierre" id="{2e495f01-8ea9-87c7-c15a-d8b8facd7166}">
          <p14:sldIdLst>
            <p14:sldId id="265"/>
            <p14:sldId id="266"/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INTEGRANTE 1 (≈0:20). Saludo, presentación del equipo y del tema. Aclarar desde el inicio que Sound Travel es una empresa creada para la asignatura (Opción 2 de la guía).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INTEGRANTE 1 (≈1:00). Problema → respuesta. Recalcar que el festival 2027 es un escenario proyectado.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INTEGRANTE 1 (≈0:50). Relacionar misión y perfiles con el pack. Dar paso al Integrante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INTEGRANTE 2 (≈0:45). Organigrama de arriba hacia abajo, con la función de cada cargo.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INTEGRANTE 2 (≈0:40). Jerárquico = quién depende de quién; funcional = qué función cumple. Lo interno y lo externo se retroalimentan.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INTEGRANTE 2 (≈0:45). Recorrer las cinco etapas y cerrar con la retroalimentación. Transición al Integrante 3: «en la etapa 3 aparecen actores externos; mi compañero/a explica cómo se coordinan».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INTEGRANTE 3 (≈0:50). Explicar que Sound Travel está al centro porque es quien contrata, coordina e informa. Diferenciar líneas continuas (contrato/comercio) y punteadas (coordinación/información).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INTEGRANTE 3 (≈0:40). Relación de doble vía: cada actor tiene obligaciones y depende de lo que entrega la agencia.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INTEGRANTE 3 (≈0:40). Cada necesidad tiene una respuesta concreta y un actor responsable. La cadena muestra la interdependencia. Transición al Integrante 4: «¿con qué criterios aseguramos que cada eslabón cumpla?».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INTEGRANTE 4 (≈0:50). Cada criterio define quién hace qué. Mencionar la corrección de citas como parte de la investigación.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INTEGRANTE 4 (≈0:45). Leer por filas. Seguimiento: proveedores antes, operadores con 4 hitos, clientes de la compra a la encuesta.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INTEGRANTE 4 (≈0:45). Contingencias (verde = informe, ámbar = propuesta) y cierre con un mensaje por criterio.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_PORTADA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_CONTENIDO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3737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SOUND TRAVEL  ·  Coordinación en Operaciones Turísticas (GTD404)  ·  INACAP Sede Temuco</a:t>
            </a:r>
            <a:endParaRPr lang="en-US" sz="9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548640"/>
            <a:ext cx="9418320" cy="6583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image" Target="../media/image-8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Escenario de concierto con luces violetas (imagen referencial)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Velo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chemeClr val="tx1">
              <a:alpha val="75000"/>
            </a:schemeClr>
          </a:solidFill>
          <a:ln w="12700">
            <a:solidFill>
              <a:schemeClr val="tx1">
                <a:alpha val="0"/>
              </a:schemeClr>
            </a:solidFill>
            <a:prstDash val="solid"/>
          </a:ln>
        </p:spPr>
      </p:sp>
      <p:sp>
        <p:nvSpPr>
          <p:cNvPr id="4" name="Panel portada"/>
          <p:cNvSpPr/>
          <p:nvPr/>
        </p:nvSpPr>
        <p:spPr>
          <a:xfrm>
            <a:off x="0" y="0"/>
            <a:ext cx="6949440" cy="6858000"/>
          </a:xfrm>
          <a:prstGeom prst="rect">
            <a:avLst/>
          </a:prstGeom>
          <a:solidFill>
            <a:schemeClr val="tx1">
              <a:alpha val="88000"/>
            </a:schemeClr>
          </a:solidFill>
          <a:ln w="12700">
            <a:solidFill>
              <a:schemeClr val="tx1">
                <a:alpha val="0"/>
              </a:schemeClr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40080" y="685800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2"/>
                </a:solidFill>
              </a:rPr>
              <a:t>INACAP SEDE TEMUCO  ·  ÁREA DE TURISMO  ·  GESTIÓN TURÍSTICA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1234440"/>
            <a:ext cx="6217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spc="300" kern="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SOUND TRAVEL</a:t>
            </a:r>
            <a:endParaRPr lang="en-US" sz="54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194560"/>
            <a:ext cx="5852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Plan de coordinación y operaciones para traslados y asistencia en eventos masivos en la Región de La Araucanía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3429000"/>
            <a:ext cx="5852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Coordinación en Operaciones Turísticas (GTD404) · Sección 122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Unidad 2: Acciones operativas en empresas de turismo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Docente: Evelyn Rios Soto</a:t>
            </a:r>
            <a:endParaRPr lang="en-US" sz="1400" dirty="0"/>
          </a:p>
        </p:txBody>
      </p:sp>
      <p:sp>
        <p:nvSpPr>
          <p:cNvPr id="9" name="Integrante"/>
          <p:cNvSpPr/>
          <p:nvPr/>
        </p:nvSpPr>
        <p:spPr>
          <a:xfrm>
            <a:off x="640080" y="4709160"/>
            <a:ext cx="1353312" cy="566928"/>
          </a:xfrm>
          <a:prstGeom prst="roundRect">
            <a:avLst>
              <a:gd name="adj" fmla="val 16129"/>
            </a:avLst>
          </a:prstGeom>
          <a:solidFill>
            <a:schemeClr val="tx2">
              <a:alpha val="90000"/>
            </a:schemeClr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40080" y="4709160"/>
            <a:ext cx="13533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accent2"/>
                </a:solidFill>
              </a:rPr>
              <a:t>INTEGRANTE 1</a:t>
            </a:r>
            <a:endParaRPr lang="en-US" sz="9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Nombre Apellido</a:t>
            </a:r>
            <a:endParaRPr lang="en-US" sz="900" dirty="0"/>
          </a:p>
        </p:txBody>
      </p:sp>
      <p:sp>
        <p:nvSpPr>
          <p:cNvPr id="11" name="Integrante"/>
          <p:cNvSpPr/>
          <p:nvPr/>
        </p:nvSpPr>
        <p:spPr>
          <a:xfrm>
            <a:off x="2103120" y="4709160"/>
            <a:ext cx="1353312" cy="566928"/>
          </a:xfrm>
          <a:prstGeom prst="roundRect">
            <a:avLst>
              <a:gd name="adj" fmla="val 16129"/>
            </a:avLst>
          </a:prstGeom>
          <a:solidFill>
            <a:schemeClr val="tx2">
              <a:alpha val="90000"/>
            </a:schemeClr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103120" y="4709160"/>
            <a:ext cx="13533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accent2"/>
                </a:solidFill>
              </a:rPr>
              <a:t>INTEGRANTE 2</a:t>
            </a:r>
            <a:endParaRPr lang="en-US" sz="9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Nombre Apellido</a:t>
            </a:r>
            <a:endParaRPr lang="en-US" sz="900" dirty="0"/>
          </a:p>
        </p:txBody>
      </p:sp>
      <p:sp>
        <p:nvSpPr>
          <p:cNvPr id="13" name="Integrante"/>
          <p:cNvSpPr/>
          <p:nvPr/>
        </p:nvSpPr>
        <p:spPr>
          <a:xfrm>
            <a:off x="3566160" y="4709160"/>
            <a:ext cx="1353312" cy="566928"/>
          </a:xfrm>
          <a:prstGeom prst="roundRect">
            <a:avLst>
              <a:gd name="adj" fmla="val 16129"/>
            </a:avLst>
          </a:prstGeom>
          <a:solidFill>
            <a:schemeClr val="tx2">
              <a:alpha val="90000"/>
            </a:schemeClr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566160" y="4709160"/>
            <a:ext cx="13533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accent2"/>
                </a:solidFill>
              </a:rPr>
              <a:t>INTEGRANTE 3</a:t>
            </a:r>
            <a:endParaRPr lang="en-US" sz="9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Nombre Apellido</a:t>
            </a:r>
            <a:endParaRPr lang="en-US" sz="900" dirty="0"/>
          </a:p>
        </p:txBody>
      </p:sp>
      <p:sp>
        <p:nvSpPr>
          <p:cNvPr id="15" name="Integrante"/>
          <p:cNvSpPr/>
          <p:nvPr/>
        </p:nvSpPr>
        <p:spPr>
          <a:xfrm>
            <a:off x="5029200" y="4709160"/>
            <a:ext cx="1353312" cy="566928"/>
          </a:xfrm>
          <a:prstGeom prst="roundRect">
            <a:avLst>
              <a:gd name="adj" fmla="val 16129"/>
            </a:avLst>
          </a:prstGeom>
          <a:solidFill>
            <a:schemeClr val="tx2">
              <a:alpha val="90000"/>
            </a:schemeClr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029200" y="4709160"/>
            <a:ext cx="13533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accent2"/>
                </a:solidFill>
              </a:rPr>
              <a:t>INTEGRANTE 4</a:t>
            </a:r>
            <a:endParaRPr lang="en-US" sz="9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Nombre Apellido</a:t>
            </a:r>
            <a:endParaRPr lang="en-US" sz="900" dirty="0"/>
          </a:p>
        </p:txBody>
      </p:sp>
      <p:sp>
        <p:nvSpPr>
          <p:cNvPr id="17" name="Text 14"/>
          <p:cNvSpPr txBox="1"/>
          <p:nvPr/>
        </p:nvSpPr>
        <p:spPr>
          <a:xfrm>
            <a:off x="640080" y="5623560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bg2"/>
                </a:solidFill>
              </a:rPr>
              <a:t>Empresa ficticia creada con fines académicos (Opción 2 de la guía de aprendizaje)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9692640" y="649224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chemeClr val="bg2"/>
                </a:solidFill>
              </a:rPr>
              <a:t>Imagen referencial · Unsplash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48640"/>
            <a:ext cx="9418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problema y nuestra respuesta: Sound Travel</a:t>
            </a:r>
            <a:endParaRPr lang="en-US" sz="2800" dirty="0"/>
          </a:p>
        </p:txBody>
      </p:sp>
      <p:sp>
        <p:nvSpPr>
          <p:cNvPr id="3" name="Kicker"/>
          <p:cNvSpPr txBox="1"/>
          <p:nvPr/>
        </p:nvSpPr>
        <p:spPr>
          <a:xfrm>
            <a:off x="548640" y="25603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2"/>
                </a:solidFill>
              </a:rPr>
              <a:t>INTEGRANTE 1  ·  CRITERIO 2.1.1  ·  CONTEXTO, IDENTIFICACIÓN, JUSTIFICACIÓN Y LOCALIZACIÓN</a:t>
            </a:r>
            <a:endParaRPr lang="en-US" sz="1100" dirty="0"/>
          </a:p>
        </p:txBody>
      </p:sp>
      <p:sp>
        <p:nvSpPr>
          <p:cNvPr id="4" name="Insignia expositor"/>
          <p:cNvSpPr/>
          <p:nvPr/>
        </p:nvSpPr>
        <p:spPr>
          <a:xfrm>
            <a:off x="10104120" y="274320"/>
            <a:ext cx="1536192" cy="32918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104120" y="274320"/>
            <a:ext cx="1536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chemeClr val="bg1"/>
                </a:solidFill>
              </a:rPr>
              <a:t>INTEGRANTE 1</a:t>
            </a:r>
            <a:endParaRPr lang="en-US" sz="1050" dirty="0"/>
          </a:p>
        </p:txBody>
      </p:sp>
      <p:sp>
        <p:nvSpPr>
          <p:cNvPr id="6" name="Tarjeta"/>
          <p:cNvSpPr/>
          <p:nvPr/>
        </p:nvSpPr>
        <p:spPr>
          <a:xfrm>
            <a:off x="548640" y="1463040"/>
            <a:ext cx="5440680" cy="914400"/>
          </a:xfrm>
          <a:prstGeom prst="roundRect">
            <a:avLst>
              <a:gd name="adj" fmla="val 12000"/>
            </a:avLst>
          </a:prstGeom>
          <a:solidFill>
            <a:srgbClr val="1C2447"/>
          </a:solidFill>
          <a:ln w="9525">
            <a:solidFill>
              <a:srgbClr val="2E376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1463040"/>
            <a:ext cx="1600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3,6 M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2377440" y="1463040"/>
            <a:ext cx="3474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visitantes internacionales en Chile en 2023, más un fuerte flujo nacional entre regiones para ver espectáculos en vivo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2542032"/>
            <a:ext cx="5440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6"/>
                </a:solidFill>
              </a:rPr>
              <a:t>En cada evento masivo de Temuco y la zona lacustre:</a:t>
            </a:r>
            <a:endParaRPr lang="en-US" sz="1400" dirty="0"/>
          </a:p>
        </p:txBody>
      </p:sp>
      <p:sp>
        <p:nvSpPr>
          <p:cNvPr id="10" name="Círculo ícono"/>
          <p:cNvSpPr/>
          <p:nvPr/>
        </p:nvSpPr>
        <p:spPr>
          <a:xfrm>
            <a:off x="548640" y="2953512"/>
            <a:ext cx="475488" cy="47548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1" name="Image 0" descr="FaBu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3072384"/>
            <a:ext cx="237744" cy="237744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1188720" y="2926080"/>
            <a:ext cx="4800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El transporte público deja de circular temprano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chemeClr val="bg2"/>
                </a:solidFill>
              </a:rPr>
              <a:t>el regreso nocturno queda sin alternativa formal</a:t>
            </a:r>
            <a:endParaRPr lang="en-US" sz="1300" dirty="0"/>
          </a:p>
        </p:txBody>
      </p:sp>
      <p:sp>
        <p:nvSpPr>
          <p:cNvPr id="13" name="Círculo ícono"/>
          <p:cNvSpPr/>
          <p:nvPr/>
        </p:nvSpPr>
        <p:spPr>
          <a:xfrm>
            <a:off x="548640" y="3575304"/>
            <a:ext cx="475488" cy="47548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4" name="Image 1" descr="FaParki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3694176"/>
            <a:ext cx="237744" cy="237744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1188720" y="3547872"/>
            <a:ext cx="4800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Los estacionamientos colapsan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chemeClr val="bg2"/>
                </a:solidFill>
              </a:rPr>
              <a:t>Estadio Germán Becker, Isla Cautín, Villarrica y Pucón</a:t>
            </a:r>
            <a:endParaRPr lang="en-US" sz="1300" dirty="0"/>
          </a:p>
        </p:txBody>
      </p:sp>
      <p:sp>
        <p:nvSpPr>
          <p:cNvPr id="16" name="Círculo ícono"/>
          <p:cNvSpPr/>
          <p:nvPr/>
        </p:nvSpPr>
        <p:spPr>
          <a:xfrm>
            <a:off x="548640" y="4197096"/>
            <a:ext cx="475488" cy="47548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7" name="Image 2" descr="FaArrowUp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" y="4315968"/>
            <a:ext cx="237744" cy="237744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1188720" y="4169664"/>
            <a:ext cx="4800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Las apps de transporte suben sus tarifas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chemeClr val="bg2"/>
                </a:solidFill>
              </a:rPr>
              <a:t>costo alto y espera incierta al salir del show</a:t>
            </a:r>
            <a:endParaRPr lang="en-US" sz="1300" dirty="0"/>
          </a:p>
        </p:txBody>
      </p:sp>
      <p:sp>
        <p:nvSpPr>
          <p:cNvPr id="19" name="Tarjeta"/>
          <p:cNvSpPr/>
          <p:nvPr/>
        </p:nvSpPr>
        <p:spPr>
          <a:xfrm>
            <a:off x="548640" y="4892040"/>
            <a:ext cx="5440680" cy="1097280"/>
          </a:xfrm>
          <a:prstGeom prst="roundRect">
            <a:avLst>
              <a:gd name="adj" fmla="val 10000"/>
            </a:avLst>
          </a:prstGeom>
          <a:solidFill>
            <a:srgbClr val="1C2447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20" name="Etiqueta"/>
          <p:cNvSpPr/>
          <p:nvPr/>
        </p:nvSpPr>
        <p:spPr>
          <a:xfrm>
            <a:off x="731520" y="5001768"/>
            <a:ext cx="2011680" cy="27432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731520" y="500176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chemeClr val="tx1"/>
                </a:solidFill>
              </a:rPr>
              <a:t>ESCENARIO PROYECTADO</a:t>
            </a:r>
            <a:endParaRPr lang="en-US" sz="950" dirty="0"/>
          </a:p>
        </p:txBody>
      </p:sp>
      <p:sp>
        <p:nvSpPr>
          <p:cNvPr id="22" name="Text 17"/>
          <p:cNvSpPr txBox="1"/>
          <p:nvPr/>
        </p:nvSpPr>
        <p:spPr>
          <a:xfrm>
            <a:off x="731520" y="5321808"/>
            <a:ext cx="5120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bg1"/>
                </a:solidFill>
              </a:rPr>
              <a:t>Festival Internacional de Temuco (feb. 2027): lo usamos para planificar, pero no encontramos confirmación oficial del evento.</a:t>
            </a:r>
            <a:endParaRPr lang="en-US" sz="1150" dirty="0"/>
          </a:p>
        </p:txBody>
      </p:sp>
      <p:sp>
        <p:nvSpPr>
          <p:cNvPr id="23" name="Tarjeta"/>
          <p:cNvSpPr/>
          <p:nvPr/>
        </p:nvSpPr>
        <p:spPr>
          <a:xfrm>
            <a:off x="6217920" y="1463040"/>
            <a:ext cx="5394960" cy="1417320"/>
          </a:xfrm>
          <a:prstGeom prst="roundRect">
            <a:avLst>
              <a:gd name="adj" fmla="val 7742"/>
            </a:avLst>
          </a:prstGeom>
          <a:solidFill>
            <a:schemeClr val="tx2"/>
          </a:solidFill>
          <a:ln w="9525">
            <a:solidFill>
              <a:srgbClr val="2E3766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4" name="Círculo ícono"/>
          <p:cNvSpPr/>
          <p:nvPr/>
        </p:nvSpPr>
        <p:spPr>
          <a:xfrm>
            <a:off x="6400800" y="166420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5" name="Image 3" descr="FaLightbulb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7960" y="1801368"/>
            <a:ext cx="274320" cy="274320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7132320" y="1536192"/>
            <a:ext cx="4343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Agencia de turismo de eventos con casa matriz en Temuco </a:t>
            </a:r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(empresa creada: Opción 2 de la guía). </a:t>
            </a:r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Se justifica porque no existe una solución que integre ir y volver seguro con la entrada y la comida.</a:t>
            </a:r>
            <a:endParaRPr lang="en-US" sz="1300" dirty="0"/>
          </a:p>
        </p:txBody>
      </p:sp>
      <p:sp>
        <p:nvSpPr>
          <p:cNvPr id="27" name="Tarjeta"/>
          <p:cNvSpPr/>
          <p:nvPr/>
        </p:nvSpPr>
        <p:spPr>
          <a:xfrm>
            <a:off x="6217920" y="3017520"/>
            <a:ext cx="5394960" cy="2971800"/>
          </a:xfrm>
          <a:prstGeom prst="roundRect">
            <a:avLst>
              <a:gd name="adj" fmla="val 3692"/>
            </a:avLst>
          </a:prstGeom>
          <a:solidFill>
            <a:srgbClr val="1C2447"/>
          </a:solidFill>
          <a:ln w="9525">
            <a:solidFill>
              <a:srgbClr val="2E3766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8" name="Text 22"/>
          <p:cNvSpPr txBox="1"/>
          <p:nvPr/>
        </p:nvSpPr>
        <p:spPr>
          <a:xfrm>
            <a:off x="6446520" y="315468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chemeClr val="accent2"/>
                </a:solidFill>
              </a:rPr>
              <a:t>LOCALIZACIÓN Y RUTAS</a:t>
            </a:r>
            <a:endParaRPr lang="en-US" sz="1050" dirty="0"/>
          </a:p>
        </p:txBody>
      </p:sp>
      <p:sp>
        <p:nvSpPr>
          <p:cNvPr id="29" name="Conector"/>
          <p:cNvSpPr/>
          <p:nvPr/>
        </p:nvSpPr>
        <p:spPr>
          <a:xfrm flipV="1">
            <a:off x="8138160" y="3429000"/>
            <a:ext cx="1828800" cy="886968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dash"/>
            <a:tailEnd type="triangle"/>
          </a:ln>
        </p:spPr>
      </p:sp>
      <p:sp>
        <p:nvSpPr>
          <p:cNvPr id="30" name="Conector"/>
          <p:cNvSpPr/>
          <p:nvPr/>
        </p:nvSpPr>
        <p:spPr>
          <a:xfrm flipV="1">
            <a:off x="8321040" y="3886200"/>
            <a:ext cx="2103120" cy="429768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dash"/>
            <a:tailEnd type="triangle"/>
          </a:ln>
        </p:spPr>
      </p:sp>
      <p:sp>
        <p:nvSpPr>
          <p:cNvPr id="31" name="Text 25"/>
          <p:cNvSpPr txBox="1"/>
          <p:nvPr/>
        </p:nvSpPr>
        <p:spPr>
          <a:xfrm>
            <a:off x="10012680" y="329184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6"/>
                </a:solidFill>
              </a:rPr>
              <a:t>Concepción</a:t>
            </a:r>
            <a:endParaRPr lang="en-US" sz="1050" dirty="0"/>
          </a:p>
        </p:txBody>
      </p:sp>
      <p:sp>
        <p:nvSpPr>
          <p:cNvPr id="32" name="Text 26"/>
          <p:cNvSpPr txBox="1"/>
          <p:nvPr/>
        </p:nvSpPr>
        <p:spPr>
          <a:xfrm>
            <a:off x="10469880" y="3767328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6"/>
                </a:solidFill>
              </a:rPr>
              <a:t>Santiago</a:t>
            </a:r>
            <a:endParaRPr lang="en-US" sz="1050" dirty="0"/>
          </a:p>
        </p:txBody>
      </p:sp>
      <p:sp>
        <p:nvSpPr>
          <p:cNvPr id="33" name="Conector"/>
          <p:cNvSpPr/>
          <p:nvPr/>
        </p:nvSpPr>
        <p:spPr>
          <a:xfrm>
            <a:off x="8229600" y="4480560"/>
            <a:ext cx="365760" cy="502920"/>
          </a:xfrm>
          <a:prstGeom prst="line">
            <a:avLst/>
          </a:prstGeom>
          <a:noFill/>
          <a:ln w="25400">
            <a:solidFill>
              <a:schemeClr val="accent2"/>
            </a:solidFill>
            <a:prstDash val="solid"/>
          </a:ln>
        </p:spPr>
      </p:sp>
      <p:sp>
        <p:nvSpPr>
          <p:cNvPr id="34" name="Conector"/>
          <p:cNvSpPr/>
          <p:nvPr/>
        </p:nvSpPr>
        <p:spPr>
          <a:xfrm flipH="1" flipV="1">
            <a:off x="8046720" y="3840480"/>
            <a:ext cx="182880" cy="640080"/>
          </a:xfrm>
          <a:prstGeom prst="line">
            <a:avLst/>
          </a:prstGeom>
          <a:noFill/>
          <a:ln w="25400">
            <a:solidFill>
              <a:schemeClr val="accent2"/>
            </a:solidFill>
            <a:prstDash val="solid"/>
          </a:ln>
        </p:spPr>
      </p:sp>
      <p:sp>
        <p:nvSpPr>
          <p:cNvPr id="35" name="Conector"/>
          <p:cNvSpPr/>
          <p:nvPr/>
        </p:nvSpPr>
        <p:spPr>
          <a:xfrm>
            <a:off x="8229600" y="4480560"/>
            <a:ext cx="1371600" cy="868680"/>
          </a:xfrm>
          <a:prstGeom prst="line">
            <a:avLst/>
          </a:prstGeom>
          <a:noFill/>
          <a:ln w="25400">
            <a:solidFill>
              <a:schemeClr val="accent2"/>
            </a:solidFill>
            <a:prstDash val="solid"/>
          </a:ln>
        </p:spPr>
      </p:sp>
      <p:sp>
        <p:nvSpPr>
          <p:cNvPr id="36" name="Conector"/>
          <p:cNvSpPr/>
          <p:nvPr/>
        </p:nvSpPr>
        <p:spPr>
          <a:xfrm>
            <a:off x="8229600" y="4480560"/>
            <a:ext cx="2423160" cy="685800"/>
          </a:xfrm>
          <a:prstGeom prst="line">
            <a:avLst/>
          </a:prstGeom>
          <a:noFill/>
          <a:ln w="25400">
            <a:solidFill>
              <a:schemeClr val="accent2"/>
            </a:solidFill>
            <a:prstDash val="solid"/>
          </a:ln>
        </p:spPr>
      </p:sp>
      <p:sp>
        <p:nvSpPr>
          <p:cNvPr id="37" name="Conector"/>
          <p:cNvSpPr/>
          <p:nvPr/>
        </p:nvSpPr>
        <p:spPr>
          <a:xfrm flipV="1">
            <a:off x="9601200" y="5166360"/>
            <a:ext cx="1051560" cy="182880"/>
          </a:xfrm>
          <a:prstGeom prst="line">
            <a:avLst/>
          </a:prstGeom>
          <a:noFill/>
          <a:ln w="25400">
            <a:solidFill>
              <a:schemeClr val="accent2"/>
            </a:solidFill>
            <a:prstDash val="solid"/>
          </a:ln>
        </p:spPr>
      </p:sp>
      <p:sp>
        <p:nvSpPr>
          <p:cNvPr id="38" name="Nodo Padre Las Casas"/>
          <p:cNvSpPr/>
          <p:nvPr/>
        </p:nvSpPr>
        <p:spPr>
          <a:xfrm>
            <a:off x="8503920" y="4892040"/>
            <a:ext cx="182880" cy="1828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39" name="Text 33"/>
          <p:cNvSpPr txBox="1"/>
          <p:nvPr/>
        </p:nvSpPr>
        <p:spPr>
          <a:xfrm>
            <a:off x="6995160" y="4965192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Padre Las Casas</a:t>
            </a:r>
            <a:endParaRPr lang="en-US" sz="1050" dirty="0"/>
          </a:p>
        </p:txBody>
      </p:sp>
      <p:sp>
        <p:nvSpPr>
          <p:cNvPr id="40" name="Nodo Lautaro"/>
          <p:cNvSpPr/>
          <p:nvPr/>
        </p:nvSpPr>
        <p:spPr>
          <a:xfrm>
            <a:off x="7955280" y="3749040"/>
            <a:ext cx="182880" cy="1828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41" name="Text 35"/>
          <p:cNvSpPr txBox="1"/>
          <p:nvPr/>
        </p:nvSpPr>
        <p:spPr>
          <a:xfrm>
            <a:off x="6446520" y="3721608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Lautaro</a:t>
            </a:r>
            <a:endParaRPr lang="en-US" sz="1050" dirty="0"/>
          </a:p>
        </p:txBody>
      </p:sp>
      <p:sp>
        <p:nvSpPr>
          <p:cNvPr id="42" name="Nodo Villarrica"/>
          <p:cNvSpPr/>
          <p:nvPr/>
        </p:nvSpPr>
        <p:spPr>
          <a:xfrm>
            <a:off x="9509760" y="5257800"/>
            <a:ext cx="182880" cy="1828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43" name="Text 37"/>
          <p:cNvSpPr txBox="1"/>
          <p:nvPr/>
        </p:nvSpPr>
        <p:spPr>
          <a:xfrm>
            <a:off x="9144000" y="548640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Villarrica</a:t>
            </a:r>
            <a:endParaRPr lang="en-US" sz="1050" dirty="0"/>
          </a:p>
        </p:txBody>
      </p:sp>
      <p:sp>
        <p:nvSpPr>
          <p:cNvPr id="44" name="Nodo Pucón"/>
          <p:cNvSpPr/>
          <p:nvPr/>
        </p:nvSpPr>
        <p:spPr>
          <a:xfrm>
            <a:off x="10561320" y="5074920"/>
            <a:ext cx="182880" cy="1828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45" name="Text 39"/>
          <p:cNvSpPr txBox="1"/>
          <p:nvPr/>
        </p:nvSpPr>
        <p:spPr>
          <a:xfrm>
            <a:off x="10469880" y="530352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Pucón</a:t>
            </a:r>
            <a:endParaRPr lang="en-US" sz="1050" dirty="0"/>
          </a:p>
        </p:txBody>
      </p:sp>
      <p:sp>
        <p:nvSpPr>
          <p:cNvPr id="46" name="Nodo Temuco"/>
          <p:cNvSpPr/>
          <p:nvPr/>
        </p:nvSpPr>
        <p:spPr>
          <a:xfrm>
            <a:off x="8001000" y="4251960"/>
            <a:ext cx="457200" cy="457200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bg1"/>
            </a:solidFill>
            <a:prstDash val="solid"/>
          </a:ln>
        </p:spPr>
      </p:sp>
      <p:pic>
        <p:nvPicPr>
          <p:cNvPr id="4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19872" y="4361688"/>
            <a:ext cx="219456" cy="219456"/>
          </a:xfrm>
          <a:prstGeom prst="rect">
            <a:avLst/>
          </a:prstGeom>
        </p:spPr>
      </p:pic>
      <p:sp>
        <p:nvSpPr>
          <p:cNvPr id="48" name="Text 41"/>
          <p:cNvSpPr txBox="1"/>
          <p:nvPr/>
        </p:nvSpPr>
        <p:spPr>
          <a:xfrm>
            <a:off x="6675120" y="4233672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Temuco</a:t>
            </a:r>
            <a:endParaRPr lang="en-US" sz="1200" dirty="0"/>
          </a:p>
          <a:p>
            <a:pPr algn="r"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Casa matriz</a:t>
            </a:r>
            <a:endParaRPr lang="en-US" sz="1200" dirty="0"/>
          </a:p>
        </p:txBody>
      </p:sp>
      <p:sp>
        <p:nvSpPr>
          <p:cNvPr id="49" name="Shape 42"/>
          <p:cNvSpPr/>
          <p:nvPr/>
        </p:nvSpPr>
        <p:spPr>
          <a:xfrm>
            <a:off x="6446520" y="5760720"/>
            <a:ext cx="320040" cy="0"/>
          </a:xfrm>
          <a:prstGeom prst="line">
            <a:avLst/>
          </a:prstGeom>
          <a:noFill/>
          <a:ln w="25400">
            <a:solidFill>
              <a:schemeClr val="accent2"/>
            </a:solidFill>
            <a:prstDash val="solid"/>
          </a:ln>
        </p:spPr>
      </p:sp>
      <p:sp>
        <p:nvSpPr>
          <p:cNvPr id="50" name="Text 43"/>
          <p:cNvSpPr txBox="1"/>
          <p:nvPr/>
        </p:nvSpPr>
        <p:spPr>
          <a:xfrm>
            <a:off x="6839712" y="5650992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Rutas regionales</a:t>
            </a:r>
            <a:endParaRPr lang="en-US" sz="1000" dirty="0"/>
          </a:p>
        </p:txBody>
      </p:sp>
      <p:sp>
        <p:nvSpPr>
          <p:cNvPr id="51" name="Shape 44"/>
          <p:cNvSpPr/>
          <p:nvPr/>
        </p:nvSpPr>
        <p:spPr>
          <a:xfrm>
            <a:off x="8229600" y="5760720"/>
            <a:ext cx="320040" cy="0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dash"/>
          </a:ln>
        </p:spPr>
      </p:sp>
      <p:sp>
        <p:nvSpPr>
          <p:cNvPr id="52" name="Text 45"/>
          <p:cNvSpPr txBox="1"/>
          <p:nvPr/>
        </p:nvSpPr>
        <p:spPr>
          <a:xfrm>
            <a:off x="8622792" y="5650992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Viajes especiales a conciertos</a:t>
            </a:r>
            <a:endParaRPr lang="en-US" sz="1000" dirty="0"/>
          </a:p>
        </p:txBody>
      </p:sp>
      <p:sp>
        <p:nvSpPr>
          <p:cNvPr id="53" name="Fuente"/>
          <p:cNvSpPr txBox="1"/>
          <p:nvPr/>
        </p:nvSpPr>
        <p:spPr>
          <a:xfrm>
            <a:off x="548640" y="6108192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chemeClr val="bg2"/>
                </a:solidFill>
              </a:rPr>
              <a:t>Fuentes: Subsecretaría de Turismo (2024), citada en la guía GTD404 · Informe Operativo Sound Travel (2026), secc. 1, 2 y 2.1. Mapa referencial, no a escala.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48640"/>
            <a:ext cx="9418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Identidad y propuesta de valor</a:t>
            </a:r>
            <a:endParaRPr lang="en-US" sz="2800" dirty="0"/>
          </a:p>
        </p:txBody>
      </p:sp>
      <p:sp>
        <p:nvSpPr>
          <p:cNvPr id="3" name="Kicker"/>
          <p:cNvSpPr txBox="1"/>
          <p:nvPr/>
        </p:nvSpPr>
        <p:spPr>
          <a:xfrm>
            <a:off x="548640" y="25603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2"/>
                </a:solidFill>
              </a:rPr>
              <a:t>INTEGRANTE 1  ·  CRITERIO 2.1.1  ·  MISIÓN, VISIÓN, PÚBLICO OBJETIVO Y SERVICIOS</a:t>
            </a:r>
            <a:endParaRPr lang="en-US" sz="1100" dirty="0"/>
          </a:p>
        </p:txBody>
      </p:sp>
      <p:sp>
        <p:nvSpPr>
          <p:cNvPr id="4" name="Insignia expositor"/>
          <p:cNvSpPr/>
          <p:nvPr/>
        </p:nvSpPr>
        <p:spPr>
          <a:xfrm>
            <a:off x="10104120" y="274320"/>
            <a:ext cx="1536192" cy="32918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104120" y="274320"/>
            <a:ext cx="1536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chemeClr val="bg1"/>
                </a:solidFill>
              </a:rPr>
              <a:t>INTEGRANTE 1</a:t>
            </a:r>
            <a:endParaRPr lang="en-US" sz="1050" dirty="0"/>
          </a:p>
        </p:txBody>
      </p:sp>
      <p:sp>
        <p:nvSpPr>
          <p:cNvPr id="6" name="Tarjeta"/>
          <p:cNvSpPr/>
          <p:nvPr/>
        </p:nvSpPr>
        <p:spPr>
          <a:xfrm>
            <a:off x="548640" y="1463040"/>
            <a:ext cx="5440680" cy="13716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9525">
            <a:solidFill>
              <a:srgbClr val="2E3766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777240" y="157276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chemeClr val="accent2"/>
                </a:solidFill>
              </a:rPr>
              <a:t>MISIÓN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1847088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bg1"/>
                </a:solidFill>
              </a:rPr>
              <a:t>Ofrecer traslado y actividades complementarias para asistentes a festivales, conciertos y eventos dentro y fuera de La Araucanía, garantizando seguridad, comodidad y un viaje bien planificado.</a:t>
            </a:r>
            <a:endParaRPr lang="en-US" sz="1250" dirty="0"/>
          </a:p>
        </p:txBody>
      </p:sp>
      <p:sp>
        <p:nvSpPr>
          <p:cNvPr id="9" name="Tarjeta"/>
          <p:cNvSpPr/>
          <p:nvPr/>
        </p:nvSpPr>
        <p:spPr>
          <a:xfrm>
            <a:off x="6172200" y="1463040"/>
            <a:ext cx="5440680" cy="13716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9525">
            <a:solidFill>
              <a:srgbClr val="2E3766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6400800" y="157276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chemeClr val="accent2"/>
                </a:solidFill>
              </a:rPr>
              <a:t>VISIÓN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6400800" y="1847088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bg1"/>
                </a:solidFill>
              </a:rPr>
              <a:t>Ser una agencia reconocida en el sur de Chile para el turismo de eventos y entretenimiento, destacando por su buena organización y calidad de servicio.</a:t>
            </a:r>
            <a:endParaRPr lang="en-US" sz="1250" dirty="0"/>
          </a:p>
        </p:txBody>
      </p:sp>
      <p:sp>
        <p:nvSpPr>
          <p:cNvPr id="12" name="Tarjeta"/>
          <p:cNvSpPr/>
          <p:nvPr/>
        </p:nvSpPr>
        <p:spPr>
          <a:xfrm>
            <a:off x="548640" y="3017520"/>
            <a:ext cx="5440680" cy="2971800"/>
          </a:xfrm>
          <a:prstGeom prst="roundRect">
            <a:avLst>
              <a:gd name="adj" fmla="val 3692"/>
            </a:avLst>
          </a:prstGeom>
          <a:solidFill>
            <a:srgbClr val="1C2447"/>
          </a:solidFill>
          <a:ln w="9525">
            <a:solidFill>
              <a:srgbClr val="2E3766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777240" y="312724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chemeClr val="accent2"/>
                </a:solidFill>
              </a:rPr>
              <a:t>PÚBLICO OBJETIVO</a:t>
            </a:r>
            <a:endParaRPr lang="en-US" sz="1150" dirty="0"/>
          </a:p>
        </p:txBody>
      </p:sp>
      <p:sp>
        <p:nvSpPr>
          <p:cNvPr id="14" name="Círculo ícono"/>
          <p:cNvSpPr/>
          <p:nvPr/>
        </p:nvSpPr>
        <p:spPr>
          <a:xfrm>
            <a:off x="777240" y="3593592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5" name="Image 0" descr="FaHeadphon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3730752"/>
            <a:ext cx="274320" cy="274320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1508760" y="3520440"/>
            <a:ext cx="4343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chemeClr val="bg1"/>
                </a:solidFill>
              </a:rPr>
              <a:t>18 a 35 años aprox.</a:t>
            </a:r>
            <a:endParaRPr lang="en-US" sz="1350" dirty="0"/>
          </a:p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Amantes de la música y los festivales; buscan una experiencia completa, segura y sin complicaciones de transporte.</a:t>
            </a:r>
            <a:endParaRPr lang="en-US" sz="1350" dirty="0"/>
          </a:p>
        </p:txBody>
      </p:sp>
      <p:sp>
        <p:nvSpPr>
          <p:cNvPr id="17" name="Círculo ícono"/>
          <p:cNvSpPr/>
          <p:nvPr/>
        </p:nvSpPr>
        <p:spPr>
          <a:xfrm>
            <a:off x="777240" y="48006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8" name="Image 1" descr="FaGlassCheer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4937760"/>
            <a:ext cx="274320" cy="274320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1508760" y="4727448"/>
            <a:ext cx="4343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chemeClr val="bg1"/>
                </a:solidFill>
              </a:rPr>
              <a:t>Hasta 45 años aprox.</a:t>
            </a:r>
            <a:endParaRPr lang="en-US" sz="1350" dirty="0"/>
          </a:p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Amigos o parejas de intereses especiales y culturales; panoramas de fin de semana, sunset en la zona lacustre y buena gastronomía local.</a:t>
            </a:r>
            <a:endParaRPr lang="en-US" sz="1350" dirty="0"/>
          </a:p>
        </p:txBody>
      </p:sp>
      <p:sp>
        <p:nvSpPr>
          <p:cNvPr id="20" name="Tarjeta"/>
          <p:cNvSpPr/>
          <p:nvPr/>
        </p:nvSpPr>
        <p:spPr>
          <a:xfrm>
            <a:off x="6172200" y="3017520"/>
            <a:ext cx="5440680" cy="2971800"/>
          </a:xfrm>
          <a:prstGeom prst="roundRect">
            <a:avLst>
              <a:gd name="adj" fmla="val 3692"/>
            </a:avLst>
          </a:prstGeom>
          <a:solidFill>
            <a:schemeClr val="tx2"/>
          </a:solidFill>
          <a:ln w="9525">
            <a:solidFill>
              <a:srgbClr val="2E3766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1" name="Text 17"/>
          <p:cNvSpPr txBox="1"/>
          <p:nvPr/>
        </p:nvSpPr>
        <p:spPr>
          <a:xfrm>
            <a:off x="6400800" y="312724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chemeClr val="accent2"/>
                </a:solidFill>
              </a:rPr>
              <a:t>PACK SOUND TRAVEL</a:t>
            </a:r>
            <a:endParaRPr lang="en-US" sz="1150" dirty="0"/>
          </a:p>
        </p:txBody>
      </p:sp>
      <p:sp>
        <p:nvSpPr>
          <p:cNvPr id="22" name="Círculo ícono"/>
          <p:cNvSpPr/>
          <p:nvPr/>
        </p:nvSpPr>
        <p:spPr>
          <a:xfrm>
            <a:off x="6400800" y="35661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3" name="Image 2" descr="FaShuttleVa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5100" y="3680460"/>
            <a:ext cx="228600" cy="228600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6949440" y="3520440"/>
            <a:ext cx="1965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bg1"/>
                </a:solidFill>
              </a:rPr>
              <a:t>Traslado ida y vuelta</a:t>
            </a:r>
            <a:endParaRPr lang="en-US" sz="1250" dirty="0"/>
          </a:p>
          <a:p>
            <a:pPr indent="0" marL="0">
              <a:buNone/>
            </a:pPr>
            <a:r>
              <a:rPr lang="en-US" sz="1050" dirty="0">
                <a:solidFill>
                  <a:schemeClr val="bg2"/>
                </a:solidFill>
              </a:rPr>
              <a:t>Minibuses y vans de 15 a 30 pasajeros</a:t>
            </a:r>
            <a:endParaRPr lang="en-US" sz="1250" dirty="0"/>
          </a:p>
        </p:txBody>
      </p:sp>
      <p:sp>
        <p:nvSpPr>
          <p:cNvPr id="25" name="Círculo ícono"/>
          <p:cNvSpPr/>
          <p:nvPr/>
        </p:nvSpPr>
        <p:spPr>
          <a:xfrm>
            <a:off x="9006840" y="35661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6" name="Image 3" descr="FaTicketAl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21140" y="3680460"/>
            <a:ext cx="228600" cy="228600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9555480" y="3520440"/>
            <a:ext cx="1965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bg1"/>
                </a:solidFill>
              </a:rPr>
              <a:t>Entrada asegurada</a:t>
            </a:r>
            <a:endParaRPr lang="en-US" sz="1250" dirty="0"/>
          </a:p>
          <a:p>
            <a:pPr indent="0" marL="0">
              <a:buNone/>
            </a:pPr>
            <a:r>
              <a:rPr lang="en-US" sz="1050" dirty="0">
                <a:solidFill>
                  <a:schemeClr val="bg2"/>
                </a:solidFill>
              </a:rPr>
              <a:t>Ticketeras oficiales: sin estafas ni reventa</a:t>
            </a:r>
            <a:endParaRPr lang="en-US" sz="1250" dirty="0"/>
          </a:p>
        </p:txBody>
      </p:sp>
      <p:sp>
        <p:nvSpPr>
          <p:cNvPr id="28" name="Círculo ícono"/>
          <p:cNvSpPr/>
          <p:nvPr/>
        </p:nvSpPr>
        <p:spPr>
          <a:xfrm>
            <a:off x="6400800" y="44805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9" name="Image 4" descr="FaUserFriends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15100" y="4594860"/>
            <a:ext cx="228600" cy="228600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6949440" y="4434840"/>
            <a:ext cx="1965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bg1"/>
                </a:solidFill>
              </a:rPr>
              <a:t>Asistencia de guía</a:t>
            </a:r>
            <a:endParaRPr lang="en-US" sz="1250" dirty="0"/>
          </a:p>
          <a:p>
            <a:pPr indent="0" marL="0">
              <a:buNone/>
            </a:pPr>
            <a:r>
              <a:rPr lang="en-US" sz="1050" dirty="0">
                <a:solidFill>
                  <a:schemeClr val="bg2"/>
                </a:solidFill>
              </a:rPr>
              <a:t>Lista, pulsera y acompañamiento</a:t>
            </a:r>
            <a:endParaRPr lang="en-US" sz="1250" dirty="0"/>
          </a:p>
        </p:txBody>
      </p:sp>
      <p:sp>
        <p:nvSpPr>
          <p:cNvPr id="31" name="Círculo ícono"/>
          <p:cNvSpPr/>
          <p:nvPr/>
        </p:nvSpPr>
        <p:spPr>
          <a:xfrm>
            <a:off x="9006840" y="44805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2" name="Image 5" descr="FaUtensils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21140" y="4594860"/>
            <a:ext cx="228600" cy="228600"/>
          </a:xfrm>
          <a:prstGeom prst="rect">
            <a:avLst/>
          </a:prstGeom>
        </p:spPr>
      </p:pic>
      <p:sp>
        <p:nvSpPr>
          <p:cNvPr id="33" name="Text 25"/>
          <p:cNvSpPr txBox="1"/>
          <p:nvPr/>
        </p:nvSpPr>
        <p:spPr>
          <a:xfrm>
            <a:off x="9555480" y="4434840"/>
            <a:ext cx="1965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bg1"/>
                </a:solidFill>
              </a:rPr>
              <a:t>Paradas gastronómicas</a:t>
            </a:r>
            <a:endParaRPr lang="en-US" sz="1250" dirty="0"/>
          </a:p>
          <a:p>
            <a:pPr indent="0" marL="0">
              <a:buNone/>
            </a:pPr>
            <a:r>
              <a:rPr lang="en-US" sz="1050" dirty="0">
                <a:solidFill>
                  <a:schemeClr val="bg2"/>
                </a:solidFill>
              </a:rPr>
              <a:t>Locales de Temuco y zona lacustre</a:t>
            </a:r>
            <a:endParaRPr lang="en-US" sz="1250" dirty="0"/>
          </a:p>
        </p:txBody>
      </p:sp>
      <p:sp>
        <p:nvSpPr>
          <p:cNvPr id="34" name="Text 26"/>
          <p:cNvSpPr txBox="1"/>
          <p:nvPr/>
        </p:nvSpPr>
        <p:spPr>
          <a:xfrm>
            <a:off x="6400800" y="534924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i="1" dirty="0">
                <a:solidFill>
                  <a:schemeClr val="accent6"/>
                </a:solidFill>
              </a:rPr>
              <a:t>“Llegar puntual, disfrutar tranquilo y volver seguro”  ·  Pack Evento · Sunset · Viajes a Concepción y Santiago</a:t>
            </a:r>
            <a:endParaRPr lang="en-US" sz="1150" dirty="0"/>
          </a:p>
        </p:txBody>
      </p:sp>
      <p:sp>
        <p:nvSpPr>
          <p:cNvPr id="35" name="Fuente"/>
          <p:cNvSpPr txBox="1"/>
          <p:nvPr/>
        </p:nvSpPr>
        <p:spPr>
          <a:xfrm>
            <a:off x="548640" y="6108192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chemeClr val="bg2"/>
                </a:solidFill>
              </a:rPr>
              <a:t>Fuente: Informe Operativo Sound Travel (2026), secc. 2.1 y 4. El informe no define precios ni volumen de ventas.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48640"/>
            <a:ext cx="9418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Estructura organizacional y recurso humano</a:t>
            </a:r>
            <a:endParaRPr lang="en-US" sz="2800" dirty="0"/>
          </a:p>
        </p:txBody>
      </p:sp>
      <p:sp>
        <p:nvSpPr>
          <p:cNvPr id="3" name="Kicker"/>
          <p:cNvSpPr txBox="1"/>
          <p:nvPr/>
        </p:nvSpPr>
        <p:spPr>
          <a:xfrm>
            <a:off x="548640" y="25603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2"/>
                </a:solidFill>
              </a:rPr>
              <a:t>INTEGRANTE 2  ·  CRITERIO 2.1.1  ·  ORGANIGRAMA JERÁRQUICO, ÁREAS Y CARGOS</a:t>
            </a:r>
            <a:endParaRPr lang="en-US" sz="1100" dirty="0"/>
          </a:p>
        </p:txBody>
      </p:sp>
      <p:sp>
        <p:nvSpPr>
          <p:cNvPr id="4" name="Insignia expositor"/>
          <p:cNvSpPr/>
          <p:nvPr/>
        </p:nvSpPr>
        <p:spPr>
          <a:xfrm>
            <a:off x="10104120" y="274320"/>
            <a:ext cx="1536192" cy="32918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104120" y="274320"/>
            <a:ext cx="1536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chemeClr val="bg1"/>
                </a:solidFill>
              </a:rPr>
              <a:t>INTEGRANTE 2</a:t>
            </a:r>
            <a:endParaRPr lang="en-US" sz="1050" dirty="0"/>
          </a:p>
        </p:txBody>
      </p:sp>
      <p:sp>
        <p:nvSpPr>
          <p:cNvPr id="6" name="Conector"/>
          <p:cNvSpPr/>
          <p:nvPr/>
        </p:nvSpPr>
        <p:spPr>
          <a:xfrm>
            <a:off x="6094476" y="2606040"/>
            <a:ext cx="0" cy="228600"/>
          </a:xfrm>
          <a:prstGeom prst="line">
            <a:avLst/>
          </a:prstGeom>
          <a:noFill/>
          <a:ln w="22225">
            <a:solidFill>
              <a:schemeClr val="bg2"/>
            </a:solidFill>
            <a:prstDash val="solid"/>
          </a:ln>
        </p:spPr>
      </p:sp>
      <p:sp>
        <p:nvSpPr>
          <p:cNvPr id="7" name="Conector"/>
          <p:cNvSpPr/>
          <p:nvPr/>
        </p:nvSpPr>
        <p:spPr>
          <a:xfrm>
            <a:off x="2308860" y="2834640"/>
            <a:ext cx="7571232" cy="0"/>
          </a:xfrm>
          <a:prstGeom prst="line">
            <a:avLst/>
          </a:prstGeom>
          <a:noFill/>
          <a:ln w="22225">
            <a:solidFill>
              <a:schemeClr val="bg2"/>
            </a:solidFill>
            <a:prstDash val="solid"/>
          </a:ln>
        </p:spPr>
      </p:sp>
      <p:sp>
        <p:nvSpPr>
          <p:cNvPr id="8" name="Conector"/>
          <p:cNvSpPr/>
          <p:nvPr/>
        </p:nvSpPr>
        <p:spPr>
          <a:xfrm>
            <a:off x="2308860" y="2834640"/>
            <a:ext cx="0" cy="182880"/>
          </a:xfrm>
          <a:prstGeom prst="line">
            <a:avLst/>
          </a:prstGeom>
          <a:noFill/>
          <a:ln w="22225">
            <a:solidFill>
              <a:schemeClr val="bg2"/>
            </a:solidFill>
            <a:prstDash val="solid"/>
          </a:ln>
        </p:spPr>
      </p:sp>
      <p:sp>
        <p:nvSpPr>
          <p:cNvPr id="9" name="Conector"/>
          <p:cNvSpPr/>
          <p:nvPr/>
        </p:nvSpPr>
        <p:spPr>
          <a:xfrm>
            <a:off x="6094476" y="2834640"/>
            <a:ext cx="0" cy="182880"/>
          </a:xfrm>
          <a:prstGeom prst="line">
            <a:avLst/>
          </a:prstGeom>
          <a:noFill/>
          <a:ln w="22225">
            <a:solidFill>
              <a:schemeClr val="bg2"/>
            </a:solidFill>
            <a:prstDash val="solid"/>
          </a:ln>
        </p:spPr>
      </p:sp>
      <p:sp>
        <p:nvSpPr>
          <p:cNvPr id="10" name="Conector"/>
          <p:cNvSpPr/>
          <p:nvPr/>
        </p:nvSpPr>
        <p:spPr>
          <a:xfrm>
            <a:off x="9880092" y="2834640"/>
            <a:ext cx="0" cy="182880"/>
          </a:xfrm>
          <a:prstGeom prst="line">
            <a:avLst/>
          </a:prstGeom>
          <a:noFill/>
          <a:ln w="22225">
            <a:solidFill>
              <a:schemeClr val="bg2"/>
            </a:solidFill>
            <a:prstDash val="solid"/>
          </a:ln>
        </p:spPr>
      </p:sp>
      <p:sp>
        <p:nvSpPr>
          <p:cNvPr id="11" name="Conector"/>
          <p:cNvSpPr/>
          <p:nvPr/>
        </p:nvSpPr>
        <p:spPr>
          <a:xfrm>
            <a:off x="2308860" y="4617720"/>
            <a:ext cx="0" cy="182880"/>
          </a:xfrm>
          <a:prstGeom prst="line">
            <a:avLst/>
          </a:prstGeom>
          <a:noFill/>
          <a:ln w="22225">
            <a:solidFill>
              <a:schemeClr val="bg2"/>
            </a:solidFill>
            <a:prstDash val="solid"/>
          </a:ln>
        </p:spPr>
      </p:sp>
      <p:sp>
        <p:nvSpPr>
          <p:cNvPr id="12" name="Tarjeta"/>
          <p:cNvSpPr/>
          <p:nvPr/>
        </p:nvSpPr>
        <p:spPr>
          <a:xfrm>
            <a:off x="3931920" y="1417320"/>
            <a:ext cx="4325112" cy="1188720"/>
          </a:xfrm>
          <a:prstGeom prst="roundRect">
            <a:avLst>
              <a:gd name="adj" fmla="val 9231"/>
            </a:avLst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3" name="Círculo ícono"/>
          <p:cNvSpPr/>
          <p:nvPr/>
        </p:nvSpPr>
        <p:spPr>
          <a:xfrm>
            <a:off x="4096512" y="1581912"/>
            <a:ext cx="475488" cy="475488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14" name="Image 0" descr="FaUserTi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15384" y="1700784"/>
            <a:ext cx="237744" cy="237744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4681728" y="1527048"/>
            <a:ext cx="34564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DIRECCIÓN GENERAL</a:t>
            </a:r>
            <a:endParaRPr lang="en-US" sz="1300" dirty="0"/>
          </a:p>
          <a:p>
            <a:pPr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Gerente General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4096512" y="2194560"/>
            <a:ext cx="40325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Planificación, alianzas con instituciones y productoras, y control del cumplimiento normativo.</a:t>
            </a:r>
            <a:endParaRPr lang="en-US" sz="1100" dirty="0"/>
          </a:p>
        </p:txBody>
      </p:sp>
      <p:sp>
        <p:nvSpPr>
          <p:cNvPr id="17" name="Tarjeta"/>
          <p:cNvSpPr/>
          <p:nvPr/>
        </p:nvSpPr>
        <p:spPr>
          <a:xfrm>
            <a:off x="548640" y="3017520"/>
            <a:ext cx="3520440" cy="1600200"/>
          </a:xfrm>
          <a:prstGeom prst="roundRect">
            <a:avLst>
              <a:gd name="adj" fmla="val 6857"/>
            </a:avLst>
          </a:prstGeom>
          <a:solidFill>
            <a:schemeClr val="tx2"/>
          </a:solidFill>
          <a:ln w="9525">
            <a:solidFill>
              <a:srgbClr val="2E3766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8" name="Círculo ícono"/>
          <p:cNvSpPr/>
          <p:nvPr/>
        </p:nvSpPr>
        <p:spPr>
          <a:xfrm>
            <a:off x="713232" y="3182112"/>
            <a:ext cx="475488" cy="47548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9" name="Image 1" descr="FaCog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" y="3300984"/>
            <a:ext cx="237744" cy="237744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1298448" y="3127248"/>
            <a:ext cx="2651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Operaciones y Logística</a:t>
            </a:r>
            <a:endParaRPr lang="en-US" sz="1300" dirty="0"/>
          </a:p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Jefe de Operaciones</a:t>
            </a:r>
            <a:endParaRPr lang="en-US" sz="1300" dirty="0"/>
          </a:p>
        </p:txBody>
      </p:sp>
      <p:sp>
        <p:nvSpPr>
          <p:cNvPr id="21" name="Text 17"/>
          <p:cNvSpPr txBox="1"/>
          <p:nvPr/>
        </p:nvSpPr>
        <p:spPr>
          <a:xfrm>
            <a:off x="713232" y="3794760"/>
            <a:ext cx="3227832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</a:rPr>
              <a:t>Rutas y tiempos de viaje, documentos y mantención de minibuses, planes de contingencia.</a:t>
            </a:r>
            <a:endParaRPr lang="en-US" sz="1100" dirty="0"/>
          </a:p>
        </p:txBody>
      </p:sp>
      <p:sp>
        <p:nvSpPr>
          <p:cNvPr id="22" name="Tarjeta"/>
          <p:cNvSpPr/>
          <p:nvPr/>
        </p:nvSpPr>
        <p:spPr>
          <a:xfrm>
            <a:off x="4334256" y="3017520"/>
            <a:ext cx="3520440" cy="1600200"/>
          </a:xfrm>
          <a:prstGeom prst="roundRect">
            <a:avLst>
              <a:gd name="adj" fmla="val 6857"/>
            </a:avLst>
          </a:prstGeom>
          <a:solidFill>
            <a:schemeClr val="tx2"/>
          </a:solidFill>
          <a:ln w="9525">
            <a:solidFill>
              <a:srgbClr val="2E3766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3" name="Círculo ícono"/>
          <p:cNvSpPr/>
          <p:nvPr/>
        </p:nvSpPr>
        <p:spPr>
          <a:xfrm>
            <a:off x="4498848" y="3182112"/>
            <a:ext cx="475488" cy="47548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4" name="Image 2" descr="FaBullhor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17720" y="3300984"/>
            <a:ext cx="237744" cy="237744"/>
          </a:xfrm>
          <a:prstGeom prst="rect">
            <a:avLst/>
          </a:prstGeom>
        </p:spPr>
      </p:pic>
      <p:sp>
        <p:nvSpPr>
          <p:cNvPr id="25" name="Text 20"/>
          <p:cNvSpPr txBox="1"/>
          <p:nvPr/>
        </p:nvSpPr>
        <p:spPr>
          <a:xfrm>
            <a:off x="5084064" y="3127248"/>
            <a:ext cx="2651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Comercial y Atención</a:t>
            </a:r>
            <a:endParaRPr lang="en-US" sz="1300" dirty="0"/>
          </a:p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Ventas / Community Manager</a:t>
            </a:r>
            <a:endParaRPr lang="en-US" sz="1300" dirty="0"/>
          </a:p>
        </p:txBody>
      </p:sp>
      <p:sp>
        <p:nvSpPr>
          <p:cNvPr id="26" name="Text 21"/>
          <p:cNvSpPr txBox="1"/>
          <p:nvPr/>
        </p:nvSpPr>
        <p:spPr>
          <a:xfrm>
            <a:off x="4498848" y="3794760"/>
            <a:ext cx="3227832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</a:rPr>
              <a:t>Consultas en redes, reservas de paquetes y contenido en Instagram y TikTok.</a:t>
            </a:r>
            <a:endParaRPr lang="en-US" sz="1100" dirty="0"/>
          </a:p>
        </p:txBody>
      </p:sp>
      <p:sp>
        <p:nvSpPr>
          <p:cNvPr id="27" name="Tarjeta"/>
          <p:cNvSpPr/>
          <p:nvPr/>
        </p:nvSpPr>
        <p:spPr>
          <a:xfrm>
            <a:off x="8119872" y="3017520"/>
            <a:ext cx="3520440" cy="1600200"/>
          </a:xfrm>
          <a:prstGeom prst="roundRect">
            <a:avLst>
              <a:gd name="adj" fmla="val 6857"/>
            </a:avLst>
          </a:prstGeom>
          <a:solidFill>
            <a:schemeClr val="tx2"/>
          </a:solidFill>
          <a:ln w="9525">
            <a:solidFill>
              <a:srgbClr val="2E3766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8" name="Círculo ícono"/>
          <p:cNvSpPr/>
          <p:nvPr/>
        </p:nvSpPr>
        <p:spPr>
          <a:xfrm>
            <a:off x="8284464" y="3182112"/>
            <a:ext cx="475488" cy="47548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9" name="Image 3" descr="FaCalculato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03336" y="3300984"/>
            <a:ext cx="237744" cy="237744"/>
          </a:xfrm>
          <a:prstGeom prst="rect">
            <a:avLst/>
          </a:prstGeom>
        </p:spPr>
      </p:pic>
      <p:sp>
        <p:nvSpPr>
          <p:cNvPr id="30" name="Text 24"/>
          <p:cNvSpPr txBox="1"/>
          <p:nvPr/>
        </p:nvSpPr>
        <p:spPr>
          <a:xfrm>
            <a:off x="8869680" y="3127248"/>
            <a:ext cx="2651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Administración y Finanzas</a:t>
            </a:r>
            <a:endParaRPr lang="en-US" sz="1300" dirty="0"/>
          </a:p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Contador / Administrativo</a:t>
            </a:r>
            <a:endParaRPr lang="en-US" sz="1300" dirty="0"/>
          </a:p>
        </p:txBody>
      </p:sp>
      <p:sp>
        <p:nvSpPr>
          <p:cNvPr id="31" name="Text 25"/>
          <p:cNvSpPr txBox="1"/>
          <p:nvPr/>
        </p:nvSpPr>
        <p:spPr>
          <a:xfrm>
            <a:off x="8284464" y="3794760"/>
            <a:ext cx="3227832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</a:rPr>
              <a:t>Contabilidad, boletas y facturas, presupuesto por salida y pagos a proveedores.</a:t>
            </a:r>
            <a:endParaRPr lang="en-US" sz="1100" dirty="0"/>
          </a:p>
        </p:txBody>
      </p:sp>
      <p:sp>
        <p:nvSpPr>
          <p:cNvPr id="32" name="Tarjeta"/>
          <p:cNvSpPr/>
          <p:nvPr/>
        </p:nvSpPr>
        <p:spPr>
          <a:xfrm>
            <a:off x="548640" y="4800600"/>
            <a:ext cx="3520440" cy="123444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 w="9525">
            <a:solidFill>
              <a:srgbClr val="2E3766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33" name="Círculo ícono"/>
          <p:cNvSpPr/>
          <p:nvPr/>
        </p:nvSpPr>
        <p:spPr>
          <a:xfrm>
            <a:off x="713232" y="4965192"/>
            <a:ext cx="475488" cy="47548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4" name="Image 4" descr="FaRout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2104" y="5084064"/>
            <a:ext cx="237744" cy="237744"/>
          </a:xfrm>
          <a:prstGeom prst="rect">
            <a:avLst/>
          </a:prstGeom>
        </p:spPr>
      </p:pic>
      <p:sp>
        <p:nvSpPr>
          <p:cNvPr id="35" name="Text 28"/>
          <p:cNvSpPr txBox="1"/>
          <p:nvPr/>
        </p:nvSpPr>
        <p:spPr>
          <a:xfrm>
            <a:off x="1298448" y="4910328"/>
            <a:ext cx="2651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Equipo de Terreno</a:t>
            </a:r>
            <a:endParaRPr lang="en-US" sz="1300" dirty="0"/>
          </a:p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Guías y conductores</a:t>
            </a:r>
            <a:endParaRPr lang="en-US" sz="1300" dirty="0"/>
          </a:p>
        </p:txBody>
      </p:sp>
      <p:sp>
        <p:nvSpPr>
          <p:cNvPr id="36" name="Text 29"/>
          <p:cNvSpPr txBox="1"/>
          <p:nvPr/>
        </p:nvSpPr>
        <p:spPr>
          <a:xfrm>
            <a:off x="713232" y="5577840"/>
            <a:ext cx="322783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</a:rPr>
              <a:t>Lista y pulseras al subir, acompañamiento al recinto, conducción prudente.</a:t>
            </a:r>
            <a:endParaRPr lang="en-US" sz="1100" dirty="0"/>
          </a:p>
        </p:txBody>
      </p:sp>
      <p:sp>
        <p:nvSpPr>
          <p:cNvPr id="37" name="Tarjeta"/>
          <p:cNvSpPr/>
          <p:nvPr/>
        </p:nvSpPr>
        <p:spPr>
          <a:xfrm>
            <a:off x="4334256" y="4800600"/>
            <a:ext cx="7306056" cy="1234440"/>
          </a:xfrm>
          <a:prstGeom prst="roundRect">
            <a:avLst>
              <a:gd name="adj" fmla="val 8889"/>
            </a:avLst>
          </a:prstGeom>
          <a:solidFill>
            <a:srgbClr val="1C2447"/>
          </a:solidFill>
          <a:ln w="9525">
            <a:solidFill>
              <a:srgbClr val="2E3766"/>
            </a:solidFill>
            <a:prstDash val="solid"/>
          </a:ln>
        </p:spPr>
      </p:sp>
      <p:sp>
        <p:nvSpPr>
          <p:cNvPr id="38" name="Text 31"/>
          <p:cNvSpPr txBox="1"/>
          <p:nvPr/>
        </p:nvSpPr>
        <p:spPr>
          <a:xfrm>
            <a:off x="4526280" y="4800600"/>
            <a:ext cx="69494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accent6"/>
                </a:solidFill>
              </a:rPr>
              <a:t>Cómo se lee: </a:t>
            </a:r>
            <a:pPr indent="0" marL="0">
              <a:buNone/>
            </a:pPr>
            <a:r>
              <a:rPr lang="en-US" sz="1250" dirty="0">
                <a:solidFill>
                  <a:schemeClr val="bg1"/>
                </a:solidFill>
              </a:rPr>
              <a:t>5 cargos en una estructura simple y vertical. El Equipo de Terreno depende de Operaciones, así quien planifica las rutas coordina directamente a quienes acompañan a los pasajeros.</a:t>
            </a:r>
            <a:endParaRPr lang="en-US" sz="1250" dirty="0"/>
          </a:p>
        </p:txBody>
      </p:sp>
      <p:sp>
        <p:nvSpPr>
          <p:cNvPr id="39" name="Fuente"/>
          <p:cNvSpPr txBox="1"/>
          <p:nvPr/>
        </p:nvSpPr>
        <p:spPr>
          <a:xfrm>
            <a:off x="548640" y="6108192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chemeClr val="bg2"/>
                </a:solidFill>
              </a:rPr>
              <a:t>Fuente: Informe Operativo Sound Travel (2026), secc. 3 (Figura 1) y 3.1. Rediseño gráfico de elaboración propia.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48640"/>
            <a:ext cx="9418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Organigrama funcional y procesos internos y externos</a:t>
            </a:r>
            <a:endParaRPr lang="en-US" sz="2800" dirty="0"/>
          </a:p>
        </p:txBody>
      </p:sp>
      <p:sp>
        <p:nvSpPr>
          <p:cNvPr id="3" name="Kicker"/>
          <p:cNvSpPr txBox="1"/>
          <p:nvPr/>
        </p:nvSpPr>
        <p:spPr>
          <a:xfrm>
            <a:off x="548640" y="25603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2"/>
                </a:solidFill>
              </a:rPr>
              <a:t>INTEGRANTE 2  ·  CRITERIO 2.1.1  ·  FUNCIONES Y CONEXIÓN CON EL ENTORNO</a:t>
            </a:r>
            <a:endParaRPr lang="en-US" sz="1100" dirty="0"/>
          </a:p>
        </p:txBody>
      </p:sp>
      <p:sp>
        <p:nvSpPr>
          <p:cNvPr id="4" name="Insignia expositor"/>
          <p:cNvSpPr/>
          <p:nvPr/>
        </p:nvSpPr>
        <p:spPr>
          <a:xfrm>
            <a:off x="10104120" y="274320"/>
            <a:ext cx="1536192" cy="32918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104120" y="274320"/>
            <a:ext cx="1536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chemeClr val="bg1"/>
                </a:solidFill>
              </a:rPr>
              <a:t>INTEGRANTE 2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41732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chemeClr val="accent2"/>
                </a:solidFill>
              </a:rPr>
              <a:t>ORGANIGRAMA FUNCIONAL · 4 FUNCIONES</a:t>
            </a:r>
            <a:endParaRPr lang="en-US" sz="1150" dirty="0"/>
          </a:p>
        </p:txBody>
      </p:sp>
      <p:sp>
        <p:nvSpPr>
          <p:cNvPr id="7" name="Tarjeta"/>
          <p:cNvSpPr/>
          <p:nvPr/>
        </p:nvSpPr>
        <p:spPr>
          <a:xfrm>
            <a:off x="548640" y="1783080"/>
            <a:ext cx="2651760" cy="2011680"/>
          </a:xfrm>
          <a:prstGeom prst="roundRect">
            <a:avLst>
              <a:gd name="adj" fmla="val 5455"/>
            </a:avLst>
          </a:prstGeom>
          <a:solidFill>
            <a:schemeClr val="tx2"/>
          </a:solidFill>
          <a:ln w="9525">
            <a:solidFill>
              <a:srgbClr val="2E3766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Círculo ícono"/>
          <p:cNvSpPr/>
          <p:nvPr/>
        </p:nvSpPr>
        <p:spPr>
          <a:xfrm>
            <a:off x="713232" y="1947672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9" name="Image 0" descr="FaChessK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7532" y="2061972"/>
            <a:ext cx="228600" cy="22860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1261872" y="1892808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bg1"/>
                </a:solidFill>
              </a:rPr>
              <a:t>Directiva</a:t>
            </a:r>
            <a:endParaRPr lang="en-US" sz="1350" dirty="0"/>
          </a:p>
          <a:p>
            <a:pPr indent="0" marL="0">
              <a:buNone/>
            </a:pPr>
            <a:r>
              <a:rPr lang="en-US" sz="1050" b="1" dirty="0">
                <a:solidFill>
                  <a:schemeClr val="accent2"/>
                </a:solidFill>
              </a:rPr>
              <a:t>Dirección General</a:t>
            </a:r>
            <a:endParaRPr lang="en-US" sz="1350" dirty="0"/>
          </a:p>
        </p:txBody>
      </p:sp>
      <p:sp>
        <p:nvSpPr>
          <p:cNvPr id="11" name="Text 8"/>
          <p:cNvSpPr txBox="1"/>
          <p:nvPr/>
        </p:nvSpPr>
        <p:spPr>
          <a:xfrm>
            <a:off x="713232" y="2560320"/>
            <a:ext cx="23591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bg2"/>
                </a:solidFill>
              </a:rPr>
              <a:t>Plan anual según calendario de conciertos, gestión de convenios (propuestos) y control legal.</a:t>
            </a:r>
            <a:endParaRPr lang="en-US" sz="1150" dirty="0"/>
          </a:p>
        </p:txBody>
      </p:sp>
      <p:sp>
        <p:nvSpPr>
          <p:cNvPr id="12" name="Tarjeta"/>
          <p:cNvSpPr/>
          <p:nvPr/>
        </p:nvSpPr>
        <p:spPr>
          <a:xfrm>
            <a:off x="3337560" y="1783080"/>
            <a:ext cx="2651760" cy="2011680"/>
          </a:xfrm>
          <a:prstGeom prst="roundRect">
            <a:avLst>
              <a:gd name="adj" fmla="val 5455"/>
            </a:avLst>
          </a:prstGeom>
          <a:solidFill>
            <a:schemeClr val="tx2"/>
          </a:solidFill>
          <a:ln w="9525">
            <a:solidFill>
              <a:srgbClr val="2E3766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3" name="Círculo ícono"/>
          <p:cNvSpPr/>
          <p:nvPr/>
        </p:nvSpPr>
        <p:spPr>
          <a:xfrm>
            <a:off x="3502152" y="1947672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4" name="Image 1" descr="FaTool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16452" y="2061972"/>
            <a:ext cx="228600" cy="228600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4050792" y="1892808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bg1"/>
                </a:solidFill>
              </a:rPr>
              <a:t>Operativa</a:t>
            </a:r>
            <a:endParaRPr lang="en-US" sz="1350" dirty="0"/>
          </a:p>
          <a:p>
            <a:pPr indent="0" marL="0">
              <a:buNone/>
            </a:pPr>
            <a:r>
              <a:rPr lang="en-US" sz="1050" b="1" dirty="0">
                <a:solidFill>
                  <a:schemeClr val="accent2"/>
                </a:solidFill>
              </a:rPr>
              <a:t>Operaciones y Terreno</a:t>
            </a:r>
            <a:endParaRPr lang="en-US" sz="1350" dirty="0"/>
          </a:p>
        </p:txBody>
      </p:sp>
      <p:sp>
        <p:nvSpPr>
          <p:cNvPr id="16" name="Text 12"/>
          <p:cNvSpPr txBox="1"/>
          <p:nvPr/>
        </p:nvSpPr>
        <p:spPr>
          <a:xfrm>
            <a:off x="3502152" y="2560320"/>
            <a:ext cx="23591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bg2"/>
                </a:solidFill>
              </a:rPr>
              <a:t>Rutas y puntos de encuentro, chequeo de minibuses, embarque y acompañamiento.</a:t>
            </a:r>
            <a:endParaRPr lang="en-US" sz="1150" dirty="0"/>
          </a:p>
        </p:txBody>
      </p:sp>
      <p:sp>
        <p:nvSpPr>
          <p:cNvPr id="17" name="Tarjeta"/>
          <p:cNvSpPr/>
          <p:nvPr/>
        </p:nvSpPr>
        <p:spPr>
          <a:xfrm>
            <a:off x="548640" y="3931920"/>
            <a:ext cx="2651760" cy="2011680"/>
          </a:xfrm>
          <a:prstGeom prst="roundRect">
            <a:avLst>
              <a:gd name="adj" fmla="val 5455"/>
            </a:avLst>
          </a:prstGeom>
          <a:solidFill>
            <a:schemeClr val="tx2"/>
          </a:solidFill>
          <a:ln w="9525">
            <a:solidFill>
              <a:srgbClr val="2E3766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8" name="Círculo ícono"/>
          <p:cNvSpPr/>
          <p:nvPr/>
        </p:nvSpPr>
        <p:spPr>
          <a:xfrm>
            <a:off x="713232" y="4096512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9" name="Image 2" descr="FaShoppingCar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7532" y="4210812"/>
            <a:ext cx="228600" cy="22860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1261872" y="4041648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bg1"/>
                </a:solidFill>
              </a:rPr>
              <a:t>Comercial</a:t>
            </a:r>
            <a:endParaRPr lang="en-US" sz="1350" dirty="0"/>
          </a:p>
          <a:p>
            <a:pPr indent="0" marL="0">
              <a:buNone/>
            </a:pPr>
            <a:r>
              <a:rPr lang="en-US" sz="1050" b="1" dirty="0">
                <a:solidFill>
                  <a:schemeClr val="accent2"/>
                </a:solidFill>
              </a:rPr>
              <a:t>Comercial y Ventas</a:t>
            </a:r>
            <a:endParaRPr lang="en-US" sz="1350" dirty="0"/>
          </a:p>
        </p:txBody>
      </p:sp>
      <p:sp>
        <p:nvSpPr>
          <p:cNvPr id="21" name="Text 16"/>
          <p:cNvSpPr txBox="1"/>
          <p:nvPr/>
        </p:nvSpPr>
        <p:spPr>
          <a:xfrm>
            <a:off x="713232" y="4709160"/>
            <a:ext cx="23591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bg2"/>
                </a:solidFill>
              </a:rPr>
              <a:t>Campañas del “Pack Evento”, cotizaciones por WhatsApp, ventas y vouchers.</a:t>
            </a:r>
            <a:endParaRPr lang="en-US" sz="1150" dirty="0"/>
          </a:p>
        </p:txBody>
      </p:sp>
      <p:sp>
        <p:nvSpPr>
          <p:cNvPr id="22" name="Tarjeta"/>
          <p:cNvSpPr/>
          <p:nvPr/>
        </p:nvSpPr>
        <p:spPr>
          <a:xfrm>
            <a:off x="3337560" y="3931920"/>
            <a:ext cx="2651760" cy="2011680"/>
          </a:xfrm>
          <a:prstGeom prst="roundRect">
            <a:avLst>
              <a:gd name="adj" fmla="val 5455"/>
            </a:avLst>
          </a:prstGeom>
          <a:solidFill>
            <a:schemeClr val="tx2"/>
          </a:solidFill>
          <a:ln w="9525">
            <a:solidFill>
              <a:srgbClr val="2E3766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3" name="Círculo ícono"/>
          <p:cNvSpPr/>
          <p:nvPr/>
        </p:nvSpPr>
        <p:spPr>
          <a:xfrm>
            <a:off x="3502152" y="4096512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4" name="Image 3" descr="FaFileInvoiceDolla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16452" y="4210812"/>
            <a:ext cx="228600" cy="228600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4050792" y="4041648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bg1"/>
                </a:solidFill>
              </a:rPr>
              <a:t>Administrativa</a:t>
            </a:r>
            <a:endParaRPr lang="en-US" sz="1350" dirty="0"/>
          </a:p>
          <a:p>
            <a:pPr indent="0" marL="0">
              <a:buNone/>
            </a:pPr>
            <a:r>
              <a:rPr lang="en-US" sz="1050" b="1" dirty="0">
                <a:solidFill>
                  <a:schemeClr val="accent2"/>
                </a:solidFill>
              </a:rPr>
              <a:t>Administración y Finanzas</a:t>
            </a:r>
            <a:endParaRPr lang="en-US" sz="1350" dirty="0"/>
          </a:p>
        </p:txBody>
      </p:sp>
      <p:sp>
        <p:nvSpPr>
          <p:cNvPr id="26" name="Text 20"/>
          <p:cNvSpPr txBox="1"/>
          <p:nvPr/>
        </p:nvSpPr>
        <p:spPr>
          <a:xfrm>
            <a:off x="3502152" y="4709160"/>
            <a:ext cx="23591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bg2"/>
                </a:solidFill>
              </a:rPr>
              <a:t>Pagos de reservas, liquidación de convenios B2B y balance por evento.</a:t>
            </a:r>
            <a:endParaRPr lang="en-US" sz="1150" dirty="0"/>
          </a:p>
        </p:txBody>
      </p:sp>
      <p:sp>
        <p:nvSpPr>
          <p:cNvPr id="27" name="Tarjeta"/>
          <p:cNvSpPr/>
          <p:nvPr/>
        </p:nvSpPr>
        <p:spPr>
          <a:xfrm>
            <a:off x="6263640" y="1417320"/>
            <a:ext cx="5349240" cy="2148840"/>
          </a:xfrm>
          <a:prstGeom prst="roundRect">
            <a:avLst>
              <a:gd name="adj" fmla="val 5106"/>
            </a:avLst>
          </a:prstGeom>
          <a:solidFill>
            <a:schemeClr val="tx2"/>
          </a:solidFill>
          <a:ln w="9525">
            <a:solidFill>
              <a:srgbClr val="2E3766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8" name="Text 22"/>
          <p:cNvSpPr txBox="1"/>
          <p:nvPr/>
        </p:nvSpPr>
        <p:spPr>
          <a:xfrm>
            <a:off x="6492240" y="1536192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chemeClr val="accent2"/>
                </a:solidFill>
              </a:rPr>
              <a:t>PROCESOS INTERNOS</a:t>
            </a:r>
            <a:endParaRPr lang="en-US" sz="1150" dirty="0"/>
          </a:p>
        </p:txBody>
      </p:sp>
      <p:sp>
        <p:nvSpPr>
          <p:cNvPr id="29" name="Text 23"/>
          <p:cNvSpPr txBox="1"/>
          <p:nvPr/>
        </p:nvSpPr>
        <p:spPr>
          <a:xfrm>
            <a:off x="6492240" y="1847088"/>
            <a:ext cx="4983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chemeClr val="bg1"/>
                </a:solidFill>
              </a:rPr>
              <a:t>Planificación de rutas, tiempos y puntos de encuentro</a:t>
            </a:r>
            <a:endParaRPr lang="en-US" sz="12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chemeClr val="bg1"/>
                </a:solidFill>
              </a:rPr>
              <a:t>Revisión de documentos y mantención de minibuses</a:t>
            </a:r>
            <a:endParaRPr lang="en-US" sz="12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chemeClr val="bg1"/>
                </a:solidFill>
              </a:rPr>
              <a:t>Reservas, nómina de pasajeros y vouchers</a:t>
            </a:r>
            <a:endParaRPr lang="en-US" sz="12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chemeClr val="bg1"/>
                </a:solidFill>
              </a:rPr>
              <a:t>Presupuesto, pagos y balance por evento</a:t>
            </a:r>
            <a:endParaRPr lang="en-US" sz="12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chemeClr val="bg1"/>
                </a:solidFill>
              </a:rPr>
              <a:t>Embarque, acompañamiento y retorno del grupo</a:t>
            </a:r>
            <a:endParaRPr lang="en-US" sz="1200" dirty="0"/>
          </a:p>
        </p:txBody>
      </p:sp>
      <p:sp>
        <p:nvSpPr>
          <p:cNvPr id="30" name="Flecha"/>
          <p:cNvSpPr/>
          <p:nvPr/>
        </p:nvSpPr>
        <p:spPr>
          <a:xfrm>
            <a:off x="8732520" y="3593592"/>
            <a:ext cx="411480" cy="457200"/>
          </a:xfrm>
          <a:prstGeom prst="upDownArrow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1" name="Tarjeta"/>
          <p:cNvSpPr/>
          <p:nvPr/>
        </p:nvSpPr>
        <p:spPr>
          <a:xfrm>
            <a:off x="6263640" y="4069080"/>
            <a:ext cx="5349240" cy="1920240"/>
          </a:xfrm>
          <a:prstGeom prst="roundRect">
            <a:avLst>
              <a:gd name="adj" fmla="val 5714"/>
            </a:avLst>
          </a:prstGeom>
          <a:solidFill>
            <a:srgbClr val="1C2447"/>
          </a:solidFill>
          <a:ln w="9525">
            <a:solidFill>
              <a:srgbClr val="2E3766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32" name="Text 26"/>
          <p:cNvSpPr txBox="1"/>
          <p:nvPr/>
        </p:nvSpPr>
        <p:spPr>
          <a:xfrm>
            <a:off x="6492240" y="417880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chemeClr val="accent2"/>
                </a:solidFill>
              </a:rPr>
              <a:t>PROCESOS EXTERNOS · TRES FRENTES</a:t>
            </a:r>
            <a:endParaRPr lang="en-US" sz="1150" dirty="0"/>
          </a:p>
        </p:txBody>
      </p:sp>
      <p:sp>
        <p:nvSpPr>
          <p:cNvPr id="33" name="Círculo ícono"/>
          <p:cNvSpPr/>
          <p:nvPr/>
        </p:nvSpPr>
        <p:spPr>
          <a:xfrm>
            <a:off x="6492240" y="4526280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4" name="Image 4" descr="FaHandshak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3680" y="4617720"/>
            <a:ext cx="182880" cy="182880"/>
          </a:xfrm>
          <a:prstGeom prst="rect">
            <a:avLst/>
          </a:prstGeom>
        </p:spPr>
      </p:pic>
      <p:sp>
        <p:nvSpPr>
          <p:cNvPr id="35" name="Text 28"/>
          <p:cNvSpPr txBox="1"/>
          <p:nvPr/>
        </p:nvSpPr>
        <p:spPr>
          <a:xfrm>
            <a:off x="6967728" y="4526280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Proveedores:</a:t>
            </a:r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 transporte, restaurantes y ticketeras</a:t>
            </a:r>
            <a:endParaRPr lang="en-US" sz="1200" dirty="0"/>
          </a:p>
        </p:txBody>
      </p:sp>
      <p:sp>
        <p:nvSpPr>
          <p:cNvPr id="36" name="Círculo ícono"/>
          <p:cNvSpPr/>
          <p:nvPr/>
        </p:nvSpPr>
        <p:spPr>
          <a:xfrm>
            <a:off x="6492240" y="4983480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7" name="Image 5" descr="FaLandmark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83680" y="5074920"/>
            <a:ext cx="182880" cy="182880"/>
          </a:xfrm>
          <a:prstGeom prst="rect">
            <a:avLst/>
          </a:prstGeom>
        </p:spPr>
      </p:pic>
      <p:sp>
        <p:nvSpPr>
          <p:cNvPr id="38" name="Text 30"/>
          <p:cNvSpPr txBox="1"/>
          <p:nvPr/>
        </p:nvSpPr>
        <p:spPr>
          <a:xfrm>
            <a:off x="6967728" y="4983480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Alianzas:</a:t>
            </a:r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 Municipalidad, SERNATUR, seguridad y Carabineros</a:t>
            </a:r>
            <a:endParaRPr lang="en-US" sz="1200" dirty="0"/>
          </a:p>
        </p:txBody>
      </p:sp>
      <p:sp>
        <p:nvSpPr>
          <p:cNvPr id="39" name="Círculo ícono"/>
          <p:cNvSpPr/>
          <p:nvPr/>
        </p:nvSpPr>
        <p:spPr>
          <a:xfrm>
            <a:off x="6492240" y="5440680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40" name="Image 6" descr="FaComments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83680" y="5532120"/>
            <a:ext cx="182880" cy="182880"/>
          </a:xfrm>
          <a:prstGeom prst="rect">
            <a:avLst/>
          </a:prstGeom>
        </p:spPr>
      </p:pic>
      <p:sp>
        <p:nvSpPr>
          <p:cNvPr id="41" name="Text 32"/>
          <p:cNvSpPr txBox="1"/>
          <p:nvPr/>
        </p:nvSpPr>
        <p:spPr>
          <a:xfrm>
            <a:off x="6967728" y="5440680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Clientes:</a:t>
            </a:r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 venta B2C por Instagram, TikTok, web y WhatsApp</a:t>
            </a:r>
            <a:endParaRPr lang="en-US" sz="1200" dirty="0"/>
          </a:p>
        </p:txBody>
      </p:sp>
      <p:sp>
        <p:nvSpPr>
          <p:cNvPr id="42" name="Fuente"/>
          <p:cNvSpPr txBox="1"/>
          <p:nvPr/>
        </p:nvSpPr>
        <p:spPr>
          <a:xfrm>
            <a:off x="548640" y="6108192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chemeClr val="bg2"/>
                </a:solidFill>
              </a:rPr>
              <a:t>Fuente: Informe Operativo Sound Travel (2026), secc. 3.2 y 4. Los convenios institucionales son una propuesta (empresa ficticia).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48640"/>
            <a:ext cx="9418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Diagrama de flujo del servicio en cinco etapas</a:t>
            </a:r>
            <a:endParaRPr lang="en-US" sz="2800" dirty="0"/>
          </a:p>
        </p:txBody>
      </p:sp>
      <p:sp>
        <p:nvSpPr>
          <p:cNvPr id="3" name="Kicker"/>
          <p:cNvSpPr txBox="1"/>
          <p:nvPr/>
        </p:nvSpPr>
        <p:spPr>
          <a:xfrm>
            <a:off x="548640" y="25603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2"/>
                </a:solidFill>
              </a:rPr>
              <a:t>INTEGRANTE 2  ·  CRITERIO 2.1.1  ·  MAPA DE PROCESOS EN CINCO ETAPAS</a:t>
            </a:r>
            <a:endParaRPr lang="en-US" sz="1100" dirty="0"/>
          </a:p>
        </p:txBody>
      </p:sp>
      <p:sp>
        <p:nvSpPr>
          <p:cNvPr id="4" name="Insignia expositor"/>
          <p:cNvSpPr/>
          <p:nvPr/>
        </p:nvSpPr>
        <p:spPr>
          <a:xfrm>
            <a:off x="10104120" y="274320"/>
            <a:ext cx="1536192" cy="32918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104120" y="274320"/>
            <a:ext cx="1536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chemeClr val="bg1"/>
                </a:solidFill>
              </a:rPr>
              <a:t>INTEGRANTE 2</a:t>
            </a:r>
            <a:endParaRPr lang="en-US" sz="1050" dirty="0"/>
          </a:p>
        </p:txBody>
      </p:sp>
      <p:sp>
        <p:nvSpPr>
          <p:cNvPr id="6" name="Fase"/>
          <p:cNvSpPr/>
          <p:nvPr/>
        </p:nvSpPr>
        <p:spPr>
          <a:xfrm>
            <a:off x="548640" y="1417320"/>
            <a:ext cx="4343400" cy="310896"/>
          </a:xfrm>
          <a:prstGeom prst="roundRect">
            <a:avLst>
              <a:gd name="adj" fmla="val 50000"/>
            </a:avLst>
          </a:prstGeom>
          <a:solidFill>
            <a:srgbClr val="1C2447"/>
          </a:solidFill>
          <a:ln w="12700">
            <a:solidFill>
              <a:srgbClr val="2E376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417320"/>
            <a:ext cx="4343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200" kern="0" dirty="0">
                <a:solidFill>
                  <a:schemeClr val="accent6"/>
                </a:solidFill>
              </a:rPr>
              <a:t>CAPTACIÓN</a:t>
            </a:r>
            <a:endParaRPr lang="en-US" sz="1050" dirty="0"/>
          </a:p>
        </p:txBody>
      </p:sp>
      <p:sp>
        <p:nvSpPr>
          <p:cNvPr id="8" name="Fase"/>
          <p:cNvSpPr/>
          <p:nvPr/>
        </p:nvSpPr>
        <p:spPr>
          <a:xfrm>
            <a:off x="5029200" y="1417320"/>
            <a:ext cx="2103120" cy="310896"/>
          </a:xfrm>
          <a:prstGeom prst="roundRect">
            <a:avLst>
              <a:gd name="adj" fmla="val 50000"/>
            </a:avLst>
          </a:prstGeom>
          <a:solidFill>
            <a:srgbClr val="1C2447"/>
          </a:solidFill>
          <a:ln w="12700">
            <a:solidFill>
              <a:srgbClr val="2E376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029200" y="141732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200" kern="0" dirty="0">
                <a:solidFill>
                  <a:schemeClr val="accent6"/>
                </a:solidFill>
              </a:rPr>
              <a:t>PREPARACIÓN</a:t>
            </a:r>
            <a:endParaRPr lang="en-US" sz="1050" dirty="0"/>
          </a:p>
        </p:txBody>
      </p:sp>
      <p:sp>
        <p:nvSpPr>
          <p:cNvPr id="10" name="Fase"/>
          <p:cNvSpPr/>
          <p:nvPr/>
        </p:nvSpPr>
        <p:spPr>
          <a:xfrm>
            <a:off x="7269480" y="1417320"/>
            <a:ext cx="2103120" cy="310896"/>
          </a:xfrm>
          <a:prstGeom prst="roundRect">
            <a:avLst>
              <a:gd name="adj" fmla="val 50000"/>
            </a:avLst>
          </a:prstGeom>
          <a:solidFill>
            <a:srgbClr val="1C2447"/>
          </a:solidFill>
          <a:ln w="12700">
            <a:solidFill>
              <a:srgbClr val="2E376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269480" y="141732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200" kern="0" dirty="0">
                <a:solidFill>
                  <a:schemeClr val="accent6"/>
                </a:solidFill>
              </a:rPr>
              <a:t>EJECUCIÓN</a:t>
            </a:r>
            <a:endParaRPr lang="en-US" sz="1050" dirty="0"/>
          </a:p>
        </p:txBody>
      </p:sp>
      <p:sp>
        <p:nvSpPr>
          <p:cNvPr id="12" name="Fase"/>
          <p:cNvSpPr/>
          <p:nvPr/>
        </p:nvSpPr>
        <p:spPr>
          <a:xfrm>
            <a:off x="9509760" y="1417320"/>
            <a:ext cx="2103120" cy="310896"/>
          </a:xfrm>
          <a:prstGeom prst="roundRect">
            <a:avLst>
              <a:gd name="adj" fmla="val 50000"/>
            </a:avLst>
          </a:prstGeom>
          <a:solidFill>
            <a:srgbClr val="1C2447"/>
          </a:solidFill>
          <a:ln w="12700">
            <a:solidFill>
              <a:srgbClr val="2E376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509760" y="141732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200" kern="0" dirty="0">
                <a:solidFill>
                  <a:schemeClr val="accent6"/>
                </a:solidFill>
              </a:rPr>
              <a:t>CIERRE</a:t>
            </a:r>
            <a:endParaRPr lang="en-US" sz="1050" dirty="0"/>
          </a:p>
        </p:txBody>
      </p:sp>
      <p:sp>
        <p:nvSpPr>
          <p:cNvPr id="14" name="Etapa 1"/>
          <p:cNvSpPr/>
          <p:nvPr/>
        </p:nvSpPr>
        <p:spPr>
          <a:xfrm>
            <a:off x="548640" y="1874520"/>
            <a:ext cx="2103120" cy="777240"/>
          </a:xfrm>
          <a:prstGeom prst="homePlate">
            <a:avLst/>
          </a:prstGeom>
          <a:solidFill>
            <a:schemeClr val="accent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85800" y="1874520"/>
            <a:ext cx="1463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ETAPA 1</a:t>
            </a:r>
            <a:endParaRPr lang="en-US" sz="1400" dirty="0"/>
          </a:p>
        </p:txBody>
      </p:sp>
      <p:sp>
        <p:nvSpPr>
          <p:cNvPr id="16" name="Tarjeta"/>
          <p:cNvSpPr/>
          <p:nvPr/>
        </p:nvSpPr>
        <p:spPr>
          <a:xfrm>
            <a:off x="548640" y="2834640"/>
            <a:ext cx="2103120" cy="2743200"/>
          </a:xfrm>
          <a:prstGeom prst="roundRect">
            <a:avLst>
              <a:gd name="adj" fmla="val 5217"/>
            </a:avLst>
          </a:prstGeom>
          <a:solidFill>
            <a:schemeClr val="tx2"/>
          </a:solidFill>
          <a:ln w="9525">
            <a:solidFill>
              <a:srgbClr val="2E3766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7" name="Círculo ícono"/>
          <p:cNvSpPr/>
          <p:nvPr/>
        </p:nvSpPr>
        <p:spPr>
          <a:xfrm>
            <a:off x="731520" y="2999232"/>
            <a:ext cx="502920" cy="502920"/>
          </a:xfrm>
          <a:prstGeom prst="ellipse">
            <a:avLst/>
          </a:prstGeom>
          <a:solidFill>
            <a:srgbClr val="1C2447"/>
          </a:solidFill>
          <a:ln w="12700">
            <a:solidFill>
              <a:srgbClr val="1C2447"/>
            </a:solidFill>
            <a:prstDash val="solid"/>
          </a:ln>
        </p:spPr>
      </p:sp>
      <p:pic>
        <p:nvPicPr>
          <p:cNvPr id="18" name="Image 0" descr="FaBullhor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7250" y="3124962"/>
            <a:ext cx="251460" cy="251460"/>
          </a:xfrm>
          <a:prstGeom prst="rect">
            <a:avLst/>
          </a:prstGeom>
        </p:spPr>
      </p:pic>
      <p:sp>
        <p:nvSpPr>
          <p:cNvPr id="19" name="Text 16"/>
          <p:cNvSpPr txBox="1"/>
          <p:nvPr/>
        </p:nvSpPr>
        <p:spPr>
          <a:xfrm>
            <a:off x="731520" y="3611880"/>
            <a:ext cx="1783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Difusión y marketing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731520" y="420624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“Pack Evento” en Instagram y TikTok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731520" y="4800600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2"/>
                </a:solidFill>
              </a:rPr>
              <a:t>Responsable</a:t>
            </a:r>
            <a:endParaRPr lang="en-US" sz="1000" dirty="0"/>
          </a:p>
          <a:p>
            <a:pPr indent="0" marL="0">
              <a:buNone/>
            </a:pPr>
            <a:r>
              <a:rPr lang="en-US" sz="1150" dirty="0">
                <a:solidFill>
                  <a:schemeClr val="bg1"/>
                </a:solidFill>
              </a:rPr>
              <a:t>Comercial</a:t>
            </a:r>
            <a:endParaRPr lang="en-US" sz="1000" dirty="0"/>
          </a:p>
        </p:txBody>
      </p:sp>
      <p:sp>
        <p:nvSpPr>
          <p:cNvPr id="22" name="Etapa 2"/>
          <p:cNvSpPr/>
          <p:nvPr/>
        </p:nvSpPr>
        <p:spPr>
          <a:xfrm>
            <a:off x="2788920" y="1874520"/>
            <a:ext cx="2103120" cy="777240"/>
          </a:xfrm>
          <a:prstGeom prst="chevron">
            <a:avLst/>
          </a:prstGeom>
          <a:solidFill>
            <a:schemeClr val="accent3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3108960" y="1874520"/>
            <a:ext cx="1463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ETAPA 2</a:t>
            </a:r>
            <a:endParaRPr lang="en-US" sz="1400" dirty="0"/>
          </a:p>
        </p:txBody>
      </p:sp>
      <p:sp>
        <p:nvSpPr>
          <p:cNvPr id="24" name="Tarjeta"/>
          <p:cNvSpPr/>
          <p:nvPr/>
        </p:nvSpPr>
        <p:spPr>
          <a:xfrm>
            <a:off x="2788920" y="2834640"/>
            <a:ext cx="2103120" cy="2743200"/>
          </a:xfrm>
          <a:prstGeom prst="roundRect">
            <a:avLst>
              <a:gd name="adj" fmla="val 5217"/>
            </a:avLst>
          </a:prstGeom>
          <a:solidFill>
            <a:schemeClr val="tx2"/>
          </a:solidFill>
          <a:ln w="9525">
            <a:solidFill>
              <a:srgbClr val="2E3766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5" name="Círculo ícono"/>
          <p:cNvSpPr/>
          <p:nvPr/>
        </p:nvSpPr>
        <p:spPr>
          <a:xfrm>
            <a:off x="2971800" y="2999232"/>
            <a:ext cx="502920" cy="502920"/>
          </a:xfrm>
          <a:prstGeom prst="ellipse">
            <a:avLst/>
          </a:prstGeom>
          <a:solidFill>
            <a:srgbClr val="1C2447"/>
          </a:solidFill>
          <a:ln w="12700">
            <a:solidFill>
              <a:srgbClr val="1C2447"/>
            </a:solidFill>
            <a:prstDash val="solid"/>
          </a:ln>
        </p:spPr>
      </p:sp>
      <p:pic>
        <p:nvPicPr>
          <p:cNvPr id="26" name="Image 1" descr="FaComment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97530" y="3124962"/>
            <a:ext cx="251460" cy="251460"/>
          </a:xfrm>
          <a:prstGeom prst="rect">
            <a:avLst/>
          </a:prstGeom>
        </p:spPr>
      </p:pic>
      <p:sp>
        <p:nvSpPr>
          <p:cNvPr id="27" name="Text 23"/>
          <p:cNvSpPr txBox="1"/>
          <p:nvPr/>
        </p:nvSpPr>
        <p:spPr>
          <a:xfrm>
            <a:off x="2971800" y="3611880"/>
            <a:ext cx="1783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Consulta, cotización y venta</a:t>
            </a:r>
            <a:endParaRPr lang="en-US" sz="1400" dirty="0"/>
          </a:p>
        </p:txBody>
      </p:sp>
      <p:sp>
        <p:nvSpPr>
          <p:cNvPr id="28" name="Text 24"/>
          <p:cNvSpPr txBox="1"/>
          <p:nvPr/>
        </p:nvSpPr>
        <p:spPr>
          <a:xfrm>
            <a:off x="2971800" y="420624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Web y WhatsApp; envío de voucher</a:t>
            </a:r>
            <a:endParaRPr lang="en-US" sz="1200" dirty="0"/>
          </a:p>
        </p:txBody>
      </p:sp>
      <p:sp>
        <p:nvSpPr>
          <p:cNvPr id="29" name="Text 25"/>
          <p:cNvSpPr txBox="1"/>
          <p:nvPr/>
        </p:nvSpPr>
        <p:spPr>
          <a:xfrm>
            <a:off x="2971800" y="4800600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2"/>
                </a:solidFill>
              </a:rPr>
              <a:t>Responsable</a:t>
            </a:r>
            <a:endParaRPr lang="en-US" sz="1000" dirty="0"/>
          </a:p>
          <a:p>
            <a:pPr indent="0" marL="0">
              <a:buNone/>
            </a:pPr>
            <a:r>
              <a:rPr lang="en-US" sz="1150" dirty="0">
                <a:solidFill>
                  <a:schemeClr val="bg1"/>
                </a:solidFill>
              </a:rPr>
              <a:t>Comercial · Administración</a:t>
            </a:r>
            <a:endParaRPr lang="en-US" sz="1000" dirty="0"/>
          </a:p>
        </p:txBody>
      </p:sp>
      <p:sp>
        <p:nvSpPr>
          <p:cNvPr id="30" name="Etapa 3"/>
          <p:cNvSpPr/>
          <p:nvPr/>
        </p:nvSpPr>
        <p:spPr>
          <a:xfrm>
            <a:off x="5029200" y="1874520"/>
            <a:ext cx="2103120" cy="777240"/>
          </a:xfrm>
          <a:prstGeom prst="chevron">
            <a:avLst/>
          </a:prstGeom>
          <a:solidFill>
            <a:schemeClr val="accent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5349240" y="1874520"/>
            <a:ext cx="1463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ETAPA 3</a:t>
            </a:r>
            <a:endParaRPr lang="en-US" sz="1400" dirty="0"/>
          </a:p>
        </p:txBody>
      </p:sp>
      <p:sp>
        <p:nvSpPr>
          <p:cNvPr id="32" name="Tarjeta"/>
          <p:cNvSpPr/>
          <p:nvPr/>
        </p:nvSpPr>
        <p:spPr>
          <a:xfrm>
            <a:off x="5029200" y="2834640"/>
            <a:ext cx="2103120" cy="2743200"/>
          </a:xfrm>
          <a:prstGeom prst="roundRect">
            <a:avLst>
              <a:gd name="adj" fmla="val 5217"/>
            </a:avLst>
          </a:prstGeom>
          <a:solidFill>
            <a:schemeClr val="tx2"/>
          </a:solidFill>
          <a:ln w="9525">
            <a:solidFill>
              <a:srgbClr val="2E3766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33" name="Círculo ícono"/>
          <p:cNvSpPr/>
          <p:nvPr/>
        </p:nvSpPr>
        <p:spPr>
          <a:xfrm>
            <a:off x="5212080" y="2999232"/>
            <a:ext cx="502920" cy="502920"/>
          </a:xfrm>
          <a:prstGeom prst="ellipse">
            <a:avLst/>
          </a:prstGeom>
          <a:solidFill>
            <a:srgbClr val="1C2447"/>
          </a:solidFill>
          <a:ln w="12700">
            <a:solidFill>
              <a:srgbClr val="1C2447"/>
            </a:solidFill>
            <a:prstDash val="solid"/>
          </a:ln>
        </p:spPr>
      </p:sp>
      <p:pic>
        <p:nvPicPr>
          <p:cNvPr id="34" name="Image 2" descr="FaClipboardLis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7810" y="3124962"/>
            <a:ext cx="251460" cy="251460"/>
          </a:xfrm>
          <a:prstGeom prst="rect">
            <a:avLst/>
          </a:prstGeom>
        </p:spPr>
      </p:pic>
      <p:sp>
        <p:nvSpPr>
          <p:cNvPr id="35" name="Text 30"/>
          <p:cNvSpPr txBox="1"/>
          <p:nvPr/>
        </p:nvSpPr>
        <p:spPr>
          <a:xfrm>
            <a:off x="5212080" y="3611880"/>
            <a:ext cx="1783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Coordinación logística interna</a:t>
            </a:r>
            <a:endParaRPr lang="en-US" sz="1400" dirty="0"/>
          </a:p>
        </p:txBody>
      </p:sp>
      <p:sp>
        <p:nvSpPr>
          <p:cNvPr id="36" name="Text 31"/>
          <p:cNvSpPr txBox="1"/>
          <p:nvPr/>
        </p:nvSpPr>
        <p:spPr>
          <a:xfrm>
            <a:off x="5212080" y="420624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Se bloquean asientos, comidas y entradas</a:t>
            </a:r>
            <a:endParaRPr lang="en-US" sz="1200" dirty="0"/>
          </a:p>
        </p:txBody>
      </p:sp>
      <p:sp>
        <p:nvSpPr>
          <p:cNvPr id="37" name="Text 32"/>
          <p:cNvSpPr txBox="1"/>
          <p:nvPr/>
        </p:nvSpPr>
        <p:spPr>
          <a:xfrm>
            <a:off x="5212080" y="4800600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2"/>
                </a:solidFill>
              </a:rPr>
              <a:t>Responsable</a:t>
            </a:r>
            <a:endParaRPr lang="en-US" sz="1000" dirty="0"/>
          </a:p>
          <a:p>
            <a:pPr indent="0" marL="0">
              <a:buNone/>
            </a:pPr>
            <a:r>
              <a:rPr lang="en-US" sz="1150" dirty="0">
                <a:solidFill>
                  <a:schemeClr val="bg1"/>
                </a:solidFill>
              </a:rPr>
              <a:t>Operaciones · Administración</a:t>
            </a:r>
            <a:endParaRPr lang="en-US" sz="1000" dirty="0"/>
          </a:p>
        </p:txBody>
      </p:sp>
      <p:sp>
        <p:nvSpPr>
          <p:cNvPr id="38" name="Etapa 4"/>
          <p:cNvSpPr/>
          <p:nvPr/>
        </p:nvSpPr>
        <p:spPr>
          <a:xfrm>
            <a:off x="7269480" y="1874520"/>
            <a:ext cx="2103120" cy="777240"/>
          </a:xfrm>
          <a:prstGeom prst="chevron">
            <a:avLst/>
          </a:prstGeom>
          <a:solidFill>
            <a:schemeClr val="accent3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39" name="Text 34"/>
          <p:cNvSpPr txBox="1"/>
          <p:nvPr/>
        </p:nvSpPr>
        <p:spPr>
          <a:xfrm>
            <a:off x="7589520" y="1874520"/>
            <a:ext cx="1463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ETAPA 4</a:t>
            </a:r>
            <a:endParaRPr lang="en-US" sz="1400" dirty="0"/>
          </a:p>
        </p:txBody>
      </p:sp>
      <p:sp>
        <p:nvSpPr>
          <p:cNvPr id="40" name="Tarjeta"/>
          <p:cNvSpPr/>
          <p:nvPr/>
        </p:nvSpPr>
        <p:spPr>
          <a:xfrm>
            <a:off x="7269480" y="2834640"/>
            <a:ext cx="2103120" cy="2743200"/>
          </a:xfrm>
          <a:prstGeom prst="roundRect">
            <a:avLst>
              <a:gd name="adj" fmla="val 5217"/>
            </a:avLst>
          </a:prstGeom>
          <a:solidFill>
            <a:schemeClr val="tx2"/>
          </a:solidFill>
          <a:ln w="9525">
            <a:solidFill>
              <a:srgbClr val="2E3766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41" name="Círculo ícono"/>
          <p:cNvSpPr/>
          <p:nvPr/>
        </p:nvSpPr>
        <p:spPr>
          <a:xfrm>
            <a:off x="7452360" y="2999232"/>
            <a:ext cx="502920" cy="502920"/>
          </a:xfrm>
          <a:prstGeom prst="ellipse">
            <a:avLst/>
          </a:prstGeom>
          <a:solidFill>
            <a:srgbClr val="1C2447"/>
          </a:solidFill>
          <a:ln w="12700">
            <a:solidFill>
              <a:srgbClr val="1C2447"/>
            </a:solidFill>
            <a:prstDash val="solid"/>
          </a:ln>
        </p:spPr>
      </p:sp>
      <p:pic>
        <p:nvPicPr>
          <p:cNvPr id="42" name="Image 3" descr="FaShuttleVa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78090" y="3124962"/>
            <a:ext cx="251460" cy="251460"/>
          </a:xfrm>
          <a:prstGeom prst="rect">
            <a:avLst/>
          </a:prstGeom>
        </p:spPr>
      </p:pic>
      <p:sp>
        <p:nvSpPr>
          <p:cNvPr id="43" name="Text 37"/>
          <p:cNvSpPr txBox="1"/>
          <p:nvPr/>
        </p:nvSpPr>
        <p:spPr>
          <a:xfrm>
            <a:off x="7452360" y="3611880"/>
            <a:ext cx="1783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Traslado y acompañamiento</a:t>
            </a:r>
            <a:endParaRPr lang="en-US" sz="1400" dirty="0"/>
          </a:p>
        </p:txBody>
      </p:sp>
      <p:sp>
        <p:nvSpPr>
          <p:cNvPr id="44" name="Text 38"/>
          <p:cNvSpPr txBox="1"/>
          <p:nvPr/>
        </p:nvSpPr>
        <p:spPr>
          <a:xfrm>
            <a:off x="7452360" y="420624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Embarque, ruta y acceso al recinto</a:t>
            </a:r>
            <a:endParaRPr lang="en-US" sz="1200" dirty="0"/>
          </a:p>
        </p:txBody>
      </p:sp>
      <p:sp>
        <p:nvSpPr>
          <p:cNvPr id="45" name="Text 39"/>
          <p:cNvSpPr txBox="1"/>
          <p:nvPr/>
        </p:nvSpPr>
        <p:spPr>
          <a:xfrm>
            <a:off x="7452360" y="4800600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2"/>
                </a:solidFill>
              </a:rPr>
              <a:t>Responsable</a:t>
            </a:r>
            <a:endParaRPr lang="en-US" sz="1000" dirty="0"/>
          </a:p>
          <a:p>
            <a:pPr indent="0" marL="0">
              <a:buNone/>
            </a:pPr>
            <a:r>
              <a:rPr lang="en-US" sz="1150" dirty="0">
                <a:solidFill>
                  <a:schemeClr val="bg1"/>
                </a:solidFill>
              </a:rPr>
              <a:t>Guías y conductores</a:t>
            </a:r>
            <a:endParaRPr lang="en-US" sz="1000" dirty="0"/>
          </a:p>
        </p:txBody>
      </p:sp>
      <p:sp>
        <p:nvSpPr>
          <p:cNvPr id="46" name="Etapa 5"/>
          <p:cNvSpPr/>
          <p:nvPr/>
        </p:nvSpPr>
        <p:spPr>
          <a:xfrm>
            <a:off x="9509760" y="1874520"/>
            <a:ext cx="2103120" cy="777240"/>
          </a:xfrm>
          <a:prstGeom prst="chevron">
            <a:avLst/>
          </a:prstGeom>
          <a:solidFill>
            <a:schemeClr val="accent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47" name="Text 41"/>
          <p:cNvSpPr txBox="1"/>
          <p:nvPr/>
        </p:nvSpPr>
        <p:spPr>
          <a:xfrm>
            <a:off x="9829800" y="1874520"/>
            <a:ext cx="1463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ETAPA 5</a:t>
            </a:r>
            <a:endParaRPr lang="en-US" sz="1400" dirty="0"/>
          </a:p>
        </p:txBody>
      </p:sp>
      <p:sp>
        <p:nvSpPr>
          <p:cNvPr id="48" name="Tarjeta"/>
          <p:cNvSpPr/>
          <p:nvPr/>
        </p:nvSpPr>
        <p:spPr>
          <a:xfrm>
            <a:off x="9509760" y="2834640"/>
            <a:ext cx="2103120" cy="2743200"/>
          </a:xfrm>
          <a:prstGeom prst="roundRect">
            <a:avLst>
              <a:gd name="adj" fmla="val 5217"/>
            </a:avLst>
          </a:prstGeom>
          <a:solidFill>
            <a:schemeClr val="tx2"/>
          </a:solidFill>
          <a:ln w="9525">
            <a:solidFill>
              <a:srgbClr val="2E3766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49" name="Círculo ícono"/>
          <p:cNvSpPr/>
          <p:nvPr/>
        </p:nvSpPr>
        <p:spPr>
          <a:xfrm>
            <a:off x="9692640" y="2999232"/>
            <a:ext cx="502920" cy="502920"/>
          </a:xfrm>
          <a:prstGeom prst="ellipse">
            <a:avLst/>
          </a:prstGeom>
          <a:solidFill>
            <a:srgbClr val="1C2447"/>
          </a:solidFill>
          <a:ln w="12700">
            <a:solidFill>
              <a:srgbClr val="1C2447"/>
            </a:solidFill>
            <a:prstDash val="solid"/>
          </a:ln>
        </p:spPr>
      </p:sp>
      <p:pic>
        <p:nvPicPr>
          <p:cNvPr id="50" name="Image 4" descr="FaHom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18370" y="3124962"/>
            <a:ext cx="251460" cy="251460"/>
          </a:xfrm>
          <a:prstGeom prst="rect">
            <a:avLst/>
          </a:prstGeom>
        </p:spPr>
      </p:pic>
      <p:sp>
        <p:nvSpPr>
          <p:cNvPr id="51" name="Text 44"/>
          <p:cNvSpPr txBox="1"/>
          <p:nvPr/>
        </p:nvSpPr>
        <p:spPr>
          <a:xfrm>
            <a:off x="9692640" y="3611880"/>
            <a:ext cx="1783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Retorno seguro y evaluación</a:t>
            </a:r>
            <a:endParaRPr lang="en-US" sz="1400" dirty="0"/>
          </a:p>
        </p:txBody>
      </p:sp>
      <p:sp>
        <p:nvSpPr>
          <p:cNvPr id="52" name="Text 45"/>
          <p:cNvSpPr txBox="1"/>
          <p:nvPr/>
        </p:nvSpPr>
        <p:spPr>
          <a:xfrm>
            <a:off x="9692640" y="420624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Regreso a Temuco y encuesta de calidad</a:t>
            </a:r>
            <a:endParaRPr lang="en-US" sz="1200" dirty="0"/>
          </a:p>
        </p:txBody>
      </p:sp>
      <p:sp>
        <p:nvSpPr>
          <p:cNvPr id="53" name="Text 46"/>
          <p:cNvSpPr txBox="1"/>
          <p:nvPr/>
        </p:nvSpPr>
        <p:spPr>
          <a:xfrm>
            <a:off x="9692640" y="4800600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2"/>
                </a:solidFill>
              </a:rPr>
              <a:t>Responsable</a:t>
            </a:r>
            <a:endParaRPr lang="en-US" sz="1000" dirty="0"/>
          </a:p>
          <a:p>
            <a:pPr indent="0" marL="0">
              <a:buNone/>
            </a:pPr>
            <a:r>
              <a:rPr lang="en-US" sz="1150" dirty="0">
                <a:solidFill>
                  <a:schemeClr val="bg1"/>
                </a:solidFill>
              </a:rPr>
              <a:t>Terreno · (encuesta*)</a:t>
            </a:r>
            <a:endParaRPr lang="en-US" sz="1000" dirty="0"/>
          </a:p>
        </p:txBody>
      </p:sp>
      <p:sp>
        <p:nvSpPr>
          <p:cNvPr id="54" name="Conector"/>
          <p:cNvSpPr/>
          <p:nvPr/>
        </p:nvSpPr>
        <p:spPr>
          <a:xfrm>
            <a:off x="10287000" y="5577840"/>
            <a:ext cx="0" cy="256032"/>
          </a:xfrm>
          <a:prstGeom prst="line">
            <a:avLst/>
          </a:prstGeom>
          <a:noFill/>
          <a:ln w="22225">
            <a:solidFill>
              <a:schemeClr val="accent5"/>
            </a:solidFill>
            <a:prstDash val="solid"/>
          </a:ln>
        </p:spPr>
      </p:sp>
      <p:sp>
        <p:nvSpPr>
          <p:cNvPr id="55" name="Conector"/>
          <p:cNvSpPr/>
          <p:nvPr/>
        </p:nvSpPr>
        <p:spPr>
          <a:xfrm flipH="1">
            <a:off x="1600200" y="5833872"/>
            <a:ext cx="8686800" cy="0"/>
          </a:xfrm>
          <a:prstGeom prst="line">
            <a:avLst/>
          </a:prstGeom>
          <a:noFill/>
          <a:ln w="22225">
            <a:solidFill>
              <a:schemeClr val="accent5"/>
            </a:solidFill>
            <a:prstDash val="solid"/>
          </a:ln>
        </p:spPr>
      </p:sp>
      <p:sp>
        <p:nvSpPr>
          <p:cNvPr id="56" name="Conector"/>
          <p:cNvSpPr/>
          <p:nvPr/>
        </p:nvSpPr>
        <p:spPr>
          <a:xfrm flipV="1">
            <a:off x="1600200" y="5577840"/>
            <a:ext cx="0" cy="256032"/>
          </a:xfrm>
          <a:prstGeom prst="line">
            <a:avLst/>
          </a:prstGeom>
          <a:noFill/>
          <a:ln w="22225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57" name="Text 50"/>
          <p:cNvSpPr txBox="1"/>
          <p:nvPr/>
        </p:nvSpPr>
        <p:spPr>
          <a:xfrm>
            <a:off x="2926080" y="5669280"/>
            <a:ext cx="6309360" cy="274320"/>
          </a:xfrm>
          <a:prstGeom prst="rect">
            <a:avLst/>
          </a:prstGeom>
          <a:solidFill>
            <a:schemeClr val="tx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5"/>
                </a:solidFill>
              </a:rPr>
              <a:t>Mejora continua: la encuesta post-evento retroalimenta las próximas salidas</a:t>
            </a:r>
            <a:endParaRPr lang="en-US" sz="1100" dirty="0"/>
          </a:p>
        </p:txBody>
      </p:sp>
      <p:sp>
        <p:nvSpPr>
          <p:cNvPr id="58" name="Fuente"/>
          <p:cNvSpPr txBox="1"/>
          <p:nvPr/>
        </p:nvSpPr>
        <p:spPr>
          <a:xfrm>
            <a:off x="548640" y="614476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chemeClr val="bg2"/>
                </a:solidFill>
              </a:rPr>
              <a:t>Fuente: Informe Operativo Sound Travel (2026), secc. 4.1, Figura 2. Responsables deducidos de las secc. 3.1 y 6.1. *El informe no asigna responsable a la encuesta.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48640"/>
            <a:ext cx="9418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Actores y mapa de relaciones funcionales</a:t>
            </a:r>
            <a:endParaRPr lang="en-US" sz="2800" dirty="0"/>
          </a:p>
        </p:txBody>
      </p:sp>
      <p:sp>
        <p:nvSpPr>
          <p:cNvPr id="3" name="Kicker"/>
          <p:cNvSpPr txBox="1"/>
          <p:nvPr/>
        </p:nvSpPr>
        <p:spPr>
          <a:xfrm>
            <a:off x="548640" y="25603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2"/>
                </a:solidFill>
              </a:rPr>
              <a:t>INTEGRANTE 3  ·  CRITERIO 2.1.2  ·  IDENTIFICACIÓN DE ACTORES Y TIPO DE VÍNCULO</a:t>
            </a:r>
            <a:endParaRPr lang="en-US" sz="1100" dirty="0"/>
          </a:p>
        </p:txBody>
      </p:sp>
      <p:sp>
        <p:nvSpPr>
          <p:cNvPr id="4" name="Insignia expositor"/>
          <p:cNvSpPr/>
          <p:nvPr/>
        </p:nvSpPr>
        <p:spPr>
          <a:xfrm>
            <a:off x="10104120" y="274320"/>
            <a:ext cx="1536192" cy="32918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104120" y="274320"/>
            <a:ext cx="1536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chemeClr val="bg1"/>
                </a:solidFill>
              </a:rPr>
              <a:t>INTEGRANTE 3</a:t>
            </a:r>
            <a:endParaRPr lang="en-US" sz="1050" dirty="0"/>
          </a:p>
        </p:txBody>
      </p:sp>
      <p:sp>
        <p:nvSpPr>
          <p:cNvPr id="6" name="Conector"/>
          <p:cNvSpPr/>
          <p:nvPr/>
        </p:nvSpPr>
        <p:spPr>
          <a:xfrm flipH="1" flipV="1">
            <a:off x="2125980" y="2354580"/>
            <a:ext cx="3968496" cy="1165860"/>
          </a:xfrm>
          <a:prstGeom prst="line">
            <a:avLst/>
          </a:prstGeom>
          <a:noFill/>
          <a:ln w="28575">
            <a:solidFill>
              <a:schemeClr val="accent1"/>
            </a:solidFill>
            <a:prstDash val="solid"/>
            <a:headEnd type="triangle"/>
            <a:tailEnd type="triangle"/>
          </a:ln>
        </p:spPr>
      </p:sp>
      <p:sp>
        <p:nvSpPr>
          <p:cNvPr id="7" name="Conector"/>
          <p:cNvSpPr/>
          <p:nvPr/>
        </p:nvSpPr>
        <p:spPr>
          <a:xfrm flipV="1">
            <a:off x="6094476" y="2354580"/>
            <a:ext cx="4078224" cy="1165860"/>
          </a:xfrm>
          <a:prstGeom prst="line">
            <a:avLst/>
          </a:prstGeom>
          <a:noFill/>
          <a:ln w="28575">
            <a:solidFill>
              <a:schemeClr val="accent1"/>
            </a:solidFill>
            <a:prstDash val="solid"/>
            <a:headEnd type="triangle"/>
            <a:tailEnd type="triangle"/>
          </a:ln>
        </p:spPr>
      </p:sp>
      <p:sp>
        <p:nvSpPr>
          <p:cNvPr id="8" name="Conector"/>
          <p:cNvSpPr/>
          <p:nvPr/>
        </p:nvSpPr>
        <p:spPr>
          <a:xfrm flipH="1">
            <a:off x="2125980" y="3520440"/>
            <a:ext cx="3968496" cy="1394460"/>
          </a:xfrm>
          <a:prstGeom prst="line">
            <a:avLst/>
          </a:prstGeom>
          <a:noFill/>
          <a:ln w="28575">
            <a:solidFill>
              <a:schemeClr val="accent1"/>
            </a:solidFill>
            <a:prstDash val="solid"/>
            <a:headEnd type="triangle"/>
            <a:tailEnd type="triangle"/>
          </a:ln>
        </p:spPr>
      </p:sp>
      <p:sp>
        <p:nvSpPr>
          <p:cNvPr id="9" name="Conector"/>
          <p:cNvSpPr/>
          <p:nvPr/>
        </p:nvSpPr>
        <p:spPr>
          <a:xfrm>
            <a:off x="6094476" y="3520440"/>
            <a:ext cx="4078224" cy="1394460"/>
          </a:xfrm>
          <a:prstGeom prst="line">
            <a:avLst/>
          </a:prstGeom>
          <a:noFill/>
          <a:ln w="28575">
            <a:solidFill>
              <a:schemeClr val="accent2"/>
            </a:solidFill>
            <a:prstDash val="dash"/>
            <a:headEnd type="triangle"/>
            <a:tailEnd type="triangle"/>
          </a:ln>
        </p:spPr>
      </p:sp>
      <p:sp>
        <p:nvSpPr>
          <p:cNvPr id="10" name="Conector"/>
          <p:cNvSpPr/>
          <p:nvPr/>
        </p:nvSpPr>
        <p:spPr>
          <a:xfrm flipV="1">
            <a:off x="6094476" y="1714500"/>
            <a:ext cx="9144" cy="1805940"/>
          </a:xfrm>
          <a:prstGeom prst="line">
            <a:avLst/>
          </a:prstGeom>
          <a:noFill/>
          <a:ln w="28575">
            <a:solidFill>
              <a:schemeClr val="accent2"/>
            </a:solidFill>
            <a:prstDash val="dash"/>
            <a:headEnd type="triangle"/>
            <a:tailEnd type="triangle"/>
          </a:ln>
        </p:spPr>
      </p:sp>
      <p:sp>
        <p:nvSpPr>
          <p:cNvPr id="11" name="Conector"/>
          <p:cNvSpPr/>
          <p:nvPr/>
        </p:nvSpPr>
        <p:spPr>
          <a:xfrm>
            <a:off x="6094476" y="3520440"/>
            <a:ext cx="9144" cy="1897380"/>
          </a:xfrm>
          <a:prstGeom prst="line">
            <a:avLst/>
          </a:prstGeom>
          <a:noFill/>
          <a:ln w="28575">
            <a:solidFill>
              <a:schemeClr val="accent1"/>
            </a:solidFill>
            <a:prstDash val="solid"/>
            <a:headEnd type="triangle"/>
            <a:tailEnd type="triangle"/>
          </a:ln>
        </p:spPr>
      </p:sp>
      <p:sp>
        <p:nvSpPr>
          <p:cNvPr id="12" name="Etiqueta relación"/>
          <p:cNvSpPr/>
          <p:nvPr/>
        </p:nvSpPr>
        <p:spPr>
          <a:xfrm>
            <a:off x="3218688" y="2791206"/>
            <a:ext cx="1783080" cy="292608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218688" y="2791206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Contratación B2B</a:t>
            </a:r>
            <a:endParaRPr lang="en-US" sz="1000" dirty="0"/>
          </a:p>
        </p:txBody>
      </p:sp>
      <p:sp>
        <p:nvSpPr>
          <p:cNvPr id="14" name="Etiqueta relación"/>
          <p:cNvSpPr/>
          <p:nvPr/>
        </p:nvSpPr>
        <p:spPr>
          <a:xfrm>
            <a:off x="7242048" y="2791206"/>
            <a:ext cx="1783080" cy="292608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242048" y="2791206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Alianza comercial</a:t>
            </a:r>
            <a:endParaRPr lang="en-US" sz="1000" dirty="0"/>
          </a:p>
        </p:txBody>
      </p:sp>
      <p:sp>
        <p:nvSpPr>
          <p:cNvPr id="16" name="Etiqueta relación"/>
          <p:cNvSpPr/>
          <p:nvPr/>
        </p:nvSpPr>
        <p:spPr>
          <a:xfrm>
            <a:off x="3218688" y="4071366"/>
            <a:ext cx="1783080" cy="292608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218688" y="4071366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Convenio de alimentación</a:t>
            </a:r>
            <a:endParaRPr lang="en-US" sz="1000" dirty="0"/>
          </a:p>
        </p:txBody>
      </p:sp>
      <p:sp>
        <p:nvSpPr>
          <p:cNvPr id="18" name="Etiqueta relación"/>
          <p:cNvSpPr/>
          <p:nvPr/>
        </p:nvSpPr>
        <p:spPr>
          <a:xfrm>
            <a:off x="7242048" y="4071366"/>
            <a:ext cx="1783080" cy="292608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242048" y="4071366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Coordinación institucional</a:t>
            </a:r>
            <a:endParaRPr lang="en-US" sz="1000" dirty="0"/>
          </a:p>
        </p:txBody>
      </p:sp>
      <p:sp>
        <p:nvSpPr>
          <p:cNvPr id="20" name="Etiqueta relación"/>
          <p:cNvSpPr/>
          <p:nvPr/>
        </p:nvSpPr>
        <p:spPr>
          <a:xfrm>
            <a:off x="5207508" y="2471166"/>
            <a:ext cx="1783080" cy="292608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207508" y="2471166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Información y resguardo</a:t>
            </a:r>
            <a:endParaRPr lang="en-US" sz="1000" dirty="0"/>
          </a:p>
        </p:txBody>
      </p:sp>
      <p:sp>
        <p:nvSpPr>
          <p:cNvPr id="22" name="Etiqueta relación"/>
          <p:cNvSpPr/>
          <p:nvPr/>
        </p:nvSpPr>
        <p:spPr>
          <a:xfrm>
            <a:off x="5207508" y="4322826"/>
            <a:ext cx="1783080" cy="292608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207508" y="4322826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Compra + información</a:t>
            </a:r>
            <a:endParaRPr lang="en-US" sz="1000" dirty="0"/>
          </a:p>
        </p:txBody>
      </p:sp>
      <p:sp>
        <p:nvSpPr>
          <p:cNvPr id="24" name="Tarjeta"/>
          <p:cNvSpPr/>
          <p:nvPr/>
        </p:nvSpPr>
        <p:spPr>
          <a:xfrm>
            <a:off x="1143000" y="1965960"/>
            <a:ext cx="1965960" cy="777240"/>
          </a:xfrm>
          <a:prstGeom prst="roundRect">
            <a:avLst>
              <a:gd name="adj" fmla="val 14118"/>
            </a:avLst>
          </a:prstGeom>
          <a:solidFill>
            <a:schemeClr val="tx2"/>
          </a:solidFill>
          <a:ln w="9525">
            <a:solidFill>
              <a:srgbClr val="2E3766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5" name="Círculo ícono"/>
          <p:cNvSpPr/>
          <p:nvPr/>
        </p:nvSpPr>
        <p:spPr>
          <a:xfrm>
            <a:off x="1252728" y="2121408"/>
            <a:ext cx="457200" cy="457200"/>
          </a:xfrm>
          <a:prstGeom prst="ellipse">
            <a:avLst/>
          </a:prstGeom>
          <a:solidFill>
            <a:srgbClr val="1C2447"/>
          </a:solidFill>
          <a:ln w="12700">
            <a:solidFill>
              <a:srgbClr val="1C2447"/>
            </a:solidFill>
            <a:prstDash val="solid"/>
          </a:ln>
        </p:spPr>
      </p:sp>
      <p:pic>
        <p:nvPicPr>
          <p:cNvPr id="26" name="Image 0" descr="FaShuttleVa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67028" y="2235708"/>
            <a:ext cx="228600" cy="228600"/>
          </a:xfrm>
          <a:prstGeom prst="rect">
            <a:avLst/>
          </a:prstGeom>
        </p:spPr>
      </p:pic>
      <p:sp>
        <p:nvSpPr>
          <p:cNvPr id="27" name="Text 24"/>
          <p:cNvSpPr txBox="1"/>
          <p:nvPr/>
        </p:nvSpPr>
        <p:spPr>
          <a:xfrm>
            <a:off x="1764792" y="1965960"/>
            <a:ext cx="1280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bg1"/>
                </a:solidFill>
              </a:rPr>
              <a:t>Transporte terrestre</a:t>
            </a:r>
            <a:endParaRPr lang="en-US" sz="1150" dirty="0"/>
          </a:p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Proveedor privado</a:t>
            </a:r>
            <a:endParaRPr lang="en-US" sz="1150" dirty="0"/>
          </a:p>
        </p:txBody>
      </p:sp>
      <p:sp>
        <p:nvSpPr>
          <p:cNvPr id="28" name="Tarjeta"/>
          <p:cNvSpPr/>
          <p:nvPr/>
        </p:nvSpPr>
        <p:spPr>
          <a:xfrm>
            <a:off x="9189720" y="1965960"/>
            <a:ext cx="1965960" cy="777240"/>
          </a:xfrm>
          <a:prstGeom prst="roundRect">
            <a:avLst>
              <a:gd name="adj" fmla="val 14118"/>
            </a:avLst>
          </a:prstGeom>
          <a:solidFill>
            <a:schemeClr val="tx2"/>
          </a:solidFill>
          <a:ln w="9525">
            <a:solidFill>
              <a:srgbClr val="2E3766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9" name="Círculo ícono"/>
          <p:cNvSpPr/>
          <p:nvPr/>
        </p:nvSpPr>
        <p:spPr>
          <a:xfrm>
            <a:off x="9299448" y="2121408"/>
            <a:ext cx="457200" cy="457200"/>
          </a:xfrm>
          <a:prstGeom prst="ellipse">
            <a:avLst/>
          </a:prstGeom>
          <a:solidFill>
            <a:srgbClr val="1C2447"/>
          </a:solidFill>
          <a:ln w="12700">
            <a:solidFill>
              <a:srgbClr val="1C2447"/>
            </a:solidFill>
            <a:prstDash val="solid"/>
          </a:ln>
        </p:spPr>
      </p:sp>
      <p:pic>
        <p:nvPicPr>
          <p:cNvPr id="30" name="Image 1" descr="FaTicketAl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13748" y="2235708"/>
            <a:ext cx="228600" cy="228600"/>
          </a:xfrm>
          <a:prstGeom prst="rect">
            <a:avLst/>
          </a:prstGeom>
        </p:spPr>
      </p:pic>
      <p:sp>
        <p:nvSpPr>
          <p:cNvPr id="31" name="Text 27"/>
          <p:cNvSpPr txBox="1"/>
          <p:nvPr/>
        </p:nvSpPr>
        <p:spPr>
          <a:xfrm>
            <a:off x="9811512" y="1965960"/>
            <a:ext cx="1280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bg1"/>
                </a:solidFill>
              </a:rPr>
              <a:t>Ticketeras y productoras</a:t>
            </a:r>
            <a:endParaRPr lang="en-US" sz="1150" dirty="0"/>
          </a:p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Aliado comercial</a:t>
            </a:r>
            <a:endParaRPr lang="en-US" sz="1150" dirty="0"/>
          </a:p>
        </p:txBody>
      </p:sp>
      <p:sp>
        <p:nvSpPr>
          <p:cNvPr id="32" name="Tarjeta"/>
          <p:cNvSpPr/>
          <p:nvPr/>
        </p:nvSpPr>
        <p:spPr>
          <a:xfrm>
            <a:off x="1143000" y="4526280"/>
            <a:ext cx="1965960" cy="777240"/>
          </a:xfrm>
          <a:prstGeom prst="roundRect">
            <a:avLst>
              <a:gd name="adj" fmla="val 14118"/>
            </a:avLst>
          </a:prstGeom>
          <a:solidFill>
            <a:schemeClr val="tx2"/>
          </a:solidFill>
          <a:ln w="9525">
            <a:solidFill>
              <a:srgbClr val="2E3766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33" name="Círculo ícono"/>
          <p:cNvSpPr/>
          <p:nvPr/>
        </p:nvSpPr>
        <p:spPr>
          <a:xfrm>
            <a:off x="1252728" y="4681728"/>
            <a:ext cx="457200" cy="457200"/>
          </a:xfrm>
          <a:prstGeom prst="ellipse">
            <a:avLst/>
          </a:prstGeom>
          <a:solidFill>
            <a:srgbClr val="1C2447"/>
          </a:solidFill>
          <a:ln w="12700">
            <a:solidFill>
              <a:srgbClr val="1C2447"/>
            </a:solidFill>
            <a:prstDash val="solid"/>
          </a:ln>
        </p:spPr>
      </p:sp>
      <p:pic>
        <p:nvPicPr>
          <p:cNvPr id="34" name="Image 2" descr="FaUtensil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67028" y="4796028"/>
            <a:ext cx="228600" cy="228600"/>
          </a:xfrm>
          <a:prstGeom prst="rect">
            <a:avLst/>
          </a:prstGeom>
        </p:spPr>
      </p:pic>
      <p:sp>
        <p:nvSpPr>
          <p:cNvPr id="35" name="Text 30"/>
          <p:cNvSpPr txBox="1"/>
          <p:nvPr/>
        </p:nvSpPr>
        <p:spPr>
          <a:xfrm>
            <a:off x="1764792" y="4526280"/>
            <a:ext cx="1280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bg1"/>
                </a:solidFill>
              </a:rPr>
              <a:t>Locales gastronómicos</a:t>
            </a:r>
            <a:endParaRPr lang="en-US" sz="1150" dirty="0"/>
          </a:p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Proveedor privado</a:t>
            </a:r>
            <a:endParaRPr lang="en-US" sz="1150" dirty="0"/>
          </a:p>
        </p:txBody>
      </p:sp>
      <p:sp>
        <p:nvSpPr>
          <p:cNvPr id="36" name="Tarjeta"/>
          <p:cNvSpPr/>
          <p:nvPr/>
        </p:nvSpPr>
        <p:spPr>
          <a:xfrm>
            <a:off x="9189720" y="4526280"/>
            <a:ext cx="1965960" cy="777240"/>
          </a:xfrm>
          <a:prstGeom prst="roundRect">
            <a:avLst>
              <a:gd name="adj" fmla="val 14118"/>
            </a:avLst>
          </a:prstGeom>
          <a:solidFill>
            <a:schemeClr val="tx2"/>
          </a:solidFill>
          <a:ln w="9525">
            <a:solidFill>
              <a:srgbClr val="2E3766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37" name="Círculo ícono"/>
          <p:cNvSpPr/>
          <p:nvPr/>
        </p:nvSpPr>
        <p:spPr>
          <a:xfrm>
            <a:off x="9299448" y="4681728"/>
            <a:ext cx="457200" cy="457200"/>
          </a:xfrm>
          <a:prstGeom prst="ellipse">
            <a:avLst/>
          </a:prstGeom>
          <a:solidFill>
            <a:srgbClr val="1C2447"/>
          </a:solidFill>
          <a:ln w="12700">
            <a:solidFill>
              <a:srgbClr val="1C2447"/>
            </a:solidFill>
            <a:prstDash val="solid"/>
          </a:ln>
        </p:spPr>
      </p:sp>
      <p:pic>
        <p:nvPicPr>
          <p:cNvPr id="38" name="Image 3" descr="FaLandmar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3748" y="4796028"/>
            <a:ext cx="228600" cy="228600"/>
          </a:xfrm>
          <a:prstGeom prst="rect">
            <a:avLst/>
          </a:prstGeom>
        </p:spPr>
      </p:pic>
      <p:sp>
        <p:nvSpPr>
          <p:cNvPr id="39" name="Text 33"/>
          <p:cNvSpPr txBox="1"/>
          <p:nvPr/>
        </p:nvSpPr>
        <p:spPr>
          <a:xfrm>
            <a:off x="9811512" y="4526280"/>
            <a:ext cx="1280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bg1"/>
                </a:solidFill>
              </a:rPr>
              <a:t>Municipio / SERNATUR</a:t>
            </a:r>
            <a:endParaRPr lang="en-US" sz="1150" dirty="0"/>
          </a:p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Actor público</a:t>
            </a:r>
            <a:endParaRPr lang="en-US" sz="1150" dirty="0"/>
          </a:p>
        </p:txBody>
      </p:sp>
      <p:sp>
        <p:nvSpPr>
          <p:cNvPr id="40" name="Tarjeta"/>
          <p:cNvSpPr/>
          <p:nvPr/>
        </p:nvSpPr>
        <p:spPr>
          <a:xfrm>
            <a:off x="5120640" y="1325880"/>
            <a:ext cx="1965960" cy="777240"/>
          </a:xfrm>
          <a:prstGeom prst="roundRect">
            <a:avLst>
              <a:gd name="adj" fmla="val 14118"/>
            </a:avLst>
          </a:prstGeom>
          <a:solidFill>
            <a:schemeClr val="tx2"/>
          </a:solidFill>
          <a:ln w="9525">
            <a:solidFill>
              <a:srgbClr val="2E3766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41" name="Círculo ícono"/>
          <p:cNvSpPr/>
          <p:nvPr/>
        </p:nvSpPr>
        <p:spPr>
          <a:xfrm>
            <a:off x="5230368" y="1481328"/>
            <a:ext cx="457200" cy="457200"/>
          </a:xfrm>
          <a:prstGeom prst="ellipse">
            <a:avLst/>
          </a:prstGeom>
          <a:solidFill>
            <a:srgbClr val="1C2447"/>
          </a:solidFill>
          <a:ln w="12700">
            <a:solidFill>
              <a:srgbClr val="1C2447"/>
            </a:solidFill>
            <a:prstDash val="solid"/>
          </a:ln>
        </p:spPr>
      </p:sp>
      <p:pic>
        <p:nvPicPr>
          <p:cNvPr id="42" name="Image 4" descr="FaShieldAlt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44668" y="1595628"/>
            <a:ext cx="228600" cy="228600"/>
          </a:xfrm>
          <a:prstGeom prst="rect">
            <a:avLst/>
          </a:prstGeom>
        </p:spPr>
      </p:pic>
      <p:sp>
        <p:nvSpPr>
          <p:cNvPr id="43" name="Text 36"/>
          <p:cNvSpPr txBox="1"/>
          <p:nvPr/>
        </p:nvSpPr>
        <p:spPr>
          <a:xfrm>
            <a:off x="5742432" y="1325880"/>
            <a:ext cx="1280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bg1"/>
                </a:solidFill>
              </a:rPr>
              <a:t>Seguridad local</a:t>
            </a:r>
            <a:endParaRPr lang="en-US" sz="1150" dirty="0"/>
          </a:p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Seg. municipal y Carabineros</a:t>
            </a:r>
            <a:endParaRPr lang="en-US" sz="1150" dirty="0"/>
          </a:p>
        </p:txBody>
      </p:sp>
      <p:sp>
        <p:nvSpPr>
          <p:cNvPr id="44" name="Tarjeta"/>
          <p:cNvSpPr/>
          <p:nvPr/>
        </p:nvSpPr>
        <p:spPr>
          <a:xfrm>
            <a:off x="5120640" y="5029200"/>
            <a:ext cx="1965960" cy="777240"/>
          </a:xfrm>
          <a:prstGeom prst="roundRect">
            <a:avLst>
              <a:gd name="adj" fmla="val 14118"/>
            </a:avLst>
          </a:prstGeom>
          <a:solidFill>
            <a:schemeClr val="tx2"/>
          </a:solidFill>
          <a:ln w="9525">
            <a:solidFill>
              <a:srgbClr val="2E3766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45" name="Círculo ícono"/>
          <p:cNvSpPr/>
          <p:nvPr/>
        </p:nvSpPr>
        <p:spPr>
          <a:xfrm>
            <a:off x="5230368" y="5184648"/>
            <a:ext cx="457200" cy="457200"/>
          </a:xfrm>
          <a:prstGeom prst="ellipse">
            <a:avLst/>
          </a:prstGeom>
          <a:solidFill>
            <a:srgbClr val="1C2447"/>
          </a:solidFill>
          <a:ln w="12700">
            <a:solidFill>
              <a:srgbClr val="1C2447"/>
            </a:solidFill>
            <a:prstDash val="solid"/>
          </a:ln>
        </p:spPr>
      </p:sp>
      <p:pic>
        <p:nvPicPr>
          <p:cNvPr id="46" name="Image 5" descr="FaUsers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44668" y="5298948"/>
            <a:ext cx="228600" cy="228600"/>
          </a:xfrm>
          <a:prstGeom prst="rect">
            <a:avLst/>
          </a:prstGeom>
        </p:spPr>
      </p:pic>
      <p:sp>
        <p:nvSpPr>
          <p:cNvPr id="47" name="Text 39"/>
          <p:cNvSpPr txBox="1"/>
          <p:nvPr/>
        </p:nvSpPr>
        <p:spPr>
          <a:xfrm>
            <a:off x="5742432" y="5029200"/>
            <a:ext cx="1280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bg1"/>
                </a:solidFill>
              </a:rPr>
              <a:t>Clientes / asistentes</a:t>
            </a:r>
            <a:endParaRPr lang="en-US" sz="1150" dirty="0"/>
          </a:p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Demanda</a:t>
            </a:r>
            <a:endParaRPr lang="en-US" sz="1150" dirty="0"/>
          </a:p>
        </p:txBody>
      </p:sp>
      <p:sp>
        <p:nvSpPr>
          <p:cNvPr id="48" name="Sound Travel centro"/>
          <p:cNvSpPr/>
          <p:nvPr/>
        </p:nvSpPr>
        <p:spPr>
          <a:xfrm>
            <a:off x="5134356" y="2834640"/>
            <a:ext cx="1920240" cy="1371600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accent6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49" name="Text 41"/>
          <p:cNvSpPr txBox="1"/>
          <p:nvPr/>
        </p:nvSpPr>
        <p:spPr>
          <a:xfrm>
            <a:off x="5134356" y="2834640"/>
            <a:ext cx="1920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SOUND TRAVEL</a:t>
            </a:r>
            <a:endParaRPr lang="en-US" sz="14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bg1"/>
                </a:solidFill>
              </a:rPr>
              <a:t>Coordinador central del servicio</a:t>
            </a:r>
            <a:endParaRPr lang="en-US" sz="1400" dirty="0"/>
          </a:p>
        </p:txBody>
      </p:sp>
      <p:sp>
        <p:nvSpPr>
          <p:cNvPr id="50" name="Shape 42"/>
          <p:cNvSpPr/>
          <p:nvPr/>
        </p:nvSpPr>
        <p:spPr>
          <a:xfrm>
            <a:off x="548640" y="6053328"/>
            <a:ext cx="457200" cy="0"/>
          </a:xfrm>
          <a:prstGeom prst="line">
            <a:avLst/>
          </a:prstGeom>
          <a:noFill/>
          <a:ln w="28575">
            <a:solidFill>
              <a:schemeClr val="accent1"/>
            </a:solidFill>
            <a:prstDash val="solid"/>
          </a:ln>
        </p:spPr>
      </p:sp>
      <p:sp>
        <p:nvSpPr>
          <p:cNvPr id="51" name="Text 43"/>
          <p:cNvSpPr txBox="1"/>
          <p:nvPr/>
        </p:nvSpPr>
        <p:spPr>
          <a:xfrm>
            <a:off x="1097280" y="594360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bg2"/>
                </a:solidFill>
              </a:rPr>
              <a:t>Relación contractual o comercial</a:t>
            </a:r>
            <a:endParaRPr lang="en-US" sz="1050" dirty="0"/>
          </a:p>
        </p:txBody>
      </p:sp>
      <p:sp>
        <p:nvSpPr>
          <p:cNvPr id="52" name="Shape 44"/>
          <p:cNvSpPr/>
          <p:nvPr/>
        </p:nvSpPr>
        <p:spPr>
          <a:xfrm>
            <a:off x="3840480" y="6053328"/>
            <a:ext cx="457200" cy="0"/>
          </a:xfrm>
          <a:prstGeom prst="line">
            <a:avLst/>
          </a:prstGeom>
          <a:noFill/>
          <a:ln w="28575">
            <a:solidFill>
              <a:schemeClr val="accent2"/>
            </a:solidFill>
            <a:prstDash val="dash"/>
          </a:ln>
        </p:spPr>
      </p:sp>
      <p:sp>
        <p:nvSpPr>
          <p:cNvPr id="53" name="Text 45"/>
          <p:cNvSpPr txBox="1"/>
          <p:nvPr/>
        </p:nvSpPr>
        <p:spPr>
          <a:xfrm>
            <a:off x="4389120" y="59436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bg2"/>
                </a:solidFill>
              </a:rPr>
              <a:t>Coordinación institucional y flujo de información</a:t>
            </a:r>
            <a:endParaRPr lang="en-US" sz="1050" dirty="0"/>
          </a:p>
        </p:txBody>
      </p:sp>
      <p:sp>
        <p:nvSpPr>
          <p:cNvPr id="54" name="Text 46"/>
          <p:cNvSpPr txBox="1"/>
          <p:nvPr/>
        </p:nvSpPr>
        <p:spPr>
          <a:xfrm>
            <a:off x="8046720" y="5943600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chemeClr val="bg2"/>
                </a:solidFill>
              </a:rPr>
              <a:t>Flechas dobles: la información circula en ambos sentidos</a:t>
            </a:r>
            <a:endParaRPr lang="en-US" sz="1050" dirty="0"/>
          </a:p>
        </p:txBody>
      </p:sp>
      <p:sp>
        <p:nvSpPr>
          <p:cNvPr id="55" name="Fuente"/>
          <p:cNvSpPr txBox="1"/>
          <p:nvPr/>
        </p:nvSpPr>
        <p:spPr>
          <a:xfrm>
            <a:off x="548640" y="6263640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chemeClr val="bg2"/>
                </a:solidFill>
              </a:rPr>
              <a:t>Fuente: Informe Operativo Sound Travel (2026), secc. 5, Figura 3. Alojamiento no aplica (salidas de día); para viajes a Santiago o Concepción queda por definir.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48640"/>
            <a:ext cx="9418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Responsabilidades y coordinación con cada actor</a:t>
            </a:r>
            <a:endParaRPr lang="en-US" sz="2800" dirty="0"/>
          </a:p>
        </p:txBody>
      </p:sp>
      <p:sp>
        <p:nvSpPr>
          <p:cNvPr id="3" name="Kicker"/>
          <p:cNvSpPr txBox="1"/>
          <p:nvPr/>
        </p:nvSpPr>
        <p:spPr>
          <a:xfrm>
            <a:off x="548640" y="25603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2"/>
                </a:solidFill>
              </a:rPr>
              <a:t>INTEGRANTE 3  ·  CRITERIO 2.1.2  ·  QUÉ APORTA Y QUÉ RECIBE CADA ACTOR</a:t>
            </a:r>
            <a:endParaRPr lang="en-US" sz="1100" dirty="0"/>
          </a:p>
        </p:txBody>
      </p:sp>
      <p:sp>
        <p:nvSpPr>
          <p:cNvPr id="4" name="Insignia expositor"/>
          <p:cNvSpPr/>
          <p:nvPr/>
        </p:nvSpPr>
        <p:spPr>
          <a:xfrm>
            <a:off x="10104120" y="274320"/>
            <a:ext cx="1536192" cy="32918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104120" y="274320"/>
            <a:ext cx="1536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chemeClr val="bg1"/>
                </a:solidFill>
              </a:rPr>
              <a:t>INTEGRANTE 3</a:t>
            </a:r>
            <a:endParaRPr lang="en-US" sz="1050" dirty="0"/>
          </a:p>
        </p:txBody>
      </p:sp>
      <p:sp>
        <p:nvSpPr>
          <p:cNvPr id="6" name="Tarjeta"/>
          <p:cNvSpPr/>
          <p:nvPr/>
        </p:nvSpPr>
        <p:spPr>
          <a:xfrm>
            <a:off x="548640" y="1417320"/>
            <a:ext cx="2651760" cy="3611880"/>
          </a:xfrm>
          <a:prstGeom prst="roundRect">
            <a:avLst>
              <a:gd name="adj" fmla="val 4138"/>
            </a:avLst>
          </a:prstGeom>
          <a:solidFill>
            <a:schemeClr val="tx2"/>
          </a:solidFill>
          <a:ln w="9525">
            <a:solidFill>
              <a:srgbClr val="2E3766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Círculo ícono"/>
          <p:cNvSpPr/>
          <p:nvPr/>
        </p:nvSpPr>
        <p:spPr>
          <a:xfrm>
            <a:off x="713232" y="1581912"/>
            <a:ext cx="475488" cy="47548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8" name="Image 0" descr="FaShuttleVa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2104" y="1700784"/>
            <a:ext cx="237744" cy="23774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80160" y="150876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Transporte</a:t>
            </a:r>
            <a:endParaRPr lang="en-US" sz="1300" dirty="0"/>
          </a:p>
          <a:p>
            <a:pPr indent="0" marL="0">
              <a:buNone/>
            </a:pPr>
            <a:r>
              <a:rPr lang="en-US" sz="1050" b="1" dirty="0">
                <a:solidFill>
                  <a:schemeClr val="accent2"/>
                </a:solidFill>
              </a:rPr>
              <a:t>Contratación de servicio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713232" y="2286000"/>
            <a:ext cx="23774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bg1"/>
                </a:solidFill>
              </a:rPr>
              <a:t>Máquinas limpias y con revisión técnica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bg1"/>
                </a:solidFill>
              </a:rPr>
              <a:t>Choferes profesionales y descansados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bg1"/>
                </a:solidFill>
              </a:rPr>
              <a:t>Horarios de ida y regreso</a:t>
            </a:r>
            <a:endParaRPr lang="en-US" sz="1150" dirty="0"/>
          </a:p>
        </p:txBody>
      </p:sp>
      <p:sp>
        <p:nvSpPr>
          <p:cNvPr id="11" name="Recibe"/>
          <p:cNvSpPr/>
          <p:nvPr/>
        </p:nvSpPr>
        <p:spPr>
          <a:xfrm>
            <a:off x="658368" y="4050792"/>
            <a:ext cx="2432304" cy="868680"/>
          </a:xfrm>
          <a:prstGeom prst="roundRect">
            <a:avLst>
              <a:gd name="adj" fmla="val 8421"/>
            </a:avLst>
          </a:prstGeom>
          <a:solidFill>
            <a:srgbClr val="1C2447"/>
          </a:solidFill>
          <a:ln w="12700">
            <a:solidFill>
              <a:srgbClr val="1C2447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77240" y="4087368"/>
            <a:ext cx="22402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chemeClr val="accent2"/>
                </a:solidFill>
              </a:rPr>
              <a:t>RECIBE DE SOUND TRAVEL</a:t>
            </a:r>
            <a:endParaRPr lang="en-US" sz="95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Rutas, horarios, nómina y pago en fecha</a:t>
            </a:r>
            <a:endParaRPr lang="en-US" sz="950" dirty="0"/>
          </a:p>
        </p:txBody>
      </p:sp>
      <p:sp>
        <p:nvSpPr>
          <p:cNvPr id="13" name="Tarjeta"/>
          <p:cNvSpPr/>
          <p:nvPr/>
        </p:nvSpPr>
        <p:spPr>
          <a:xfrm>
            <a:off x="3346704" y="1417320"/>
            <a:ext cx="2651760" cy="3611880"/>
          </a:xfrm>
          <a:prstGeom prst="roundRect">
            <a:avLst>
              <a:gd name="adj" fmla="val 4138"/>
            </a:avLst>
          </a:prstGeom>
          <a:solidFill>
            <a:schemeClr val="tx2"/>
          </a:solidFill>
          <a:ln w="9525">
            <a:solidFill>
              <a:srgbClr val="2E3766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4" name="Círculo ícono"/>
          <p:cNvSpPr/>
          <p:nvPr/>
        </p:nvSpPr>
        <p:spPr>
          <a:xfrm>
            <a:off x="3511296" y="1581912"/>
            <a:ext cx="475488" cy="47548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5" name="Image 1" descr="FaTicketAl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0168" y="1700784"/>
            <a:ext cx="237744" cy="237744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4078224" y="150876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Ticketeras y productoras</a:t>
            </a:r>
            <a:endParaRPr lang="en-US" sz="1300" dirty="0"/>
          </a:p>
          <a:p>
            <a:pPr indent="0" marL="0">
              <a:buNone/>
            </a:pPr>
            <a:r>
              <a:rPr lang="en-US" sz="1050" b="1" dirty="0">
                <a:solidFill>
                  <a:schemeClr val="accent2"/>
                </a:solidFill>
              </a:rPr>
              <a:t>Alianza comercial</a:t>
            </a:r>
            <a:endParaRPr lang="en-US" sz="1300" dirty="0"/>
          </a:p>
        </p:txBody>
      </p:sp>
      <p:sp>
        <p:nvSpPr>
          <p:cNvPr id="17" name="Text 13"/>
          <p:cNvSpPr txBox="1"/>
          <p:nvPr/>
        </p:nvSpPr>
        <p:spPr>
          <a:xfrm>
            <a:off x="3511296" y="2286000"/>
            <a:ext cx="23774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bg1"/>
                </a:solidFill>
              </a:rPr>
              <a:t>Emitir y validar QR o entradas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bg1"/>
                </a:solidFill>
              </a:rPr>
              <a:t>Bloques de entradas reales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bg1"/>
                </a:solidFill>
              </a:rPr>
              <a:t>Avisar apertura de puertas</a:t>
            </a:r>
            <a:endParaRPr lang="en-US" sz="1150" dirty="0"/>
          </a:p>
        </p:txBody>
      </p:sp>
      <p:sp>
        <p:nvSpPr>
          <p:cNvPr id="18" name="Recibe"/>
          <p:cNvSpPr/>
          <p:nvPr/>
        </p:nvSpPr>
        <p:spPr>
          <a:xfrm>
            <a:off x="3456432" y="4050792"/>
            <a:ext cx="2432304" cy="868680"/>
          </a:xfrm>
          <a:prstGeom prst="roundRect">
            <a:avLst>
              <a:gd name="adj" fmla="val 8421"/>
            </a:avLst>
          </a:prstGeom>
          <a:solidFill>
            <a:srgbClr val="1C2447"/>
          </a:solidFill>
          <a:ln w="12700">
            <a:solidFill>
              <a:srgbClr val="1C2447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3575304" y="4087368"/>
            <a:ext cx="22402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chemeClr val="accent2"/>
                </a:solidFill>
              </a:rPr>
              <a:t>RECIBE DE SOUND TRAVEL</a:t>
            </a:r>
            <a:endParaRPr lang="en-US" sz="95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Nómina con entradas asignadas y pago</a:t>
            </a:r>
            <a:endParaRPr lang="en-US" sz="950" dirty="0"/>
          </a:p>
        </p:txBody>
      </p:sp>
      <p:sp>
        <p:nvSpPr>
          <p:cNvPr id="20" name="Tarjeta"/>
          <p:cNvSpPr/>
          <p:nvPr/>
        </p:nvSpPr>
        <p:spPr>
          <a:xfrm>
            <a:off x="6144768" y="1417320"/>
            <a:ext cx="2651760" cy="3611880"/>
          </a:xfrm>
          <a:prstGeom prst="roundRect">
            <a:avLst>
              <a:gd name="adj" fmla="val 4138"/>
            </a:avLst>
          </a:prstGeom>
          <a:solidFill>
            <a:schemeClr val="tx2"/>
          </a:solidFill>
          <a:ln w="9525">
            <a:solidFill>
              <a:srgbClr val="2E3766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1" name="Círculo ícono"/>
          <p:cNvSpPr/>
          <p:nvPr/>
        </p:nvSpPr>
        <p:spPr>
          <a:xfrm>
            <a:off x="6309360" y="1581912"/>
            <a:ext cx="475488" cy="47548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2" name="Image 2" descr="FaUtensil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8232" y="1700784"/>
            <a:ext cx="237744" cy="237744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6876288" y="150876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Locales gastronómicos</a:t>
            </a:r>
            <a:endParaRPr lang="en-US" sz="1300" dirty="0"/>
          </a:p>
          <a:p>
            <a:pPr indent="0" marL="0">
              <a:buNone/>
            </a:pPr>
            <a:r>
              <a:rPr lang="en-US" sz="1050" b="1" dirty="0">
                <a:solidFill>
                  <a:schemeClr val="accent2"/>
                </a:solidFill>
              </a:rPr>
              <a:t>Convenio de prestación</a:t>
            </a:r>
            <a:endParaRPr lang="en-US" sz="1300" dirty="0"/>
          </a:p>
        </p:txBody>
      </p:sp>
      <p:sp>
        <p:nvSpPr>
          <p:cNvPr id="24" name="Text 19"/>
          <p:cNvSpPr txBox="1"/>
          <p:nvPr/>
        </p:nvSpPr>
        <p:spPr>
          <a:xfrm>
            <a:off x="6309360" y="2286000"/>
            <a:ext cx="23774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bg1"/>
                </a:solidFill>
              </a:rPr>
              <a:t>Recibir a los grupos antes del show o en salidas sunset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bg1"/>
                </a:solidFill>
              </a:rPr>
              <a:t>Mesas y menús listos a tiempo</a:t>
            </a:r>
            <a:endParaRPr lang="en-US" sz="1150" dirty="0"/>
          </a:p>
        </p:txBody>
      </p:sp>
      <p:sp>
        <p:nvSpPr>
          <p:cNvPr id="25" name="Recibe"/>
          <p:cNvSpPr/>
          <p:nvPr/>
        </p:nvSpPr>
        <p:spPr>
          <a:xfrm>
            <a:off x="6254496" y="4050792"/>
            <a:ext cx="2432304" cy="868680"/>
          </a:xfrm>
          <a:prstGeom prst="roundRect">
            <a:avLst>
              <a:gd name="adj" fmla="val 8421"/>
            </a:avLst>
          </a:prstGeom>
          <a:solidFill>
            <a:srgbClr val="1C2447"/>
          </a:solidFill>
          <a:ln w="12700">
            <a:solidFill>
              <a:srgbClr val="1C2447"/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6373368" y="4087368"/>
            <a:ext cx="22402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chemeClr val="accent2"/>
                </a:solidFill>
              </a:rPr>
              <a:t>RECIBE DE SOUND TRAVEL</a:t>
            </a:r>
            <a:endParaRPr lang="en-US" sz="95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Hora de llegada, n.° de pasajeros y pago 72–24 h antes</a:t>
            </a:r>
            <a:endParaRPr lang="en-US" sz="950" dirty="0"/>
          </a:p>
        </p:txBody>
      </p:sp>
      <p:sp>
        <p:nvSpPr>
          <p:cNvPr id="27" name="Tarjeta"/>
          <p:cNvSpPr/>
          <p:nvPr/>
        </p:nvSpPr>
        <p:spPr>
          <a:xfrm>
            <a:off x="8942832" y="1417320"/>
            <a:ext cx="2651760" cy="3611880"/>
          </a:xfrm>
          <a:prstGeom prst="roundRect">
            <a:avLst>
              <a:gd name="adj" fmla="val 4138"/>
            </a:avLst>
          </a:prstGeom>
          <a:solidFill>
            <a:srgbClr val="1C2447"/>
          </a:solidFill>
          <a:ln w="9525">
            <a:solidFill>
              <a:srgbClr val="2E3766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8" name="Círculo ícono"/>
          <p:cNvSpPr/>
          <p:nvPr/>
        </p:nvSpPr>
        <p:spPr>
          <a:xfrm>
            <a:off x="9107424" y="1581912"/>
            <a:ext cx="475488" cy="47548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29" name="Image 3" descr="FaLandmar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26296" y="1700784"/>
            <a:ext cx="237744" cy="237744"/>
          </a:xfrm>
          <a:prstGeom prst="rect">
            <a:avLst/>
          </a:prstGeom>
        </p:spPr>
      </p:pic>
      <p:sp>
        <p:nvSpPr>
          <p:cNvPr id="30" name="Text 24"/>
          <p:cNvSpPr txBox="1"/>
          <p:nvPr/>
        </p:nvSpPr>
        <p:spPr>
          <a:xfrm>
            <a:off x="9674352" y="150876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Municipio, SERNATUR y seguridad</a:t>
            </a:r>
            <a:endParaRPr lang="en-US" sz="1300" dirty="0"/>
          </a:p>
          <a:p>
            <a:pPr indent="0" marL="0">
              <a:buNone/>
            </a:pPr>
            <a:r>
              <a:rPr lang="en-US" sz="1050" b="1" dirty="0">
                <a:solidFill>
                  <a:schemeClr val="accent2"/>
                </a:solidFill>
              </a:rPr>
              <a:t>Coordinación institucional</a:t>
            </a:r>
            <a:endParaRPr lang="en-US" sz="1300" dirty="0"/>
          </a:p>
        </p:txBody>
      </p:sp>
      <p:sp>
        <p:nvSpPr>
          <p:cNvPr id="31" name="Text 25"/>
          <p:cNvSpPr txBox="1"/>
          <p:nvPr/>
        </p:nvSpPr>
        <p:spPr>
          <a:xfrm>
            <a:off x="9107424" y="2286000"/>
            <a:ext cx="23774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bg1"/>
                </a:solidFill>
              </a:rPr>
              <a:t>Informar calles cerradas y vías de evacuación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bg1"/>
                </a:solidFill>
              </a:rPr>
              <a:t>Autorizar parada y estacionamiento de buses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bg1"/>
                </a:solidFill>
              </a:rPr>
              <a:t>Resguardo en embarque nocturno</a:t>
            </a:r>
            <a:endParaRPr lang="en-US" sz="1150" dirty="0"/>
          </a:p>
        </p:txBody>
      </p:sp>
      <p:sp>
        <p:nvSpPr>
          <p:cNvPr id="32" name="Recibe"/>
          <p:cNvSpPr/>
          <p:nvPr/>
        </p:nvSpPr>
        <p:spPr>
          <a:xfrm>
            <a:off x="9052560" y="4050792"/>
            <a:ext cx="2432304" cy="868680"/>
          </a:xfrm>
          <a:prstGeom prst="roundRect">
            <a:avLst>
              <a:gd name="adj" fmla="val 8421"/>
            </a:avLst>
          </a:prstGeom>
          <a:solidFill>
            <a:schemeClr val="tx1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33" name="Text 27"/>
          <p:cNvSpPr txBox="1"/>
          <p:nvPr/>
        </p:nvSpPr>
        <p:spPr>
          <a:xfrm>
            <a:off x="9171432" y="4087368"/>
            <a:ext cx="22402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chemeClr val="accent4"/>
                </a:solidFill>
              </a:rPr>
              <a:t>OJO</a:t>
            </a:r>
            <a:endParaRPr lang="en-US" sz="95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Relación propuesta: sin convenios firmados</a:t>
            </a:r>
            <a:endParaRPr lang="en-US" sz="950" dirty="0"/>
          </a:p>
        </p:txBody>
      </p:sp>
      <p:sp>
        <p:nvSpPr>
          <p:cNvPr id="34" name="Tarjeta"/>
          <p:cNvSpPr/>
          <p:nvPr/>
        </p:nvSpPr>
        <p:spPr>
          <a:xfrm>
            <a:off x="548640" y="5193792"/>
            <a:ext cx="11064240" cy="804672"/>
          </a:xfrm>
          <a:prstGeom prst="roundRect">
            <a:avLst>
              <a:gd name="adj" fmla="val 13636"/>
            </a:avLst>
          </a:prstGeom>
          <a:solidFill>
            <a:srgbClr val="1C2447"/>
          </a:solidFill>
          <a:ln w="9525">
            <a:solidFill>
              <a:srgbClr val="2E3766"/>
            </a:solidFill>
            <a:prstDash val="solid"/>
          </a:ln>
        </p:spPr>
      </p:sp>
      <p:sp>
        <p:nvSpPr>
          <p:cNvPr id="35" name="Text 29"/>
          <p:cNvSpPr txBox="1"/>
          <p:nvPr/>
        </p:nvSpPr>
        <p:spPr>
          <a:xfrm>
            <a:off x="731520" y="5193792"/>
            <a:ext cx="14630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COMERCIAL B2C</a:t>
            </a:r>
            <a:endParaRPr lang="en-US" sz="1100" dirty="0"/>
          </a:p>
        </p:txBody>
      </p:sp>
      <p:sp>
        <p:nvSpPr>
          <p:cNvPr id="36" name="Círculo ícono"/>
          <p:cNvSpPr/>
          <p:nvPr/>
        </p:nvSpPr>
        <p:spPr>
          <a:xfrm>
            <a:off x="2240280" y="5376672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7" name="Image 4" descr="FaInstagram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50008" y="5486400"/>
            <a:ext cx="219456" cy="219456"/>
          </a:xfrm>
          <a:prstGeom prst="rect">
            <a:avLst/>
          </a:prstGeom>
        </p:spPr>
      </p:pic>
      <p:sp>
        <p:nvSpPr>
          <p:cNvPr id="38" name="Círculo ícono"/>
          <p:cNvSpPr/>
          <p:nvPr/>
        </p:nvSpPr>
        <p:spPr>
          <a:xfrm>
            <a:off x="2770632" y="5376672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9" name="Image 5" descr="FaTiktok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80360" y="5486400"/>
            <a:ext cx="219456" cy="219456"/>
          </a:xfrm>
          <a:prstGeom prst="rect">
            <a:avLst/>
          </a:prstGeom>
        </p:spPr>
      </p:pic>
      <p:sp>
        <p:nvSpPr>
          <p:cNvPr id="40" name="Círculo ícono"/>
          <p:cNvSpPr/>
          <p:nvPr/>
        </p:nvSpPr>
        <p:spPr>
          <a:xfrm>
            <a:off x="3300984" y="5376672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41" name="Image 6" descr="FaGlob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10712" y="5486400"/>
            <a:ext cx="219456" cy="219456"/>
          </a:xfrm>
          <a:prstGeom prst="rect">
            <a:avLst/>
          </a:prstGeom>
        </p:spPr>
      </p:pic>
      <p:sp>
        <p:nvSpPr>
          <p:cNvPr id="42" name="Círculo ícono"/>
          <p:cNvSpPr/>
          <p:nvPr/>
        </p:nvSpPr>
        <p:spPr>
          <a:xfrm>
            <a:off x="3831336" y="5376672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43" name="Image 7" descr="FaWhatsapp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941064" y="5486400"/>
            <a:ext cx="219456" cy="219456"/>
          </a:xfrm>
          <a:prstGeom prst="rect">
            <a:avLst/>
          </a:prstGeom>
        </p:spPr>
      </p:pic>
      <p:sp>
        <p:nvSpPr>
          <p:cNvPr id="44" name="Text 34"/>
          <p:cNvSpPr txBox="1"/>
          <p:nvPr/>
        </p:nvSpPr>
        <p:spPr>
          <a:xfrm>
            <a:off x="4434840" y="5193792"/>
            <a:ext cx="70408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Difusión en Instagram y TikTok, cotización por WhatsApp Business, venta online y voucher digital. Los clientes deben respetar horarios y normas de convivencia.</a:t>
            </a:r>
            <a:endParaRPr lang="en-US" sz="1200" dirty="0"/>
          </a:p>
        </p:txBody>
      </p:sp>
      <p:sp>
        <p:nvSpPr>
          <p:cNvPr id="45" name="Fuente"/>
          <p:cNvSpPr txBox="1"/>
          <p:nvPr/>
        </p:nvSpPr>
        <p:spPr>
          <a:xfrm>
            <a:off x="548640" y="6108192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chemeClr val="bg2"/>
                </a:solidFill>
              </a:rPr>
              <a:t>Fuente: Informe Operativo Sound Travel (2026), secc. 3.1, 4, 5.1 y 6.1.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48640"/>
            <a:ext cx="9418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Necesidades de la demanda e interdependencia</a:t>
            </a:r>
            <a:endParaRPr lang="en-US" sz="2800" dirty="0"/>
          </a:p>
        </p:txBody>
      </p:sp>
      <p:sp>
        <p:nvSpPr>
          <p:cNvPr id="3" name="Kicker"/>
          <p:cNvSpPr txBox="1"/>
          <p:nvPr/>
        </p:nvSpPr>
        <p:spPr>
          <a:xfrm>
            <a:off x="548640" y="25603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2"/>
                </a:solidFill>
              </a:rPr>
              <a:t>INTEGRANTE 3  ·  CRITERIO 2.1.2  ·  SERVICIO DISEÑADO DESDE EL CLIENTE</a:t>
            </a:r>
            <a:endParaRPr lang="en-US" sz="1100" dirty="0"/>
          </a:p>
        </p:txBody>
      </p:sp>
      <p:sp>
        <p:nvSpPr>
          <p:cNvPr id="4" name="Insignia expositor"/>
          <p:cNvSpPr/>
          <p:nvPr/>
        </p:nvSpPr>
        <p:spPr>
          <a:xfrm>
            <a:off x="10104120" y="274320"/>
            <a:ext cx="1536192" cy="32918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104120" y="274320"/>
            <a:ext cx="1536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chemeClr val="bg1"/>
                </a:solidFill>
              </a:rPr>
              <a:t>INTEGRANTE 3</a:t>
            </a:r>
            <a:endParaRPr lang="en-US" sz="1050" dirty="0"/>
          </a:p>
        </p:txBody>
      </p:sp>
      <p:graphicFrame>
        <p:nvGraphicFramePr>
          <p:cNvPr id="10" name="Tabla demand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6424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4754880"/>
                <a:gridCol w="30175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C4B5F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NECESIDAD DEL CLIENTE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2E37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37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37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37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44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C4B5F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RESPUESTA DE SOUND TRAVEL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2E37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37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37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37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44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C4B5F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ACTORES QUE INTERVIENEN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2E37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37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37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37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44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Llegar puntual sin buscar estacionamiento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2E37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37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37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37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B3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Traslado ida y vuelta con salida anticipada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2E37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37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37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37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B3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Transporte · Jefe de Operaciones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2E37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37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37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37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B3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Volver seguro de noche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2E37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37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37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37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B3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Reencuentro 30 min tras el show, conteo de pasajeros y pulsera por bus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2E37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37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37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37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B3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Guía · Conductor · Seguridad local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2E37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37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37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37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B3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Entrada válida, sin estafas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2E37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37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37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37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B3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Entradas oficiales incluidas en el pack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2E37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37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37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37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B3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Ticketeras y productoras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2E37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37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37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37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B3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Comer sin atrasar el itinerario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2E37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37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37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37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B3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Mesas y menús listos en locales asociados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2E37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37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37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37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B3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Locales gastronómicos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2E37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37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37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37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B3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Estar informado en todo momento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2E37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37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37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37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B3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Canal de WhatsApp del bus y ubicación del guía en tiempo real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2E37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37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37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37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B3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Comercial · Guía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2E37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37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37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37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B36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548640" y="42245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chemeClr val="accent2"/>
                </a:solidFill>
              </a:rPr>
              <a:t>CADENA DE INTERDEPENDENCIA · si un eslabón falla, el servicio completo se resiente</a:t>
            </a:r>
            <a:endParaRPr lang="en-US" sz="1150" dirty="0"/>
          </a:p>
        </p:txBody>
      </p:sp>
      <p:sp>
        <p:nvSpPr>
          <p:cNvPr id="8" name="Tarjeta"/>
          <p:cNvSpPr/>
          <p:nvPr/>
        </p:nvSpPr>
        <p:spPr>
          <a:xfrm>
            <a:off x="548640" y="4617720"/>
            <a:ext cx="1600200" cy="1188720"/>
          </a:xfrm>
          <a:prstGeom prst="roundRect">
            <a:avLst>
              <a:gd name="adj" fmla="val 9231"/>
            </a:avLst>
          </a:prstGeom>
          <a:solidFill>
            <a:schemeClr val="tx2"/>
          </a:solidFill>
          <a:ln w="9525">
            <a:solidFill>
              <a:srgbClr val="2E3766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Círculo ícono"/>
          <p:cNvSpPr/>
          <p:nvPr/>
        </p:nvSpPr>
        <p:spPr>
          <a:xfrm>
            <a:off x="1097280" y="4709160"/>
            <a:ext cx="502920" cy="502920"/>
          </a:xfrm>
          <a:prstGeom prst="ellipse">
            <a:avLst/>
          </a:prstGeom>
          <a:solidFill>
            <a:srgbClr val="1C2447"/>
          </a:solidFill>
          <a:ln w="12700">
            <a:solidFill>
              <a:srgbClr val="1C2447"/>
            </a:solidFill>
            <a:prstDash val="solid"/>
          </a:ln>
        </p:spPr>
      </p:sp>
      <p:pic>
        <p:nvPicPr>
          <p:cNvPr id="10" name="Image 0" descr="FaTicketAl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23010" y="4834890"/>
            <a:ext cx="251460" cy="2514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94360" y="5257800"/>
            <a:ext cx="1508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Entrada emitida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2194560" y="5074920"/>
            <a:ext cx="201168" cy="274320"/>
          </a:xfrm>
          <a:prstGeom prst="rightArrow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arjeta"/>
          <p:cNvSpPr/>
          <p:nvPr/>
        </p:nvSpPr>
        <p:spPr>
          <a:xfrm>
            <a:off x="2423160" y="4617720"/>
            <a:ext cx="1600200" cy="1188720"/>
          </a:xfrm>
          <a:prstGeom prst="roundRect">
            <a:avLst>
              <a:gd name="adj" fmla="val 9231"/>
            </a:avLst>
          </a:prstGeom>
          <a:solidFill>
            <a:schemeClr val="tx2"/>
          </a:solidFill>
          <a:ln w="9525">
            <a:solidFill>
              <a:srgbClr val="2E3766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4" name="Círculo ícono"/>
          <p:cNvSpPr/>
          <p:nvPr/>
        </p:nvSpPr>
        <p:spPr>
          <a:xfrm>
            <a:off x="2971800" y="4709160"/>
            <a:ext cx="502920" cy="502920"/>
          </a:xfrm>
          <a:prstGeom prst="ellipse">
            <a:avLst/>
          </a:prstGeom>
          <a:solidFill>
            <a:srgbClr val="1C2447"/>
          </a:solidFill>
          <a:ln w="12700">
            <a:solidFill>
              <a:srgbClr val="1C2447"/>
            </a:solidFill>
            <a:prstDash val="solid"/>
          </a:ln>
        </p:spPr>
      </p:sp>
      <p:pic>
        <p:nvPicPr>
          <p:cNvPr id="15" name="Image 1" descr="FaShuttleVa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97530" y="4834890"/>
            <a:ext cx="251460" cy="25146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2468880" y="5257800"/>
            <a:ext cx="1508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Bus a tiempo</a:t>
            </a:r>
            <a:endParaRPr lang="en-US" sz="1200" dirty="0"/>
          </a:p>
        </p:txBody>
      </p:sp>
      <p:sp>
        <p:nvSpPr>
          <p:cNvPr id="17" name="Shape 12"/>
          <p:cNvSpPr/>
          <p:nvPr/>
        </p:nvSpPr>
        <p:spPr>
          <a:xfrm>
            <a:off x="4069080" y="5074920"/>
            <a:ext cx="201168" cy="274320"/>
          </a:xfrm>
          <a:prstGeom prst="rightArrow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Tarjeta"/>
          <p:cNvSpPr/>
          <p:nvPr/>
        </p:nvSpPr>
        <p:spPr>
          <a:xfrm>
            <a:off x="4297680" y="4617720"/>
            <a:ext cx="1600200" cy="1188720"/>
          </a:xfrm>
          <a:prstGeom prst="roundRect">
            <a:avLst>
              <a:gd name="adj" fmla="val 9231"/>
            </a:avLst>
          </a:prstGeom>
          <a:solidFill>
            <a:schemeClr val="tx2"/>
          </a:solidFill>
          <a:ln w="9525">
            <a:solidFill>
              <a:srgbClr val="2E3766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9" name="Círculo ícono"/>
          <p:cNvSpPr/>
          <p:nvPr/>
        </p:nvSpPr>
        <p:spPr>
          <a:xfrm>
            <a:off x="4846320" y="4709160"/>
            <a:ext cx="502920" cy="502920"/>
          </a:xfrm>
          <a:prstGeom prst="ellipse">
            <a:avLst/>
          </a:prstGeom>
          <a:solidFill>
            <a:srgbClr val="1C2447"/>
          </a:solidFill>
          <a:ln w="12700">
            <a:solidFill>
              <a:srgbClr val="1C2447"/>
            </a:solidFill>
            <a:prstDash val="solid"/>
          </a:ln>
        </p:spPr>
      </p:sp>
      <p:pic>
        <p:nvPicPr>
          <p:cNvPr id="20" name="Image 2" descr="FaUtensil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72050" y="4834890"/>
            <a:ext cx="251460" cy="25146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4343400" y="5257800"/>
            <a:ext cx="1508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Mesa lista</a:t>
            </a:r>
            <a:endParaRPr lang="en-US" sz="1200" dirty="0"/>
          </a:p>
        </p:txBody>
      </p:sp>
      <p:sp>
        <p:nvSpPr>
          <p:cNvPr id="22" name="Shape 16"/>
          <p:cNvSpPr/>
          <p:nvPr/>
        </p:nvSpPr>
        <p:spPr>
          <a:xfrm>
            <a:off x="5943600" y="5074920"/>
            <a:ext cx="201168" cy="274320"/>
          </a:xfrm>
          <a:prstGeom prst="rightArrow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3" name="Tarjeta"/>
          <p:cNvSpPr/>
          <p:nvPr/>
        </p:nvSpPr>
        <p:spPr>
          <a:xfrm>
            <a:off x="6172200" y="4617720"/>
            <a:ext cx="1600200" cy="1188720"/>
          </a:xfrm>
          <a:prstGeom prst="roundRect">
            <a:avLst>
              <a:gd name="adj" fmla="val 9231"/>
            </a:avLst>
          </a:prstGeom>
          <a:solidFill>
            <a:schemeClr val="tx2"/>
          </a:solidFill>
          <a:ln w="9525">
            <a:solidFill>
              <a:srgbClr val="2E3766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4" name="Círculo ícono"/>
          <p:cNvSpPr/>
          <p:nvPr/>
        </p:nvSpPr>
        <p:spPr>
          <a:xfrm>
            <a:off x="6720840" y="4709160"/>
            <a:ext cx="502920" cy="502920"/>
          </a:xfrm>
          <a:prstGeom prst="ellipse">
            <a:avLst/>
          </a:prstGeom>
          <a:solidFill>
            <a:srgbClr val="1C2447"/>
          </a:solidFill>
          <a:ln w="12700">
            <a:solidFill>
              <a:srgbClr val="1C2447"/>
            </a:solidFill>
            <a:prstDash val="solid"/>
          </a:ln>
        </p:spPr>
      </p:sp>
      <p:pic>
        <p:nvPicPr>
          <p:cNvPr id="25" name="Image 3" descr="FaShieldAl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46570" y="4834890"/>
            <a:ext cx="251460" cy="25146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6217920" y="5257800"/>
            <a:ext cx="1508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Parada segura</a:t>
            </a:r>
            <a:endParaRPr lang="en-US" sz="1200" dirty="0"/>
          </a:p>
        </p:txBody>
      </p:sp>
      <p:sp>
        <p:nvSpPr>
          <p:cNvPr id="27" name="Shape 20"/>
          <p:cNvSpPr/>
          <p:nvPr/>
        </p:nvSpPr>
        <p:spPr>
          <a:xfrm>
            <a:off x="7818120" y="5074920"/>
            <a:ext cx="201168" cy="274320"/>
          </a:xfrm>
          <a:prstGeom prst="rightArrow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8" name="Tarjeta"/>
          <p:cNvSpPr/>
          <p:nvPr/>
        </p:nvSpPr>
        <p:spPr>
          <a:xfrm>
            <a:off x="8046720" y="4617720"/>
            <a:ext cx="1600200" cy="1188720"/>
          </a:xfrm>
          <a:prstGeom prst="roundRect">
            <a:avLst>
              <a:gd name="adj" fmla="val 9231"/>
            </a:avLst>
          </a:prstGeom>
          <a:solidFill>
            <a:schemeClr val="tx2"/>
          </a:solidFill>
          <a:ln w="9525">
            <a:solidFill>
              <a:srgbClr val="2E3766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9" name="Círculo ícono"/>
          <p:cNvSpPr/>
          <p:nvPr/>
        </p:nvSpPr>
        <p:spPr>
          <a:xfrm>
            <a:off x="8595360" y="4709160"/>
            <a:ext cx="502920" cy="502920"/>
          </a:xfrm>
          <a:prstGeom prst="ellipse">
            <a:avLst/>
          </a:prstGeom>
          <a:solidFill>
            <a:srgbClr val="1C2447"/>
          </a:solidFill>
          <a:ln w="12700">
            <a:solidFill>
              <a:srgbClr val="1C2447"/>
            </a:solidFill>
            <a:prstDash val="solid"/>
          </a:ln>
        </p:spPr>
      </p:sp>
      <p:pic>
        <p:nvPicPr>
          <p:cNvPr id="30" name="Image 4" descr="FaUserFriends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21090" y="4834890"/>
            <a:ext cx="251460" cy="251460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8092440" y="5257800"/>
            <a:ext cx="1508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Guía reúne al grupo</a:t>
            </a:r>
            <a:endParaRPr lang="en-US" sz="1200" dirty="0"/>
          </a:p>
        </p:txBody>
      </p:sp>
      <p:sp>
        <p:nvSpPr>
          <p:cNvPr id="32" name="Shape 24"/>
          <p:cNvSpPr/>
          <p:nvPr/>
        </p:nvSpPr>
        <p:spPr>
          <a:xfrm>
            <a:off x="9692640" y="5074920"/>
            <a:ext cx="201168" cy="274320"/>
          </a:xfrm>
          <a:prstGeom prst="rightArrow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3" name="Tarjeta"/>
          <p:cNvSpPr/>
          <p:nvPr/>
        </p:nvSpPr>
        <p:spPr>
          <a:xfrm>
            <a:off x="9921240" y="4617720"/>
            <a:ext cx="1600200" cy="1188720"/>
          </a:xfrm>
          <a:prstGeom prst="roundRect">
            <a:avLst>
              <a:gd name="adj" fmla="val 9231"/>
            </a:avLst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34" name="Círculo ícono"/>
          <p:cNvSpPr/>
          <p:nvPr/>
        </p:nvSpPr>
        <p:spPr>
          <a:xfrm>
            <a:off x="10469880" y="4709160"/>
            <a:ext cx="502920" cy="50292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35" name="Image 5" descr="FaSmil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95610" y="4834890"/>
            <a:ext cx="251460" cy="251460"/>
          </a:xfrm>
          <a:prstGeom prst="rect">
            <a:avLst/>
          </a:prstGeom>
        </p:spPr>
      </p:pic>
      <p:sp>
        <p:nvSpPr>
          <p:cNvPr id="36" name="Text 27"/>
          <p:cNvSpPr txBox="1"/>
          <p:nvPr/>
        </p:nvSpPr>
        <p:spPr>
          <a:xfrm>
            <a:off x="9966960" y="5257800"/>
            <a:ext cx="1508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Cliente satisfecho</a:t>
            </a:r>
            <a:endParaRPr lang="en-US" sz="1200" dirty="0"/>
          </a:p>
        </p:txBody>
      </p:sp>
      <p:sp>
        <p:nvSpPr>
          <p:cNvPr id="37" name="Fuente"/>
          <p:cNvSpPr txBox="1"/>
          <p:nvPr/>
        </p:nvSpPr>
        <p:spPr>
          <a:xfrm>
            <a:off x="548640" y="6035040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chemeClr val="bg2"/>
                </a:solidFill>
              </a:rPr>
              <a:t>Fuente: Informe Operativo Sound Travel (2026), secc. 2, 5.1, 6.1 y 7. Cadena: análisis del equipo a partir del informe.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48640"/>
            <a:ext cx="9418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Cuatro criterios para asignar tareas</a:t>
            </a:r>
            <a:endParaRPr lang="en-US" sz="2800" dirty="0"/>
          </a:p>
        </p:txBody>
      </p:sp>
      <p:sp>
        <p:nvSpPr>
          <p:cNvPr id="3" name="Kicker"/>
          <p:cNvSpPr txBox="1"/>
          <p:nvPr/>
        </p:nvSpPr>
        <p:spPr>
          <a:xfrm>
            <a:off x="548640" y="25603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2"/>
                </a:solidFill>
              </a:rPr>
              <a:t>INTEGRANTE 4  ·  CRITERIO 2.1.3  ·  TÉCNICO · NORMATIVO · SUSTENTABLE · TERRITORIAL</a:t>
            </a:r>
            <a:endParaRPr lang="en-US" sz="1100" dirty="0"/>
          </a:p>
        </p:txBody>
      </p:sp>
      <p:sp>
        <p:nvSpPr>
          <p:cNvPr id="4" name="Insignia expositor"/>
          <p:cNvSpPr/>
          <p:nvPr/>
        </p:nvSpPr>
        <p:spPr>
          <a:xfrm>
            <a:off x="10104120" y="274320"/>
            <a:ext cx="1536192" cy="32918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104120" y="274320"/>
            <a:ext cx="1536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chemeClr val="bg1"/>
                </a:solidFill>
              </a:rPr>
              <a:t>INTEGRANTE 4</a:t>
            </a:r>
            <a:endParaRPr lang="en-US" sz="1050" dirty="0"/>
          </a:p>
        </p:txBody>
      </p:sp>
      <p:sp>
        <p:nvSpPr>
          <p:cNvPr id="6" name="Tarjeta"/>
          <p:cNvSpPr/>
          <p:nvPr/>
        </p:nvSpPr>
        <p:spPr>
          <a:xfrm>
            <a:off x="548640" y="1417320"/>
            <a:ext cx="5440680" cy="1965960"/>
          </a:xfrm>
          <a:prstGeom prst="roundRect">
            <a:avLst>
              <a:gd name="adj" fmla="val 5581"/>
            </a:avLst>
          </a:prstGeom>
          <a:solidFill>
            <a:schemeClr val="tx2"/>
          </a:solidFill>
          <a:ln w="9525">
            <a:solidFill>
              <a:srgbClr val="2E3766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Círculo ícono"/>
          <p:cNvSpPr/>
          <p:nvPr/>
        </p:nvSpPr>
        <p:spPr>
          <a:xfrm>
            <a:off x="731520" y="160020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8" name="Image 0" descr="FaClipboard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7250" y="1725930"/>
            <a:ext cx="251460" cy="25146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371600" y="1600200"/>
            <a:ext cx="4434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Estándares técnicos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777240" y="2194560"/>
            <a:ext cx="5029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FFFFFF"/>
                </a:solidFill>
              </a:rPr>
              <a:t>Checklist del minibús antes de cada salida (Jefe de Operaciones): </a:t>
            </a:r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chemeClr val="bg2"/>
                </a:solidFill>
              </a:rPr>
              <a:t>neumáticos, cinturones, botiquín y climatización.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FFFFFF"/>
                </a:solidFill>
              </a:rPr>
              <a:t>Nómina digital y pulsera de color por bus: </a:t>
            </a:r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chemeClr val="bg2"/>
                </a:solidFill>
              </a:rPr>
              <a:t>nadie se pierde al salir de noche.</a:t>
            </a:r>
            <a:endParaRPr lang="en-US" sz="1300" dirty="0"/>
          </a:p>
        </p:txBody>
      </p:sp>
      <p:sp>
        <p:nvSpPr>
          <p:cNvPr id="11" name="Tarjeta"/>
          <p:cNvSpPr/>
          <p:nvPr/>
        </p:nvSpPr>
        <p:spPr>
          <a:xfrm>
            <a:off x="6172200" y="1417320"/>
            <a:ext cx="5440680" cy="1965960"/>
          </a:xfrm>
          <a:prstGeom prst="roundRect">
            <a:avLst>
              <a:gd name="adj" fmla="val 5581"/>
            </a:avLst>
          </a:prstGeom>
          <a:solidFill>
            <a:srgbClr val="1C2447"/>
          </a:solidFill>
          <a:ln w="9525">
            <a:solidFill>
              <a:srgbClr val="2E3766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2" name="Círculo ícono"/>
          <p:cNvSpPr/>
          <p:nvPr/>
        </p:nvSpPr>
        <p:spPr>
          <a:xfrm>
            <a:off x="6355080" y="160020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3" name="Image 1" descr="FaBalanceSca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80810" y="1725930"/>
            <a:ext cx="251460" cy="251460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6995160" y="1600200"/>
            <a:ext cx="4434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Estándares normativos</a:t>
            </a:r>
            <a:endParaRPr lang="en-US" sz="1500" dirty="0"/>
          </a:p>
        </p:txBody>
      </p:sp>
      <p:sp>
        <p:nvSpPr>
          <p:cNvPr id="15" name="Text 11"/>
          <p:cNvSpPr txBox="1"/>
          <p:nvPr/>
        </p:nvSpPr>
        <p:spPr>
          <a:xfrm>
            <a:off x="6400800" y="2194560"/>
            <a:ext cx="5029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FFFFFF"/>
                </a:solidFill>
              </a:rPr>
              <a:t>Registro de Prestadores SERNATUR </a:t>
            </a:r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chemeClr val="bg2"/>
                </a:solidFill>
              </a:rPr>
              <a:t>(Ley 20.423, Título VII): voluntario para agencias (art. 33); lo proponemos.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FFFFFF"/>
                </a:solidFill>
              </a:rPr>
              <a:t>D.S. 80/2004 MTT </a:t>
            </a:r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chemeClr val="bg2"/>
                </a:solidFill>
              </a:rPr>
              <a:t>para transportistas subcontratados.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FFFFFF"/>
                </a:solidFill>
              </a:rPr>
              <a:t>Licencia A2 o A3 </a:t>
            </a:r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chemeClr val="bg2"/>
                </a:solidFill>
              </a:rPr>
              <a:t>(Ley 18.290, art. 12) y </a:t>
            </a:r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FFFFFF"/>
                </a:solidFill>
              </a:rPr>
              <a:t>SOAP </a:t>
            </a:r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chemeClr val="bg2"/>
                </a:solidFill>
              </a:rPr>
              <a:t>(Ley 18.490) vigente.</a:t>
            </a:r>
            <a:endParaRPr lang="en-US" sz="1300" dirty="0"/>
          </a:p>
        </p:txBody>
      </p:sp>
      <p:sp>
        <p:nvSpPr>
          <p:cNvPr id="16" name="Tarjeta"/>
          <p:cNvSpPr/>
          <p:nvPr/>
        </p:nvSpPr>
        <p:spPr>
          <a:xfrm>
            <a:off x="548640" y="3520440"/>
            <a:ext cx="5440680" cy="1965960"/>
          </a:xfrm>
          <a:prstGeom prst="roundRect">
            <a:avLst>
              <a:gd name="adj" fmla="val 5581"/>
            </a:avLst>
          </a:prstGeom>
          <a:solidFill>
            <a:schemeClr val="tx2"/>
          </a:solidFill>
          <a:ln w="9525">
            <a:solidFill>
              <a:srgbClr val="2E3766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7" name="Círculo ícono"/>
          <p:cNvSpPr/>
          <p:nvPr/>
        </p:nvSpPr>
        <p:spPr>
          <a:xfrm>
            <a:off x="731520" y="3703320"/>
            <a:ext cx="502920" cy="50292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18" name="Image 2" descr="FaRecyc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7250" y="3829050"/>
            <a:ext cx="251460" cy="251460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1371600" y="3703320"/>
            <a:ext cx="4434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Sustentabilidad</a:t>
            </a:r>
            <a:endParaRPr lang="en-US" sz="1500" dirty="0"/>
          </a:p>
        </p:txBody>
      </p:sp>
      <p:sp>
        <p:nvSpPr>
          <p:cNvPr id="20" name="Text 15"/>
          <p:cNvSpPr txBox="1"/>
          <p:nvPr/>
        </p:nvSpPr>
        <p:spPr>
          <a:xfrm>
            <a:off x="777240" y="4297680"/>
            <a:ext cx="5029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FFFFFF"/>
                </a:solidFill>
              </a:rPr>
              <a:t>“Viaje Limpio”: </a:t>
            </a:r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chemeClr val="bg2"/>
                </a:solidFill>
              </a:rPr>
              <a:t>bolsas de reciclaje en cada minibús.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FFFFFF"/>
                </a:solidFill>
              </a:rPr>
              <a:t>Cero papel: </a:t>
            </a:r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chemeClr val="bg2"/>
                </a:solidFill>
              </a:rPr>
              <a:t>tickets y credenciales digitales.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FFFFFF"/>
                </a:solidFill>
              </a:rPr>
              <a:t>Economía local: </a:t>
            </a:r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chemeClr val="bg2"/>
                </a:solidFill>
              </a:rPr>
              <a:t>convenios con emprendimientos gastronómicos de la región.</a:t>
            </a:r>
            <a:endParaRPr lang="en-US" sz="1300" dirty="0"/>
          </a:p>
        </p:txBody>
      </p:sp>
      <p:sp>
        <p:nvSpPr>
          <p:cNvPr id="21" name="Tarjeta"/>
          <p:cNvSpPr/>
          <p:nvPr/>
        </p:nvSpPr>
        <p:spPr>
          <a:xfrm>
            <a:off x="6172200" y="3520440"/>
            <a:ext cx="5440680" cy="1965960"/>
          </a:xfrm>
          <a:prstGeom prst="roundRect">
            <a:avLst>
              <a:gd name="adj" fmla="val 5581"/>
            </a:avLst>
          </a:prstGeom>
          <a:solidFill>
            <a:schemeClr val="tx2"/>
          </a:solidFill>
          <a:ln w="9525">
            <a:solidFill>
              <a:srgbClr val="2E3766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2" name="Círculo ícono"/>
          <p:cNvSpPr/>
          <p:nvPr/>
        </p:nvSpPr>
        <p:spPr>
          <a:xfrm>
            <a:off x="6355080" y="370332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3" name="Image 3" descr="FaCloudRai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0810" y="3829050"/>
            <a:ext cx="251460" cy="251460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6995160" y="3703320"/>
            <a:ext cx="4434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Contexto territorial</a:t>
            </a:r>
            <a:endParaRPr lang="en-US" sz="1500" dirty="0"/>
          </a:p>
        </p:txBody>
      </p:sp>
      <p:sp>
        <p:nvSpPr>
          <p:cNvPr id="25" name="Text 19"/>
          <p:cNvSpPr txBox="1"/>
          <p:nvPr/>
        </p:nvSpPr>
        <p:spPr>
          <a:xfrm>
            <a:off x="6400800" y="4297680"/>
            <a:ext cx="5029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FFFFFF"/>
                </a:solidFill>
              </a:rPr>
              <a:t>Riesgos: </a:t>
            </a:r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chemeClr val="bg2"/>
                </a:solidFill>
              </a:rPr>
              <a:t>lluvias repentinas, neblina nocturna en Ruta 5 Sur, congestión en la CH-199 en verano.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FFFFFF"/>
                </a:solidFill>
              </a:rPr>
              <a:t>Medidas: </a:t>
            </a:r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chemeClr val="bg2"/>
                </a:solidFill>
              </a:rPr>
              <a:t>puntos de encuentro céntricos e iluminados (Av. Alemania, Plaza Teodoro Schmidt) y salida con margen.</a:t>
            </a:r>
            <a:endParaRPr lang="en-US" sz="1300" dirty="0"/>
          </a:p>
        </p:txBody>
      </p:sp>
      <p:sp>
        <p:nvSpPr>
          <p:cNvPr id="26" name="Text 20"/>
          <p:cNvSpPr txBox="1"/>
          <p:nvPr/>
        </p:nvSpPr>
        <p:spPr>
          <a:xfrm>
            <a:off x="548640" y="565099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4"/>
                </a:solidFill>
              </a:rPr>
              <a:t>Al revisar las normas corregimos dos citas del informe: el registro está en el Título VII (no en el art. 19) y las licencias en la Ley 18.290 (no en el D.S. 80).</a:t>
            </a:r>
            <a:endParaRPr lang="en-US" sz="1100" dirty="0"/>
          </a:p>
        </p:txBody>
      </p:sp>
      <p:sp>
        <p:nvSpPr>
          <p:cNvPr id="27" name="Fuente"/>
          <p:cNvSpPr txBox="1"/>
          <p:nvPr/>
        </p:nvSpPr>
        <p:spPr>
          <a:xfrm>
            <a:off x="548640" y="6108192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chemeClr val="bg2"/>
                </a:solidFill>
              </a:rPr>
              <a:t>Fuentes: Informe Operativo Sound Travel (2026), secc. 6 · Ley 20.423 · D.S. 80/2004 · Ley 18.290 · Ley 18.490 · SERNATUR, Portal de Servicios Turísticos.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48640"/>
            <a:ext cx="9418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Matriz de tareas y seguimiento de la operación</a:t>
            </a:r>
            <a:endParaRPr lang="en-US" sz="2800" dirty="0"/>
          </a:p>
        </p:txBody>
      </p:sp>
      <p:sp>
        <p:nvSpPr>
          <p:cNvPr id="3" name="Kicker"/>
          <p:cNvSpPr txBox="1"/>
          <p:nvPr/>
        </p:nvSpPr>
        <p:spPr>
          <a:xfrm>
            <a:off x="548640" y="25603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2"/>
                </a:solidFill>
              </a:rPr>
              <a:t>INTEGRANTE 4  ·  CRITERIO 2.1.3  ·  QUIÉN HACE QUÉ, CUÁNDO, CON QUÉ CRITERIO Y CÓMO SE CONTROLA</a:t>
            </a:r>
            <a:endParaRPr lang="en-US" sz="1100" dirty="0"/>
          </a:p>
        </p:txBody>
      </p:sp>
      <p:sp>
        <p:nvSpPr>
          <p:cNvPr id="4" name="Insignia expositor"/>
          <p:cNvSpPr/>
          <p:nvPr/>
        </p:nvSpPr>
        <p:spPr>
          <a:xfrm>
            <a:off x="10104120" y="274320"/>
            <a:ext cx="1536192" cy="32918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104120" y="274320"/>
            <a:ext cx="1536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chemeClr val="bg1"/>
                </a:solidFill>
              </a:rPr>
              <a:t>INTEGRANTE 4</a:t>
            </a:r>
            <a:endParaRPr lang="en-US" sz="1050" dirty="0"/>
          </a:p>
        </p:txBody>
      </p:sp>
      <p:graphicFrame>
        <p:nvGraphicFramePr>
          <p:cNvPr id="12" name="Matriz de tareas y seguimiento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6424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1874520"/>
                <a:gridCol w="3886200"/>
                <a:gridCol w="370332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C4B5F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ETAPA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2E37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37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37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37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44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C4B5F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RESPONSABLE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2E37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37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37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37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44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C4B5F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TAREA ASIGNADA · CRITERIO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2E37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37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37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37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44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C4B5F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SEGUIMIENTO Y COMUNICACIÓN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2E37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37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37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37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447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Pre-operación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A5ADC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 a 24 h antes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2E37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37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37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37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B3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Jefe de Operaciones y Administrativo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2E37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37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37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37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B3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Documentos del minibús y chofer (D.S. 80), pago de reservas y cierre de nómina con entradas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8BD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Normativo · Técnico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2E37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37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37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37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B3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8BD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Proveedores: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correo formal 7 días antes y WhatsApp 24 h antes (patentes, choferes, horarios).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8BD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Clientes: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comprobante digital y canal de WhatsApp del bus.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2E37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37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37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37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B36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Embarque e ida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A5ADC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Día del evento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2E37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37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37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37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B3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Guía de Terreno y Conductor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2E37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37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37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37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B3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Citación en punto seguro, lista digital, pulsera y charla de seguridad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8BD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Técnico · Territorial · Sustentable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2E37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37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37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37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B3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8BD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Operadores: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WhatsApp Operativo, hito 1 (bus en punto) y hito 2 (salida completa).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2E37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37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37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37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B36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Durante el evento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2E37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37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37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37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B3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Guía de Terreno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2E37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37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37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37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B3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Acompañamiento al acceso, coordinación con seguridad municipal y punto de asistencia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8BD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Territorial · Seguridad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2E37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37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37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37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B3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8BD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Operadores: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hito 3 (llegada sin novedades); radios si cae la señal.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2E37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37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37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37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B36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Retorno nocturno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2E37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37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37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37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B3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Guía de Terreno y Conductor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2E37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37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37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37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B3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Reencuentro 30 min tras el show, conteo completo y regreso a Temuco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8BD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Técnico · Territorial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2E37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37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37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37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B3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8BD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Operadores: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hito 4 (inicio de retorno).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8BD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Clientes: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ubicación del guía en tiempo real.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2E37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37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37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37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B36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59E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Post-evento *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A5ADC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Día siguiente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2E37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37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37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37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B3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59E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asignado (sugerido: Comercial)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2E37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37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37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37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B3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Encuesta de puntualidad, trato del guía y comodidad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8BD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Calidad · Mejora continua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2E37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37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37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37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B3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8BD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Clientes: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encuesta en Google Forms.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2E37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37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37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37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B36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548640" y="548640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4"/>
                </a:solidFill>
              </a:rPr>
              <a:t>* Fila agregada por el equipo: la encuesta está en el informe (secc. 4.1 y 7), pero no tenía responsable en su matriz.</a:t>
            </a:r>
            <a:endParaRPr lang="en-US" sz="1100" dirty="0"/>
          </a:p>
        </p:txBody>
      </p:sp>
      <p:sp>
        <p:nvSpPr>
          <p:cNvPr id="8" name="Fuente"/>
          <p:cNvSpPr txBox="1"/>
          <p:nvPr/>
        </p:nvSpPr>
        <p:spPr>
          <a:xfrm>
            <a:off x="548640" y="6108192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chemeClr val="bg2"/>
                </a:solidFill>
              </a:rPr>
              <a:t>Fuente: Informe Operativo Sound Travel (2026), secc. 6.1 y 7. Radios: en recintos donde cae la señal celular (p. ej., Estadio Germán Becker).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48640"/>
            <a:ext cx="9418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Contingencias y conclusiones</a:t>
            </a:r>
            <a:endParaRPr lang="en-US" sz="2800" dirty="0"/>
          </a:p>
        </p:txBody>
      </p:sp>
      <p:sp>
        <p:nvSpPr>
          <p:cNvPr id="3" name="Kicker"/>
          <p:cNvSpPr txBox="1"/>
          <p:nvPr/>
        </p:nvSpPr>
        <p:spPr>
          <a:xfrm>
            <a:off x="548640" y="25603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2"/>
                </a:solidFill>
              </a:rPr>
              <a:t>INTEGRANTE 4  ·  CRITERIO 2.1.3 Y CIERRE  ·  COORDINAR ES ANTICIPAR</a:t>
            </a:r>
            <a:endParaRPr lang="en-US" sz="1100" dirty="0"/>
          </a:p>
        </p:txBody>
      </p:sp>
      <p:sp>
        <p:nvSpPr>
          <p:cNvPr id="4" name="Insignia expositor"/>
          <p:cNvSpPr/>
          <p:nvPr/>
        </p:nvSpPr>
        <p:spPr>
          <a:xfrm>
            <a:off x="10104120" y="274320"/>
            <a:ext cx="1536192" cy="32918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104120" y="274320"/>
            <a:ext cx="1536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chemeClr val="bg1"/>
                </a:solidFill>
              </a:rPr>
              <a:t>INTEGRANTE 4</a:t>
            </a:r>
            <a:endParaRPr lang="en-US" sz="1050" dirty="0"/>
          </a:p>
        </p:txBody>
      </p:sp>
      <p:graphicFrame>
        <p:nvGraphicFramePr>
          <p:cNvPr id="13" name="Tabla contingencia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5989320" cy="914400"/>
        </p:xfrm>
        <a:graphic>
          <a:graphicData uri="http://schemas.openxmlformats.org/drawingml/2006/table">
            <a:tbl>
              <a:tblPr/>
              <a:tblGrid>
                <a:gridCol w="1783080"/>
                <a:gridCol w="3383280"/>
                <a:gridCol w="822960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C4B5F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SITUACIÓN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2E37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37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37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37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44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C4B5F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RESPUESTA · RESPONSABLE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2E37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37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37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37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44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C4B5F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ORIGEN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2E37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37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37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37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44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Cortes de tránsito o mal clima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2E37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37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37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37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B3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 de contingencia y salida con margen · Jefe de Operaciones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2E37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37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37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37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B3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4D3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Informe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2E37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37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37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37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B3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Cae la señal celular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2E37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37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37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37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B3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Radios portátiles · Guía y equipo interno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2E37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37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37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37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B3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4D3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Informe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2E37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37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37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37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B3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Emergencia en el evento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2E37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37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37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37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B3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Punto de asistencia, seguridad municipal y vías de evacuación · Guía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2E37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37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37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37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B3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4D3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Informe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2E37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37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37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37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B3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Pasajero desorientado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2E37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37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37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37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B3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Pulsera, ubicación en tiempo real y conteo · Guía y Conductor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2E37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37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37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37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B3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4D3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Informe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2E37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37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37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37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B3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Proveedor cancela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2E37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37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37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37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B3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Transportista o local de respaldo · Jefe de Operaciones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2E37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37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37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37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B3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59E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Propuesta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2E37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37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37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37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B3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Pasajero no llega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2E37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37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37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37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B3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Contacto, espera definida y escalamiento: Guía → Jefe de Op. → Dirección → Carabineros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2E37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37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37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37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B3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59E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Propuesta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2E37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37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37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37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B36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548640" y="4736592"/>
            <a:ext cx="5989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chemeClr val="accent4"/>
                </a:solidFill>
              </a:rPr>
              <a:t>Las filas “Propuesta” completan el informe, que no traía un protocolo formal.</a:t>
            </a:r>
            <a:endParaRPr lang="en-US" sz="1050" dirty="0"/>
          </a:p>
        </p:txBody>
      </p:sp>
      <p:sp>
        <p:nvSpPr>
          <p:cNvPr id="8" name="Tarjeta"/>
          <p:cNvSpPr/>
          <p:nvPr/>
        </p:nvSpPr>
        <p:spPr>
          <a:xfrm>
            <a:off x="6766560" y="1417320"/>
            <a:ext cx="4846320" cy="841248"/>
          </a:xfrm>
          <a:prstGeom prst="roundRect">
            <a:avLst>
              <a:gd name="adj" fmla="val 13043"/>
            </a:avLst>
          </a:prstGeom>
          <a:solidFill>
            <a:schemeClr val="tx2"/>
          </a:solidFill>
          <a:ln w="9525">
            <a:solidFill>
              <a:srgbClr val="2E3766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03720" y="1508760"/>
            <a:ext cx="237744" cy="237744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7223760" y="14904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CRITERIO 2.1.1</a:t>
            </a:r>
            <a:endParaRPr lang="en-US" sz="1000" dirty="0"/>
          </a:p>
        </p:txBody>
      </p:sp>
      <p:sp>
        <p:nvSpPr>
          <p:cNvPr id="11" name="Text 7"/>
          <p:cNvSpPr txBox="1"/>
          <p:nvPr/>
        </p:nvSpPr>
        <p:spPr>
          <a:xfrm>
            <a:off x="6903720" y="1783080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Estructura simple de 5 cargos y 4 funciones, y un flujo de 5 etapas que une procesos internos y externos.</a:t>
            </a:r>
            <a:endParaRPr lang="en-US" sz="1100" dirty="0"/>
          </a:p>
        </p:txBody>
      </p:sp>
      <p:sp>
        <p:nvSpPr>
          <p:cNvPr id="12" name="Tarjeta"/>
          <p:cNvSpPr/>
          <p:nvPr/>
        </p:nvSpPr>
        <p:spPr>
          <a:xfrm>
            <a:off x="6766560" y="2350008"/>
            <a:ext cx="4846320" cy="841248"/>
          </a:xfrm>
          <a:prstGeom prst="roundRect">
            <a:avLst>
              <a:gd name="adj" fmla="val 13043"/>
            </a:avLst>
          </a:prstGeom>
          <a:solidFill>
            <a:schemeClr val="tx2"/>
          </a:solidFill>
          <a:ln w="9525">
            <a:solidFill>
              <a:srgbClr val="2E3766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3720" y="2441448"/>
            <a:ext cx="237744" cy="237744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7223760" y="24231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CRITERIO 2.1.2</a:t>
            </a:r>
            <a:endParaRPr lang="en-US" sz="1000" dirty="0"/>
          </a:p>
        </p:txBody>
      </p:sp>
      <p:sp>
        <p:nvSpPr>
          <p:cNvPr id="15" name="Text 10"/>
          <p:cNvSpPr txBox="1"/>
          <p:nvPr/>
        </p:nvSpPr>
        <p:spPr>
          <a:xfrm>
            <a:off x="6903720" y="271576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Sound Travel coordina al centro: contrata, se alía, conviene y se coordina para responder a cada necesidad del cliente.</a:t>
            </a:r>
            <a:endParaRPr lang="en-US" sz="1100" dirty="0"/>
          </a:p>
        </p:txBody>
      </p:sp>
      <p:sp>
        <p:nvSpPr>
          <p:cNvPr id="16" name="Tarjeta"/>
          <p:cNvSpPr/>
          <p:nvPr/>
        </p:nvSpPr>
        <p:spPr>
          <a:xfrm>
            <a:off x="6766560" y="3282696"/>
            <a:ext cx="4846320" cy="841248"/>
          </a:xfrm>
          <a:prstGeom prst="roundRect">
            <a:avLst>
              <a:gd name="adj" fmla="val 13043"/>
            </a:avLst>
          </a:prstGeom>
          <a:solidFill>
            <a:schemeClr val="tx2"/>
          </a:solidFill>
          <a:ln w="9525">
            <a:solidFill>
              <a:srgbClr val="2E3766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3720" y="3374136"/>
            <a:ext cx="237744" cy="237744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223760" y="335584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CRITERIO 2.1.3</a:t>
            </a:r>
            <a:endParaRPr lang="en-US" sz="1000" dirty="0"/>
          </a:p>
        </p:txBody>
      </p:sp>
      <p:sp>
        <p:nvSpPr>
          <p:cNvPr id="19" name="Text 13"/>
          <p:cNvSpPr txBox="1"/>
          <p:nvPr/>
        </p:nvSpPr>
        <p:spPr>
          <a:xfrm>
            <a:off x="6903720" y="3648456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Tareas asignadas con 4 criterios y controladas con seguimiento por actor y un protocolo de contingencias.</a:t>
            </a:r>
            <a:endParaRPr lang="en-US" sz="1100" dirty="0"/>
          </a:p>
        </p:txBody>
      </p:sp>
      <p:sp>
        <p:nvSpPr>
          <p:cNvPr id="20" name="Mensaje final"/>
          <p:cNvSpPr/>
          <p:nvPr/>
        </p:nvSpPr>
        <p:spPr>
          <a:xfrm>
            <a:off x="6766560" y="4251960"/>
            <a:ext cx="4846320" cy="777240"/>
          </a:xfrm>
          <a:prstGeom prst="roundRect">
            <a:avLst>
              <a:gd name="adj" fmla="val 14118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6903720" y="425196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i="1" dirty="0">
                <a:solidFill>
                  <a:schemeClr val="bg1"/>
                </a:solidFill>
              </a:rPr>
              <a:t>Un servicio de eventos funciona solo si cada actor sabe qué hacer, cuándo y a quién informar.  ¡Gracias!</a:t>
            </a:r>
            <a:endParaRPr lang="en-US" sz="1250" dirty="0"/>
          </a:p>
        </p:txBody>
      </p:sp>
      <p:sp>
        <p:nvSpPr>
          <p:cNvPr id="22" name="Tarjeta"/>
          <p:cNvSpPr/>
          <p:nvPr/>
        </p:nvSpPr>
        <p:spPr>
          <a:xfrm>
            <a:off x="548640" y="5138928"/>
            <a:ext cx="11064240" cy="896112"/>
          </a:xfrm>
          <a:prstGeom prst="roundRect">
            <a:avLst>
              <a:gd name="adj" fmla="val 12245"/>
            </a:avLst>
          </a:prstGeom>
          <a:solidFill>
            <a:srgbClr val="1C2447"/>
          </a:solidFill>
          <a:ln w="9525">
            <a:solidFill>
              <a:srgbClr val="2E3766"/>
            </a:solidFill>
            <a:prstDash val="solid"/>
          </a:ln>
        </p:spPr>
      </p:sp>
      <p:sp>
        <p:nvSpPr>
          <p:cNvPr id="23" name="Text 17"/>
          <p:cNvSpPr txBox="1"/>
          <p:nvPr/>
        </p:nvSpPr>
        <p:spPr>
          <a:xfrm>
            <a:off x="731520" y="5138928"/>
            <a:ext cx="107442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chemeClr val="accent6"/>
                </a:solidFill>
              </a:rPr>
              <a:t>Referencias: </a:t>
            </a:r>
            <a:pPr indent="0" marL="0">
              <a:buNone/>
            </a:pPr>
            <a:r>
              <a:rPr lang="en-US" sz="950" dirty="0">
                <a:solidFill>
                  <a:schemeClr val="bg2"/>
                </a:solidFill>
              </a:rPr>
              <a:t>INACAP (2026). Guía de aprendizaje GTD404, Unidad 2 · Monsalve, B. (2026). Pre-informe operativo Sound Travel · Ley 20.423 (2010) · D.S. 80 (2004), MTT · Ley 18.290, art. 12 · Ley 18.490 · Subsecretaría de Turismo (2024) · SERNATUR, Portal de Servicios Turísticos · Imágenes referenciales: Unsplash. </a:t>
            </a:r>
            <a:pPr indent="0" marL="0">
              <a:buNone/>
            </a:pPr>
            <a:r>
              <a:rPr lang="en-US" sz="950" i="1" dirty="0">
                <a:solidFill>
                  <a:schemeClr val="accent4"/>
                </a:solidFill>
              </a:rPr>
              <a:t>Sound Travel es una empresa ficticia; convenios y festival 2027 son propuestas y escenarios.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ound Travel Noche">
  <a:themeElements>
    <a:clrScheme name="Sound Travel Noche">
      <a:dk1>
        <a:srgbClr val="0B0F1E"/>
      </a:dk1>
      <a:lt1>
        <a:srgbClr val="FFFFFF"/>
      </a:lt1>
      <a:dk2>
        <a:srgbClr val="151B36"/>
      </a:dk2>
      <a:lt2>
        <a:srgbClr val="A5ADCF"/>
      </a:lt2>
      <a:accent1>
        <a:srgbClr val="8B5CF6"/>
      </a:accent1>
      <a:accent2>
        <a:srgbClr val="38BDF8"/>
      </a:accent2>
      <a:accent3>
        <a:srgbClr val="2563EB"/>
      </a:accent3>
      <a:accent4>
        <a:srgbClr val="F59E0B"/>
      </a:accent4>
      <a:accent5>
        <a:srgbClr val="34D399"/>
      </a:accent5>
      <a:accent6>
        <a:srgbClr val="C4B5FD"/>
      </a:accent6>
      <a:hlink>
        <a:srgbClr val="38BDF8"/>
      </a:hlink>
      <a:folHlink>
        <a:srgbClr val="C4B5FD"/>
      </a:folHlink>
    </a:clrScheme>
    <a:fontScheme name="Sound Travel Noch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INACAP Sede Temuco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Sound Travel · Plan de coordinación y operaciones</dc:title>
  <dc:subject>Coordinación en Operaciones Turísticas (GTD404) · Unidad 2</dc:subject>
  <dc:creator>Equipo Sound Travel · INACAP Temuco</dc:creator>
  <cp:lastModifiedBy>Equipo Sound Travel · INACAP Temuco</cp:lastModifiedBy>
  <cp:revision>1</cp:revision>
  <dcterms:created xsi:type="dcterms:W3CDTF">2026-10-22T16:25:01Z</dcterms:created>
  <dcterms:modified xsi:type="dcterms:W3CDTF">2026-10-22T16:25:01Z</dcterms:modified>
</cp:coreProperties>
</file>